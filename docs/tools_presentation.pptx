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27"/>
  </p:notesMasterIdLst>
  <p:sldIdLst>
    <p:sldId id="256" r:id="rId3"/>
    <p:sldId id="570" r:id="rId4"/>
    <p:sldId id="571" r:id="rId5"/>
    <p:sldId id="572" r:id="rId6"/>
    <p:sldId id="574" r:id="rId7"/>
    <p:sldId id="575" r:id="rId8"/>
    <p:sldId id="576" r:id="rId9"/>
    <p:sldId id="577" r:id="rId10"/>
    <p:sldId id="578" r:id="rId11"/>
    <p:sldId id="579" r:id="rId12"/>
    <p:sldId id="287" r:id="rId13"/>
    <p:sldId id="569" r:id="rId14"/>
    <p:sldId id="554" r:id="rId15"/>
    <p:sldId id="555" r:id="rId16"/>
    <p:sldId id="557" r:id="rId17"/>
    <p:sldId id="553" r:id="rId18"/>
    <p:sldId id="558" r:id="rId19"/>
    <p:sldId id="559" r:id="rId20"/>
    <p:sldId id="560" r:id="rId21"/>
    <p:sldId id="563" r:id="rId22"/>
    <p:sldId id="564" r:id="rId23"/>
    <p:sldId id="566" r:id="rId24"/>
    <p:sldId id="568" r:id="rId25"/>
    <p:sldId id="567"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2D0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305"/>
    <p:restoredTop sz="76983"/>
  </p:normalViewPr>
  <p:slideViewPr>
    <p:cSldViewPr snapToGrid="0">
      <p:cViewPr varScale="1">
        <p:scale>
          <a:sx n="93" d="100"/>
          <a:sy n="93" d="100"/>
        </p:scale>
        <p:origin x="167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BE804D-D61F-7846-8C82-B64B45984D1D}" type="datetimeFigureOut">
              <a:rPr lang="en-US" smtClean="0"/>
              <a:t>11/28/25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E09D3F-E8C1-2F4A-B4FB-6B8F63DAA456}" type="slidenum">
              <a:rPr lang="en-US" smtClean="0"/>
              <a:t>‹#›</a:t>
            </a:fld>
            <a:endParaRPr lang="en-US"/>
          </a:p>
        </p:txBody>
      </p:sp>
    </p:spTree>
    <p:extLst>
      <p:ext uri="{BB962C8B-B14F-4D97-AF65-F5344CB8AC3E}">
        <p14:creationId xmlns:p14="http://schemas.microsoft.com/office/powerpoint/2010/main" val="2539377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1478e549402_0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1478e549402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039583F3-AD50-12EC-70CD-F7C3AB0AE2EA}"/>
            </a:ext>
          </a:extLst>
        </p:cNvPr>
        <p:cNvGrpSpPr/>
        <p:nvPr/>
      </p:nvGrpSpPr>
      <p:grpSpPr>
        <a:xfrm>
          <a:off x="0" y="0"/>
          <a:ext cx="0" cy="0"/>
          <a:chOff x="0" y="0"/>
          <a:chExt cx="0" cy="0"/>
        </a:xfrm>
      </p:grpSpPr>
      <p:sp>
        <p:nvSpPr>
          <p:cNvPr id="160" name="Google Shape;160;g2f426c55b76_0_11:notes">
            <a:extLst>
              <a:ext uri="{FF2B5EF4-FFF2-40B4-BE49-F238E27FC236}">
                <a16:creationId xmlns:a16="http://schemas.microsoft.com/office/drawing/2014/main" id="{27A64855-C70F-C2C1-39A3-16ABE70482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2f426c55b76_0_11:notes">
            <a:extLst>
              <a:ext uri="{FF2B5EF4-FFF2-40B4-BE49-F238E27FC236}">
                <a16:creationId xmlns:a16="http://schemas.microsoft.com/office/drawing/2014/main" id="{0ADDBA08-E1D6-414A-156A-7D332C0557A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85750" lvl="0" indent="-285750" algn="l" rtl="0">
              <a:spcBef>
                <a:spcPts val="600"/>
              </a:spcBef>
              <a:spcAft>
                <a:spcPts val="0"/>
              </a:spcAft>
              <a:buFont typeface="Arial" panose="020B0604020202020204" pitchFamily="34" charset="0"/>
              <a:buChar char="•"/>
            </a:pPr>
            <a:endParaRPr sz="1200" dirty="0">
              <a:solidFill>
                <a:schemeClr val="dk1"/>
              </a:solidFill>
              <a:latin typeface="Lato"/>
              <a:ea typeface="Lato"/>
              <a:cs typeface="Lato"/>
              <a:sym typeface="Lato"/>
            </a:endParaRPr>
          </a:p>
        </p:txBody>
      </p:sp>
    </p:spTree>
    <p:extLst>
      <p:ext uri="{BB962C8B-B14F-4D97-AF65-F5344CB8AC3E}">
        <p14:creationId xmlns:p14="http://schemas.microsoft.com/office/powerpoint/2010/main" val="27907358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BF645391-5CBC-DDDC-00D6-4F9FFCA6B7EA}"/>
            </a:ext>
          </a:extLst>
        </p:cNvPr>
        <p:cNvGrpSpPr/>
        <p:nvPr/>
      </p:nvGrpSpPr>
      <p:grpSpPr>
        <a:xfrm>
          <a:off x="0" y="0"/>
          <a:ext cx="0" cy="0"/>
          <a:chOff x="0" y="0"/>
          <a:chExt cx="0" cy="0"/>
        </a:xfrm>
      </p:grpSpPr>
      <p:sp>
        <p:nvSpPr>
          <p:cNvPr id="160" name="Google Shape;160;g2f426c55b76_0_11:notes">
            <a:extLst>
              <a:ext uri="{FF2B5EF4-FFF2-40B4-BE49-F238E27FC236}">
                <a16:creationId xmlns:a16="http://schemas.microsoft.com/office/drawing/2014/main" id="{3B3BCE15-5529-50F1-0F05-EF63F6DB030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2f426c55b76_0_11:notes">
            <a:extLst>
              <a:ext uri="{FF2B5EF4-FFF2-40B4-BE49-F238E27FC236}">
                <a16:creationId xmlns:a16="http://schemas.microsoft.com/office/drawing/2014/main" id="{827515E9-174D-35B7-6D31-73139B7F425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85750" lvl="0" indent="-285750" algn="l" rtl="0">
              <a:spcBef>
                <a:spcPts val="600"/>
              </a:spcBef>
              <a:spcAft>
                <a:spcPts val="0"/>
              </a:spcAft>
              <a:buFont typeface="Arial" panose="020B0604020202020204" pitchFamily="34" charset="0"/>
              <a:buChar char="•"/>
            </a:pPr>
            <a:endParaRPr sz="1200" dirty="0">
              <a:solidFill>
                <a:schemeClr val="dk1"/>
              </a:solidFill>
              <a:latin typeface="Lato"/>
              <a:ea typeface="Lato"/>
              <a:cs typeface="Lato"/>
              <a:sym typeface="Lato"/>
            </a:endParaRPr>
          </a:p>
        </p:txBody>
      </p:sp>
    </p:spTree>
    <p:extLst>
      <p:ext uri="{BB962C8B-B14F-4D97-AF65-F5344CB8AC3E}">
        <p14:creationId xmlns:p14="http://schemas.microsoft.com/office/powerpoint/2010/main" val="2298815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CC1518D0-C19F-CCC8-3BF1-E426522E3F1F}"/>
            </a:ext>
          </a:extLst>
        </p:cNvPr>
        <p:cNvGrpSpPr/>
        <p:nvPr/>
      </p:nvGrpSpPr>
      <p:grpSpPr>
        <a:xfrm>
          <a:off x="0" y="0"/>
          <a:ext cx="0" cy="0"/>
          <a:chOff x="0" y="0"/>
          <a:chExt cx="0" cy="0"/>
        </a:xfrm>
      </p:grpSpPr>
      <p:sp>
        <p:nvSpPr>
          <p:cNvPr id="160" name="Google Shape;160;g2f426c55b76_0_11:notes">
            <a:extLst>
              <a:ext uri="{FF2B5EF4-FFF2-40B4-BE49-F238E27FC236}">
                <a16:creationId xmlns:a16="http://schemas.microsoft.com/office/drawing/2014/main" id="{B70CFF94-651D-C9F5-A33B-F880110B98F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2f426c55b76_0_11:notes">
            <a:extLst>
              <a:ext uri="{FF2B5EF4-FFF2-40B4-BE49-F238E27FC236}">
                <a16:creationId xmlns:a16="http://schemas.microsoft.com/office/drawing/2014/main" id="{59CA8815-DF3A-8B32-59F7-C7317918732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85750" lvl="0" indent="-285750" algn="l" rtl="0">
              <a:spcBef>
                <a:spcPts val="600"/>
              </a:spcBef>
              <a:spcAft>
                <a:spcPts val="0"/>
              </a:spcAft>
              <a:buFont typeface="Arial" panose="020B0604020202020204" pitchFamily="34" charset="0"/>
              <a:buChar char="•"/>
            </a:pPr>
            <a:endParaRPr sz="1200" dirty="0">
              <a:solidFill>
                <a:schemeClr val="dk1"/>
              </a:solidFill>
              <a:latin typeface="Lato"/>
              <a:ea typeface="Lato"/>
              <a:cs typeface="Lato"/>
              <a:sym typeface="Lato"/>
            </a:endParaRPr>
          </a:p>
        </p:txBody>
      </p:sp>
    </p:spTree>
    <p:extLst>
      <p:ext uri="{BB962C8B-B14F-4D97-AF65-F5344CB8AC3E}">
        <p14:creationId xmlns:p14="http://schemas.microsoft.com/office/powerpoint/2010/main" val="30386245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E14FFB61-C4FE-2E6A-14F7-0DAB37BFE9B8}"/>
            </a:ext>
          </a:extLst>
        </p:cNvPr>
        <p:cNvGrpSpPr/>
        <p:nvPr/>
      </p:nvGrpSpPr>
      <p:grpSpPr>
        <a:xfrm>
          <a:off x="0" y="0"/>
          <a:ext cx="0" cy="0"/>
          <a:chOff x="0" y="0"/>
          <a:chExt cx="0" cy="0"/>
        </a:xfrm>
      </p:grpSpPr>
      <p:sp>
        <p:nvSpPr>
          <p:cNvPr id="160" name="Google Shape;160;g2f426c55b76_0_11:notes">
            <a:extLst>
              <a:ext uri="{FF2B5EF4-FFF2-40B4-BE49-F238E27FC236}">
                <a16:creationId xmlns:a16="http://schemas.microsoft.com/office/drawing/2014/main" id="{40E82087-AD67-3910-79DA-8F8043C04BC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2f426c55b76_0_11:notes">
            <a:extLst>
              <a:ext uri="{FF2B5EF4-FFF2-40B4-BE49-F238E27FC236}">
                <a16:creationId xmlns:a16="http://schemas.microsoft.com/office/drawing/2014/main" id="{C19F02DC-D7CA-707C-5391-DD670FEE159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85750" lvl="0" indent="-285750" algn="l" rtl="0">
              <a:spcBef>
                <a:spcPts val="600"/>
              </a:spcBef>
              <a:spcAft>
                <a:spcPts val="0"/>
              </a:spcAft>
              <a:buFont typeface="Arial" panose="020B0604020202020204" pitchFamily="34" charset="0"/>
              <a:buChar char="•"/>
            </a:pPr>
            <a:r>
              <a:rPr lang="en-US" dirty="0"/>
              <a:t>State that LU caching yields runtime gains without changing results.</a:t>
            </a:r>
            <a:endParaRPr sz="1200" dirty="0">
              <a:solidFill>
                <a:schemeClr val="dk1"/>
              </a:solidFill>
              <a:latin typeface="Lato"/>
              <a:ea typeface="Lato"/>
              <a:cs typeface="Lato"/>
              <a:sym typeface="Lato"/>
            </a:endParaRPr>
          </a:p>
        </p:txBody>
      </p:sp>
    </p:spTree>
    <p:extLst>
      <p:ext uri="{BB962C8B-B14F-4D97-AF65-F5344CB8AC3E}">
        <p14:creationId xmlns:p14="http://schemas.microsoft.com/office/powerpoint/2010/main" val="20952188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089B764A-9882-3066-D45E-6680BF8E868E}"/>
            </a:ext>
          </a:extLst>
        </p:cNvPr>
        <p:cNvGrpSpPr/>
        <p:nvPr/>
      </p:nvGrpSpPr>
      <p:grpSpPr>
        <a:xfrm>
          <a:off x="0" y="0"/>
          <a:ext cx="0" cy="0"/>
          <a:chOff x="0" y="0"/>
          <a:chExt cx="0" cy="0"/>
        </a:xfrm>
      </p:grpSpPr>
      <p:sp>
        <p:nvSpPr>
          <p:cNvPr id="160" name="Google Shape;160;g2f426c55b76_0_11:notes">
            <a:extLst>
              <a:ext uri="{FF2B5EF4-FFF2-40B4-BE49-F238E27FC236}">
                <a16:creationId xmlns:a16="http://schemas.microsoft.com/office/drawing/2014/main" id="{BC8DB284-7506-7412-0DA1-52907C33F68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2f426c55b76_0_11:notes">
            <a:extLst>
              <a:ext uri="{FF2B5EF4-FFF2-40B4-BE49-F238E27FC236}">
                <a16:creationId xmlns:a16="http://schemas.microsoft.com/office/drawing/2014/main" id="{E91DCB16-D723-D67D-7AFB-4F2DDCBE015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85750" lvl="0" indent="-285750" algn="l" rtl="0">
              <a:spcBef>
                <a:spcPts val="600"/>
              </a:spcBef>
              <a:spcAft>
                <a:spcPts val="0"/>
              </a:spcAft>
              <a:buFont typeface="Arial" panose="020B0604020202020204" pitchFamily="34" charset="0"/>
              <a:buChar char="•"/>
            </a:pPr>
            <a:endParaRPr lang="en-US" sz="1200" dirty="0">
              <a:solidFill>
                <a:schemeClr val="dk1"/>
              </a:solidFill>
              <a:latin typeface="Lato"/>
              <a:ea typeface="Lato"/>
              <a:cs typeface="Lato"/>
              <a:sym typeface="Lato"/>
            </a:endParaRPr>
          </a:p>
        </p:txBody>
      </p:sp>
    </p:spTree>
    <p:extLst>
      <p:ext uri="{BB962C8B-B14F-4D97-AF65-F5344CB8AC3E}">
        <p14:creationId xmlns:p14="http://schemas.microsoft.com/office/powerpoint/2010/main" val="12476764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B6EF2C49-CFB6-CE1F-91ED-F3DDE1816DE8}"/>
            </a:ext>
          </a:extLst>
        </p:cNvPr>
        <p:cNvGrpSpPr/>
        <p:nvPr/>
      </p:nvGrpSpPr>
      <p:grpSpPr>
        <a:xfrm>
          <a:off x="0" y="0"/>
          <a:ext cx="0" cy="0"/>
          <a:chOff x="0" y="0"/>
          <a:chExt cx="0" cy="0"/>
        </a:xfrm>
      </p:grpSpPr>
      <p:sp>
        <p:nvSpPr>
          <p:cNvPr id="160" name="Google Shape;160;g2f426c55b76_0_11:notes">
            <a:extLst>
              <a:ext uri="{FF2B5EF4-FFF2-40B4-BE49-F238E27FC236}">
                <a16:creationId xmlns:a16="http://schemas.microsoft.com/office/drawing/2014/main" id="{1DA0AD1E-A062-92D4-FB29-A679CE09847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2f426c55b76_0_11:notes">
            <a:extLst>
              <a:ext uri="{FF2B5EF4-FFF2-40B4-BE49-F238E27FC236}">
                <a16:creationId xmlns:a16="http://schemas.microsoft.com/office/drawing/2014/main" id="{D55911AB-5FB7-C5CE-0265-04932946CFA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85750" lvl="0" indent="-285750" algn="l" rtl="0">
              <a:spcBef>
                <a:spcPts val="600"/>
              </a:spcBef>
              <a:spcAft>
                <a:spcPts val="0"/>
              </a:spcAft>
              <a:buFont typeface="Arial" panose="020B0604020202020204" pitchFamily="34" charset="0"/>
              <a:buChar char="•"/>
            </a:pPr>
            <a:endParaRPr sz="1200" dirty="0">
              <a:solidFill>
                <a:schemeClr val="dk1"/>
              </a:solidFill>
              <a:latin typeface="Lato"/>
              <a:ea typeface="Lato"/>
              <a:cs typeface="Lato"/>
              <a:sym typeface="Lato"/>
            </a:endParaRPr>
          </a:p>
        </p:txBody>
      </p:sp>
    </p:spTree>
    <p:extLst>
      <p:ext uri="{BB962C8B-B14F-4D97-AF65-F5344CB8AC3E}">
        <p14:creationId xmlns:p14="http://schemas.microsoft.com/office/powerpoint/2010/main" val="32186768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EC5D970B-9320-63BF-A6B2-23E8C8444F61}"/>
            </a:ext>
          </a:extLst>
        </p:cNvPr>
        <p:cNvGrpSpPr/>
        <p:nvPr/>
      </p:nvGrpSpPr>
      <p:grpSpPr>
        <a:xfrm>
          <a:off x="0" y="0"/>
          <a:ext cx="0" cy="0"/>
          <a:chOff x="0" y="0"/>
          <a:chExt cx="0" cy="0"/>
        </a:xfrm>
      </p:grpSpPr>
      <p:sp>
        <p:nvSpPr>
          <p:cNvPr id="160" name="Google Shape;160;g2f426c55b76_0_11:notes">
            <a:extLst>
              <a:ext uri="{FF2B5EF4-FFF2-40B4-BE49-F238E27FC236}">
                <a16:creationId xmlns:a16="http://schemas.microsoft.com/office/drawing/2014/main" id="{154DF13A-D727-306C-3BEA-09CFFCDC121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2f426c55b76_0_11:notes">
            <a:extLst>
              <a:ext uri="{FF2B5EF4-FFF2-40B4-BE49-F238E27FC236}">
                <a16:creationId xmlns:a16="http://schemas.microsoft.com/office/drawing/2014/main" id="{9C1178CA-9EC4-D514-008A-CC505CDD18E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85750" lvl="0" indent="-285750" algn="l" rtl="0">
              <a:spcBef>
                <a:spcPts val="600"/>
              </a:spcBef>
              <a:spcAft>
                <a:spcPts val="0"/>
              </a:spcAft>
              <a:buFont typeface="Arial" panose="020B0604020202020204" pitchFamily="34" charset="0"/>
              <a:buChar char="•"/>
            </a:pPr>
            <a:endParaRPr sz="1200" dirty="0">
              <a:solidFill>
                <a:schemeClr val="dk1"/>
              </a:solidFill>
              <a:latin typeface="Lato"/>
              <a:ea typeface="Lato"/>
              <a:cs typeface="Lato"/>
              <a:sym typeface="Lato"/>
            </a:endParaRPr>
          </a:p>
        </p:txBody>
      </p:sp>
    </p:spTree>
    <p:extLst>
      <p:ext uri="{BB962C8B-B14F-4D97-AF65-F5344CB8AC3E}">
        <p14:creationId xmlns:p14="http://schemas.microsoft.com/office/powerpoint/2010/main" val="9979745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2B133D30-E3FF-D278-5E3A-71CB6A1512F5}"/>
            </a:ext>
          </a:extLst>
        </p:cNvPr>
        <p:cNvGrpSpPr/>
        <p:nvPr/>
      </p:nvGrpSpPr>
      <p:grpSpPr>
        <a:xfrm>
          <a:off x="0" y="0"/>
          <a:ext cx="0" cy="0"/>
          <a:chOff x="0" y="0"/>
          <a:chExt cx="0" cy="0"/>
        </a:xfrm>
      </p:grpSpPr>
      <p:sp>
        <p:nvSpPr>
          <p:cNvPr id="160" name="Google Shape;160;g2f426c55b76_0_11:notes">
            <a:extLst>
              <a:ext uri="{FF2B5EF4-FFF2-40B4-BE49-F238E27FC236}">
                <a16:creationId xmlns:a16="http://schemas.microsoft.com/office/drawing/2014/main" id="{66A03202-B060-4079-129F-9EEAA9A3120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2f426c55b76_0_11:notes">
            <a:extLst>
              <a:ext uri="{FF2B5EF4-FFF2-40B4-BE49-F238E27FC236}">
                <a16:creationId xmlns:a16="http://schemas.microsoft.com/office/drawing/2014/main" id="{08D81A5D-7615-48E5-9B96-052FF241443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85750" lvl="0" indent="-285750" algn="l" rtl="0">
              <a:spcBef>
                <a:spcPts val="600"/>
              </a:spcBef>
              <a:spcAft>
                <a:spcPts val="0"/>
              </a:spcAft>
              <a:buFont typeface="Arial" panose="020B0604020202020204" pitchFamily="34" charset="0"/>
              <a:buChar char="•"/>
            </a:pPr>
            <a:r>
              <a:rPr lang="en-US" b="1" dirty="0"/>
              <a:t>Takeaway:</a:t>
            </a:r>
            <a:r>
              <a:rPr lang="en-US" dirty="0"/>
              <a:t> intermediate strides (S=4 or S=8) balance speed and accuracy.</a:t>
            </a:r>
            <a:endParaRPr sz="1200" dirty="0">
              <a:solidFill>
                <a:schemeClr val="dk1"/>
              </a:solidFill>
              <a:latin typeface="Lato"/>
              <a:ea typeface="Lato"/>
              <a:cs typeface="Lato"/>
              <a:sym typeface="Lato"/>
            </a:endParaRPr>
          </a:p>
        </p:txBody>
      </p:sp>
    </p:spTree>
    <p:extLst>
      <p:ext uri="{BB962C8B-B14F-4D97-AF65-F5344CB8AC3E}">
        <p14:creationId xmlns:p14="http://schemas.microsoft.com/office/powerpoint/2010/main" val="34721155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A987D5E8-D331-5388-AFDE-E0A813703101}"/>
            </a:ext>
          </a:extLst>
        </p:cNvPr>
        <p:cNvGrpSpPr/>
        <p:nvPr/>
      </p:nvGrpSpPr>
      <p:grpSpPr>
        <a:xfrm>
          <a:off x="0" y="0"/>
          <a:ext cx="0" cy="0"/>
          <a:chOff x="0" y="0"/>
          <a:chExt cx="0" cy="0"/>
        </a:xfrm>
      </p:grpSpPr>
      <p:sp>
        <p:nvSpPr>
          <p:cNvPr id="160" name="Google Shape;160;g2f426c55b76_0_11:notes">
            <a:extLst>
              <a:ext uri="{FF2B5EF4-FFF2-40B4-BE49-F238E27FC236}">
                <a16:creationId xmlns:a16="http://schemas.microsoft.com/office/drawing/2014/main" id="{8D2D7679-2000-AD51-30E4-1E65D72253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2f426c55b76_0_11:notes">
            <a:extLst>
              <a:ext uri="{FF2B5EF4-FFF2-40B4-BE49-F238E27FC236}">
                <a16:creationId xmlns:a16="http://schemas.microsoft.com/office/drawing/2014/main" id="{239DA843-7FF5-A8D5-DD8A-7D8618376AD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85750" lvl="0" indent="-285750" algn="l" rtl="0">
              <a:spcBef>
                <a:spcPts val="600"/>
              </a:spcBef>
              <a:spcAft>
                <a:spcPts val="0"/>
              </a:spcAft>
              <a:buFont typeface="Arial" panose="020B0604020202020204" pitchFamily="34" charset="0"/>
              <a:buChar char="•"/>
            </a:pPr>
            <a:endParaRPr sz="1200" dirty="0">
              <a:solidFill>
                <a:schemeClr val="dk1"/>
              </a:solidFill>
              <a:latin typeface="Lato"/>
              <a:ea typeface="Lato"/>
              <a:cs typeface="Lato"/>
              <a:sym typeface="Lato"/>
            </a:endParaRPr>
          </a:p>
        </p:txBody>
      </p:sp>
    </p:spTree>
    <p:extLst>
      <p:ext uri="{BB962C8B-B14F-4D97-AF65-F5344CB8AC3E}">
        <p14:creationId xmlns:p14="http://schemas.microsoft.com/office/powerpoint/2010/main" val="820866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g2f426c55b76_0_3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5" name="Google Shape;585;g2f426c55b76_0_3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032357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59F9D8A8-32E1-748A-99B2-2CA34C939928}"/>
            </a:ext>
          </a:extLst>
        </p:cNvPr>
        <p:cNvGrpSpPr/>
        <p:nvPr/>
      </p:nvGrpSpPr>
      <p:grpSpPr>
        <a:xfrm>
          <a:off x="0" y="0"/>
          <a:ext cx="0" cy="0"/>
          <a:chOff x="0" y="0"/>
          <a:chExt cx="0" cy="0"/>
        </a:xfrm>
      </p:grpSpPr>
      <p:sp>
        <p:nvSpPr>
          <p:cNvPr id="160" name="Google Shape;160;g2f426c55b76_0_11:notes">
            <a:extLst>
              <a:ext uri="{FF2B5EF4-FFF2-40B4-BE49-F238E27FC236}">
                <a16:creationId xmlns:a16="http://schemas.microsoft.com/office/drawing/2014/main" id="{FF6B3BE3-ABC7-7749-8E52-FA119254861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2f426c55b76_0_11:notes">
            <a:extLst>
              <a:ext uri="{FF2B5EF4-FFF2-40B4-BE49-F238E27FC236}">
                <a16:creationId xmlns:a16="http://schemas.microsoft.com/office/drawing/2014/main" id="{3BB11345-437A-059D-17DD-2ECF1FCD9C4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85750" lvl="0" indent="-285750" algn="l" rtl="0">
              <a:spcBef>
                <a:spcPts val="600"/>
              </a:spcBef>
              <a:spcAft>
                <a:spcPts val="0"/>
              </a:spcAft>
              <a:buFont typeface="Arial" panose="020B0604020202020204" pitchFamily="34" charset="0"/>
              <a:buChar char="•"/>
            </a:pPr>
            <a:endParaRPr sz="1200" dirty="0">
              <a:solidFill>
                <a:schemeClr val="dk1"/>
              </a:solidFill>
              <a:latin typeface="Lato"/>
              <a:ea typeface="Lato"/>
              <a:cs typeface="Lato"/>
              <a:sym typeface="Lato"/>
            </a:endParaRPr>
          </a:p>
        </p:txBody>
      </p:sp>
    </p:spTree>
    <p:extLst>
      <p:ext uri="{BB962C8B-B14F-4D97-AF65-F5344CB8AC3E}">
        <p14:creationId xmlns:p14="http://schemas.microsoft.com/office/powerpoint/2010/main" val="4636052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7A9AEB79-7F94-CBC7-7F3C-D88A7BC95036}"/>
            </a:ext>
          </a:extLst>
        </p:cNvPr>
        <p:cNvGrpSpPr/>
        <p:nvPr/>
      </p:nvGrpSpPr>
      <p:grpSpPr>
        <a:xfrm>
          <a:off x="0" y="0"/>
          <a:ext cx="0" cy="0"/>
          <a:chOff x="0" y="0"/>
          <a:chExt cx="0" cy="0"/>
        </a:xfrm>
      </p:grpSpPr>
      <p:sp>
        <p:nvSpPr>
          <p:cNvPr id="160" name="Google Shape;160;g2f426c55b76_0_11:notes">
            <a:extLst>
              <a:ext uri="{FF2B5EF4-FFF2-40B4-BE49-F238E27FC236}">
                <a16:creationId xmlns:a16="http://schemas.microsoft.com/office/drawing/2014/main" id="{6EDB2F9C-63C4-2291-1C18-64B8F0C648C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2f426c55b76_0_11:notes">
            <a:extLst>
              <a:ext uri="{FF2B5EF4-FFF2-40B4-BE49-F238E27FC236}">
                <a16:creationId xmlns:a16="http://schemas.microsoft.com/office/drawing/2014/main" id="{33AFEC3A-734C-68E2-4595-5E735D507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85750" lvl="0" indent="-285750" algn="l" rtl="0">
              <a:spcBef>
                <a:spcPts val="600"/>
              </a:spcBef>
              <a:spcAft>
                <a:spcPts val="0"/>
              </a:spcAft>
              <a:buFont typeface="Arial" panose="020B0604020202020204" pitchFamily="34" charset="0"/>
              <a:buChar char="•"/>
            </a:pPr>
            <a:endParaRPr sz="1200" dirty="0">
              <a:solidFill>
                <a:schemeClr val="dk1"/>
              </a:solidFill>
              <a:latin typeface="Lato"/>
              <a:ea typeface="Lato"/>
              <a:cs typeface="Lato"/>
              <a:sym typeface="Lato"/>
            </a:endParaRPr>
          </a:p>
        </p:txBody>
      </p:sp>
    </p:spTree>
    <p:extLst>
      <p:ext uri="{BB962C8B-B14F-4D97-AF65-F5344CB8AC3E}">
        <p14:creationId xmlns:p14="http://schemas.microsoft.com/office/powerpoint/2010/main" val="20893414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91855235-FFC5-716A-CD22-21D0F074F842}"/>
            </a:ext>
          </a:extLst>
        </p:cNvPr>
        <p:cNvGrpSpPr/>
        <p:nvPr/>
      </p:nvGrpSpPr>
      <p:grpSpPr>
        <a:xfrm>
          <a:off x="0" y="0"/>
          <a:ext cx="0" cy="0"/>
          <a:chOff x="0" y="0"/>
          <a:chExt cx="0" cy="0"/>
        </a:xfrm>
      </p:grpSpPr>
      <p:sp>
        <p:nvSpPr>
          <p:cNvPr id="160" name="Google Shape;160;g2f426c55b76_0_11:notes">
            <a:extLst>
              <a:ext uri="{FF2B5EF4-FFF2-40B4-BE49-F238E27FC236}">
                <a16:creationId xmlns:a16="http://schemas.microsoft.com/office/drawing/2014/main" id="{5C1DEE18-8097-EEBF-5D22-2E77B2FEEF0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2f426c55b76_0_11:notes">
            <a:extLst>
              <a:ext uri="{FF2B5EF4-FFF2-40B4-BE49-F238E27FC236}">
                <a16:creationId xmlns:a16="http://schemas.microsoft.com/office/drawing/2014/main" id="{11C5EF25-D8B2-4478-00E8-ABAD7B6DC2F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85750" lvl="0" indent="-285750" algn="l" rtl="0">
              <a:spcBef>
                <a:spcPts val="600"/>
              </a:spcBef>
              <a:spcAft>
                <a:spcPts val="0"/>
              </a:spcAft>
              <a:buFont typeface="Arial" panose="020B0604020202020204" pitchFamily="34" charset="0"/>
              <a:buChar char="•"/>
            </a:pPr>
            <a:endParaRPr sz="1200" dirty="0">
              <a:solidFill>
                <a:schemeClr val="dk1"/>
              </a:solidFill>
              <a:latin typeface="Lato"/>
              <a:ea typeface="Lato"/>
              <a:cs typeface="Lato"/>
              <a:sym typeface="Lato"/>
            </a:endParaRPr>
          </a:p>
        </p:txBody>
      </p:sp>
    </p:spTree>
    <p:extLst>
      <p:ext uri="{BB962C8B-B14F-4D97-AF65-F5344CB8AC3E}">
        <p14:creationId xmlns:p14="http://schemas.microsoft.com/office/powerpoint/2010/main" val="26662957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1F3584BB-8B3D-9796-A3D4-C46AE29DB94B}"/>
            </a:ext>
          </a:extLst>
        </p:cNvPr>
        <p:cNvGrpSpPr/>
        <p:nvPr/>
      </p:nvGrpSpPr>
      <p:grpSpPr>
        <a:xfrm>
          <a:off x="0" y="0"/>
          <a:ext cx="0" cy="0"/>
          <a:chOff x="0" y="0"/>
          <a:chExt cx="0" cy="0"/>
        </a:xfrm>
      </p:grpSpPr>
      <p:sp>
        <p:nvSpPr>
          <p:cNvPr id="160" name="Google Shape;160;g2f426c55b76_0_11:notes">
            <a:extLst>
              <a:ext uri="{FF2B5EF4-FFF2-40B4-BE49-F238E27FC236}">
                <a16:creationId xmlns:a16="http://schemas.microsoft.com/office/drawing/2014/main" id="{047FE807-FC91-0EC1-3AE3-F9DD11FAFE8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2f426c55b76_0_11:notes">
            <a:extLst>
              <a:ext uri="{FF2B5EF4-FFF2-40B4-BE49-F238E27FC236}">
                <a16:creationId xmlns:a16="http://schemas.microsoft.com/office/drawing/2014/main" id="{4E5A98B3-7B57-DF58-663A-1F705B832CE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85750" lvl="0" indent="-285750" algn="l" rtl="0">
              <a:spcBef>
                <a:spcPts val="600"/>
              </a:spcBef>
              <a:spcAft>
                <a:spcPts val="0"/>
              </a:spcAft>
              <a:buFont typeface="Arial" panose="020B0604020202020204" pitchFamily="34" charset="0"/>
              <a:buChar char="•"/>
            </a:pPr>
            <a:r>
              <a:rPr lang="en-US" sz="1200" dirty="0">
                <a:solidFill>
                  <a:schemeClr val="dk1"/>
                </a:solidFill>
                <a:latin typeface="Lato"/>
                <a:ea typeface="Lato"/>
                <a:cs typeface="Lato"/>
                <a:sym typeface="Lato"/>
              </a:rPr>
              <a:t>Cell-pressure forcing </a:t>
            </a:r>
          </a:p>
          <a:p>
            <a:pPr marL="285750" lvl="0" indent="-285750" algn="l" rtl="0">
              <a:spcBef>
                <a:spcPts val="600"/>
              </a:spcBef>
              <a:spcAft>
                <a:spcPts val="0"/>
              </a:spcAft>
              <a:buFont typeface="Arial" panose="020B0604020202020204" pitchFamily="34" charset="0"/>
              <a:buChar char="•"/>
            </a:pPr>
            <a:r>
              <a:rPr lang="en-US" sz="1200" dirty="0">
                <a:solidFill>
                  <a:schemeClr val="dk1"/>
                </a:solidFill>
                <a:latin typeface="Lato"/>
                <a:ea typeface="Lato"/>
                <a:cs typeface="Lato"/>
                <a:sym typeface="Lato"/>
              </a:rPr>
              <a:t>Mechanical load exerted by the tumor </a:t>
            </a:r>
          </a:p>
          <a:p>
            <a:pPr marL="285750" lvl="0" indent="-285750" algn="l" rtl="0">
              <a:spcBef>
                <a:spcPts val="600"/>
              </a:spcBef>
              <a:spcAft>
                <a:spcPts val="0"/>
              </a:spcAft>
              <a:buFont typeface="Arial" panose="020B0604020202020204" pitchFamily="34" charset="0"/>
              <a:buChar char="•"/>
            </a:pPr>
            <a:r>
              <a:rPr lang="en-US" sz="1200" dirty="0">
                <a:solidFill>
                  <a:schemeClr val="dk1"/>
                </a:solidFill>
                <a:latin typeface="Lato"/>
                <a:ea typeface="Lato"/>
                <a:cs typeface="Lato"/>
                <a:sym typeface="Lato"/>
              </a:rPr>
              <a:t>Tissue behaves like a linear elastic solid </a:t>
            </a:r>
          </a:p>
          <a:p>
            <a:pPr marL="285750" lvl="0" indent="-285750" algn="l" rtl="0">
              <a:spcBef>
                <a:spcPts val="600"/>
              </a:spcBef>
              <a:spcAft>
                <a:spcPts val="0"/>
              </a:spcAft>
              <a:buFont typeface="Arial" panose="020B0604020202020204" pitchFamily="34" charset="0"/>
              <a:buChar char="•"/>
            </a:pPr>
            <a:endParaRPr lang="en-US" sz="1200" dirty="0">
              <a:solidFill>
                <a:schemeClr val="dk1"/>
              </a:solidFill>
              <a:latin typeface="Lato"/>
              <a:ea typeface="Lato"/>
              <a:cs typeface="Lato"/>
              <a:sym typeface="Lato"/>
            </a:endParaRPr>
          </a:p>
          <a:p>
            <a:pPr marL="285750" lvl="0" indent="-285750" algn="l" rtl="0">
              <a:spcBef>
                <a:spcPts val="600"/>
              </a:spcBef>
              <a:spcAft>
                <a:spcPts val="0"/>
              </a:spcAft>
              <a:buFont typeface="Arial" panose="020B0604020202020204" pitchFamily="34" charset="0"/>
              <a:buChar char="•"/>
            </a:pPr>
            <a:endParaRPr lang="en-US" sz="1200" dirty="0">
              <a:solidFill>
                <a:schemeClr val="dk1"/>
              </a:solidFill>
              <a:latin typeface="Lato"/>
              <a:ea typeface="Lato"/>
              <a:cs typeface="Lato"/>
              <a:sym typeface="Lato"/>
            </a:endParaRP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dirty="0"/>
              <a:t>“Von Mises stress is a scalar measure of stress intensity, combining normal and shear components. I computed it for both the full model and the subsampled model, then calculated the relative error at each time step. This let me quantify how much accuracy I lost by skipping mechanics solves — and whether the speedup was worth it.”</a:t>
            </a:r>
          </a:p>
          <a:p>
            <a:pPr marL="285750" lvl="0" indent="-285750" algn="l" rtl="0">
              <a:spcBef>
                <a:spcPts val="600"/>
              </a:spcBef>
              <a:spcAft>
                <a:spcPts val="0"/>
              </a:spcAft>
              <a:buFont typeface="Arial" panose="020B0604020202020204" pitchFamily="34" charset="0"/>
              <a:buChar char="•"/>
            </a:pPr>
            <a:endParaRPr sz="1200" dirty="0">
              <a:solidFill>
                <a:schemeClr val="dk1"/>
              </a:solidFill>
              <a:latin typeface="Lato"/>
              <a:ea typeface="Lato"/>
              <a:cs typeface="Lato"/>
              <a:sym typeface="Lato"/>
            </a:endParaRPr>
          </a:p>
        </p:txBody>
      </p:sp>
    </p:spTree>
    <p:extLst>
      <p:ext uri="{BB962C8B-B14F-4D97-AF65-F5344CB8AC3E}">
        <p14:creationId xmlns:p14="http://schemas.microsoft.com/office/powerpoint/2010/main" val="3816735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a:extLst>
            <a:ext uri="{FF2B5EF4-FFF2-40B4-BE49-F238E27FC236}">
              <a16:creationId xmlns:a16="http://schemas.microsoft.com/office/drawing/2014/main" id="{2C6DFB9F-D8E8-DD48-5C67-0D89D957C61C}"/>
            </a:ext>
          </a:extLst>
        </p:cNvPr>
        <p:cNvGrpSpPr/>
        <p:nvPr/>
      </p:nvGrpSpPr>
      <p:grpSpPr>
        <a:xfrm>
          <a:off x="0" y="0"/>
          <a:ext cx="0" cy="0"/>
          <a:chOff x="0" y="0"/>
          <a:chExt cx="0" cy="0"/>
        </a:xfrm>
      </p:grpSpPr>
      <p:sp>
        <p:nvSpPr>
          <p:cNvPr id="154" name="Google Shape;154;g32ed961eed3_0_0:notes">
            <a:extLst>
              <a:ext uri="{FF2B5EF4-FFF2-40B4-BE49-F238E27FC236}">
                <a16:creationId xmlns:a16="http://schemas.microsoft.com/office/drawing/2014/main" id="{7BBB5CEB-75CD-7567-38D8-8F075871AA4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2ed961eed3_0_0:notes">
            <a:extLst>
              <a:ext uri="{FF2B5EF4-FFF2-40B4-BE49-F238E27FC236}">
                <a16:creationId xmlns:a16="http://schemas.microsoft.com/office/drawing/2014/main" id="{E3C6FCAC-E3AF-C852-D138-CDB62F5544A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dirty="0"/>
              <a:t>I used MATLAB’s profiler to measure runtime. The profiler showed that </a:t>
            </a:r>
            <a:r>
              <a:rPr lang="en-US" dirty="0" err="1"/>
              <a:t>get_damper</a:t>
            </a:r>
            <a:r>
              <a:rPr lang="en-US" dirty="0"/>
              <a:t> and mech_matrix_build_2D were the main bottlenecks, so we focused our optimization there.</a:t>
            </a:r>
          </a:p>
          <a:p>
            <a:pPr marL="228600" lvl="0" indent="-228600" algn="l" rtl="0">
              <a:spcBef>
                <a:spcPts val="0"/>
              </a:spcBef>
              <a:spcAft>
                <a:spcPts val="0"/>
              </a:spcAft>
              <a:buFont typeface="+mj-lt"/>
              <a:buAutoNum type="arabicPeriod"/>
            </a:pPr>
            <a:r>
              <a:rPr lang="en-US" dirty="0"/>
              <a:t>“The profiler told me this one function was the bottleneck.”</a:t>
            </a:r>
          </a:p>
          <a:p>
            <a:pPr marL="228600" lvl="0" indent="-228600" algn="l" rtl="0">
              <a:spcBef>
                <a:spcPts val="0"/>
              </a:spcBef>
              <a:spcAft>
                <a:spcPts val="0"/>
              </a:spcAft>
              <a:buFont typeface="+mj-lt"/>
              <a:buAutoNum type="arabicPeriod"/>
            </a:pPr>
            <a:r>
              <a:rPr lang="en-US" i="1" dirty="0"/>
              <a:t>“Since </a:t>
            </a:r>
            <a:r>
              <a:rPr lang="en-US" dirty="0" err="1"/>
              <a:t>get_damper</a:t>
            </a:r>
            <a:r>
              <a:rPr lang="en-US" i="1" dirty="0"/>
              <a:t> was the slowest part, I asked: do we really need to call it every single timestep?”</a:t>
            </a:r>
          </a:p>
          <a:p>
            <a:pPr marL="685800" lvl="1" indent="-228600" algn="l" rtl="0">
              <a:spcBef>
                <a:spcPts val="0"/>
              </a:spcBef>
              <a:spcAft>
                <a:spcPts val="0"/>
              </a:spcAft>
              <a:buFont typeface="+mj-lt"/>
              <a:buAutoNum type="arabicPeriod"/>
            </a:pPr>
            <a:r>
              <a:rPr lang="en-US" dirty="0"/>
              <a:t>Explain the intuition: mechanics don’t change drastically every step, so maybe we can reuse results.</a:t>
            </a:r>
          </a:p>
          <a:p>
            <a:pPr marL="685800" lvl="1" indent="-228600" algn="l" rtl="0">
              <a:spcBef>
                <a:spcPts val="0"/>
              </a:spcBef>
              <a:spcAft>
                <a:spcPts val="0"/>
              </a:spcAft>
              <a:buFont typeface="+mj-lt"/>
              <a:buAutoNum type="arabicPeriod"/>
            </a:pPr>
            <a:r>
              <a:rPr lang="en-US" dirty="0"/>
              <a:t>Key line: </a:t>
            </a:r>
            <a:r>
              <a:rPr lang="en-US" i="1" dirty="0"/>
              <a:t>“What if I only compute it every 2 or 4 steps and reuse the last result?”</a:t>
            </a:r>
            <a:endParaRPr lang="en-US" dirty="0"/>
          </a:p>
          <a:p>
            <a:pPr marL="228600" lvl="0" indent="-228600" algn="l" rtl="0">
              <a:spcBef>
                <a:spcPts val="0"/>
              </a:spcBef>
              <a:spcAft>
                <a:spcPts val="0"/>
              </a:spcAft>
              <a:buFont typeface="+mj-lt"/>
              <a:buAutoNum type="arabicPeriod"/>
            </a:pPr>
            <a:endParaRPr lang="en-US" dirty="0"/>
          </a:p>
        </p:txBody>
      </p:sp>
    </p:spTree>
    <p:extLst>
      <p:ext uri="{BB962C8B-B14F-4D97-AF65-F5344CB8AC3E}">
        <p14:creationId xmlns:p14="http://schemas.microsoft.com/office/powerpoint/2010/main" val="36938688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a:extLst>
            <a:ext uri="{FF2B5EF4-FFF2-40B4-BE49-F238E27FC236}">
              <a16:creationId xmlns:a16="http://schemas.microsoft.com/office/drawing/2014/main" id="{77B2945C-C4DF-D7BE-98A1-D3F7ECAF58EB}"/>
            </a:ext>
          </a:extLst>
        </p:cNvPr>
        <p:cNvGrpSpPr/>
        <p:nvPr/>
      </p:nvGrpSpPr>
      <p:grpSpPr>
        <a:xfrm>
          <a:off x="0" y="0"/>
          <a:ext cx="0" cy="0"/>
          <a:chOff x="0" y="0"/>
          <a:chExt cx="0" cy="0"/>
        </a:xfrm>
      </p:grpSpPr>
      <p:sp>
        <p:nvSpPr>
          <p:cNvPr id="154" name="Google Shape;154;g32ed961eed3_0_0:notes">
            <a:extLst>
              <a:ext uri="{FF2B5EF4-FFF2-40B4-BE49-F238E27FC236}">
                <a16:creationId xmlns:a16="http://schemas.microsoft.com/office/drawing/2014/main" id="{08C4E7A3-9A9E-11F8-E8FF-F1AB43715DC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2ed961eed3_0_0:notes">
            <a:extLst>
              <a:ext uri="{FF2B5EF4-FFF2-40B4-BE49-F238E27FC236}">
                <a16:creationId xmlns:a16="http://schemas.microsoft.com/office/drawing/2014/main" id="{9CC3574A-7D2C-BB3B-8283-B36CFDEA8E4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i="1" dirty="0"/>
              <a:t>“The crux of the project was using the profiler to find the slowest function, then editing that part to make the code more efficient. The error plots were just to justify that the shortcut didn’t ruin accuracy.”</a:t>
            </a:r>
            <a:endParaRPr lang="en-US" dirty="0"/>
          </a:p>
        </p:txBody>
      </p:sp>
    </p:spTree>
    <p:extLst>
      <p:ext uri="{BB962C8B-B14F-4D97-AF65-F5344CB8AC3E}">
        <p14:creationId xmlns:p14="http://schemas.microsoft.com/office/powerpoint/2010/main" val="12435490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a:extLst>
            <a:ext uri="{FF2B5EF4-FFF2-40B4-BE49-F238E27FC236}">
              <a16:creationId xmlns:a16="http://schemas.microsoft.com/office/drawing/2014/main" id="{0C2415FD-0A5E-F2EA-D004-7E66F08F4B05}"/>
            </a:ext>
          </a:extLst>
        </p:cNvPr>
        <p:cNvGrpSpPr/>
        <p:nvPr/>
      </p:nvGrpSpPr>
      <p:grpSpPr>
        <a:xfrm>
          <a:off x="0" y="0"/>
          <a:ext cx="0" cy="0"/>
          <a:chOff x="0" y="0"/>
          <a:chExt cx="0" cy="0"/>
        </a:xfrm>
      </p:grpSpPr>
      <p:sp>
        <p:nvSpPr>
          <p:cNvPr id="154" name="Google Shape;154;g32ed961eed3_0_0:notes">
            <a:extLst>
              <a:ext uri="{FF2B5EF4-FFF2-40B4-BE49-F238E27FC236}">
                <a16:creationId xmlns:a16="http://schemas.microsoft.com/office/drawing/2014/main" id="{E26F9E5D-9C46-95D5-68BF-9338CF68D58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2ed961eed3_0_0:notes">
            <a:extLst>
              <a:ext uri="{FF2B5EF4-FFF2-40B4-BE49-F238E27FC236}">
                <a16:creationId xmlns:a16="http://schemas.microsoft.com/office/drawing/2014/main" id="{9DB846E0-833E-4B08-123C-D34855EB51F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Takeaway → “Profiler guided us to the bottleneck. Subsampling and ROM are two ways to optimize it, with different tradeoffs between speed and accuracy.”</a:t>
            </a:r>
          </a:p>
        </p:txBody>
      </p:sp>
    </p:spTree>
    <p:extLst>
      <p:ext uri="{BB962C8B-B14F-4D97-AF65-F5344CB8AC3E}">
        <p14:creationId xmlns:p14="http://schemas.microsoft.com/office/powerpoint/2010/main" val="22104770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B2CC9266-95BB-1AC0-3E54-149091F3A00E}"/>
            </a:ext>
          </a:extLst>
        </p:cNvPr>
        <p:cNvGrpSpPr/>
        <p:nvPr/>
      </p:nvGrpSpPr>
      <p:grpSpPr>
        <a:xfrm>
          <a:off x="0" y="0"/>
          <a:ext cx="0" cy="0"/>
          <a:chOff x="0" y="0"/>
          <a:chExt cx="0" cy="0"/>
        </a:xfrm>
      </p:grpSpPr>
      <p:sp>
        <p:nvSpPr>
          <p:cNvPr id="160" name="Google Shape;160;g2f426c55b76_0_11:notes">
            <a:extLst>
              <a:ext uri="{FF2B5EF4-FFF2-40B4-BE49-F238E27FC236}">
                <a16:creationId xmlns:a16="http://schemas.microsoft.com/office/drawing/2014/main" id="{29FB8164-7442-2B6D-AF10-0272D878F29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2f426c55b76_0_11:notes">
            <a:extLst>
              <a:ext uri="{FF2B5EF4-FFF2-40B4-BE49-F238E27FC236}">
                <a16:creationId xmlns:a16="http://schemas.microsoft.com/office/drawing/2014/main" id="{42FA8D93-1975-0583-BCCD-FA0D6551640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85750" lvl="0" indent="-285750" algn="l" rtl="0">
              <a:spcBef>
                <a:spcPts val="600"/>
              </a:spcBef>
              <a:spcAft>
                <a:spcPts val="0"/>
              </a:spcAft>
              <a:buFont typeface="Arial" panose="020B0604020202020204" pitchFamily="34" charset="0"/>
              <a:buChar char="•"/>
            </a:pPr>
            <a:r>
              <a:rPr lang="en-US" sz="1200" dirty="0">
                <a:solidFill>
                  <a:schemeClr val="dk1"/>
                </a:solidFill>
                <a:latin typeface="Lato"/>
                <a:ea typeface="Lato"/>
                <a:cs typeface="Lato"/>
                <a:sym typeface="Lato"/>
              </a:rPr>
              <a:t>This is with a different set of code so don’t worry about the previous numbers for timings.. We are not comparing performance from baseline since the code is not the exact same… I am calling a bunch of </a:t>
            </a:r>
            <a:r>
              <a:rPr lang="en-US" sz="1200" dirty="0" err="1">
                <a:solidFill>
                  <a:schemeClr val="dk1"/>
                </a:solidFill>
                <a:latin typeface="Lato"/>
                <a:ea typeface="Lato"/>
                <a:cs typeface="Lato"/>
                <a:sym typeface="Lato"/>
              </a:rPr>
              <a:t>fthings</a:t>
            </a:r>
            <a:r>
              <a:rPr lang="en-US" sz="1200" dirty="0">
                <a:solidFill>
                  <a:schemeClr val="dk1"/>
                </a:solidFill>
                <a:latin typeface="Lato"/>
                <a:ea typeface="Lato"/>
                <a:cs typeface="Lato"/>
                <a:sym typeface="Lato"/>
              </a:rPr>
              <a:t> in the new script not just once like the first example script. That was just a baseline thing. </a:t>
            </a:r>
            <a:endParaRPr sz="1200" dirty="0">
              <a:solidFill>
                <a:schemeClr val="dk1"/>
              </a:solidFill>
              <a:latin typeface="Lato"/>
              <a:ea typeface="Lato"/>
              <a:cs typeface="Lato"/>
              <a:sym typeface="Lato"/>
            </a:endParaRPr>
          </a:p>
        </p:txBody>
      </p:sp>
    </p:spTree>
    <p:extLst>
      <p:ext uri="{BB962C8B-B14F-4D97-AF65-F5344CB8AC3E}">
        <p14:creationId xmlns:p14="http://schemas.microsoft.com/office/powerpoint/2010/main" val="12222987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D590D088-D4E9-DA7B-C2F9-ADBA011F9AC7}"/>
            </a:ext>
          </a:extLst>
        </p:cNvPr>
        <p:cNvGrpSpPr/>
        <p:nvPr/>
      </p:nvGrpSpPr>
      <p:grpSpPr>
        <a:xfrm>
          <a:off x="0" y="0"/>
          <a:ext cx="0" cy="0"/>
          <a:chOff x="0" y="0"/>
          <a:chExt cx="0" cy="0"/>
        </a:xfrm>
      </p:grpSpPr>
      <p:sp>
        <p:nvSpPr>
          <p:cNvPr id="160" name="Google Shape;160;g2f426c55b76_0_11:notes">
            <a:extLst>
              <a:ext uri="{FF2B5EF4-FFF2-40B4-BE49-F238E27FC236}">
                <a16:creationId xmlns:a16="http://schemas.microsoft.com/office/drawing/2014/main" id="{825D72D1-3CC3-9A9D-13A4-F2B01A08DFB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2f426c55b76_0_11:notes">
            <a:extLst>
              <a:ext uri="{FF2B5EF4-FFF2-40B4-BE49-F238E27FC236}">
                <a16:creationId xmlns:a16="http://schemas.microsoft.com/office/drawing/2014/main" id="{A669E7DD-1859-E60F-F353-41111511180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85750" lvl="0" indent="-285750" algn="l" rtl="0">
              <a:spcBef>
                <a:spcPts val="600"/>
              </a:spcBef>
              <a:spcAft>
                <a:spcPts val="0"/>
              </a:spcAft>
              <a:buFont typeface="Arial" panose="020B0604020202020204" pitchFamily="34" charset="0"/>
              <a:buChar char="•"/>
            </a:pPr>
            <a:r>
              <a:rPr lang="en-US" sz="1200" dirty="0">
                <a:solidFill>
                  <a:schemeClr val="dk1"/>
                </a:solidFill>
                <a:latin typeface="Lato"/>
                <a:ea typeface="Lato"/>
                <a:cs typeface="Lato"/>
                <a:sym typeface="Lato"/>
              </a:rPr>
              <a:t>This is with a different set of code so don’t worry about the previous numbers for timings.. We are not comparing performance from baseline since the code is not the exact same… I am calling a bunch of </a:t>
            </a:r>
            <a:r>
              <a:rPr lang="en-US" sz="1200" dirty="0" err="1">
                <a:solidFill>
                  <a:schemeClr val="dk1"/>
                </a:solidFill>
                <a:latin typeface="Lato"/>
                <a:ea typeface="Lato"/>
                <a:cs typeface="Lato"/>
                <a:sym typeface="Lato"/>
              </a:rPr>
              <a:t>fthings</a:t>
            </a:r>
            <a:r>
              <a:rPr lang="en-US" sz="1200" dirty="0">
                <a:solidFill>
                  <a:schemeClr val="dk1"/>
                </a:solidFill>
                <a:latin typeface="Lato"/>
                <a:ea typeface="Lato"/>
                <a:cs typeface="Lato"/>
                <a:sym typeface="Lato"/>
              </a:rPr>
              <a:t> in the new script not just once like the first example script. That was just a baseline thing. </a:t>
            </a:r>
            <a:endParaRPr sz="1200" dirty="0">
              <a:solidFill>
                <a:schemeClr val="dk1"/>
              </a:solidFill>
              <a:latin typeface="Lato"/>
              <a:ea typeface="Lato"/>
              <a:cs typeface="Lato"/>
              <a:sym typeface="Lato"/>
            </a:endParaRPr>
          </a:p>
        </p:txBody>
      </p:sp>
    </p:spTree>
    <p:extLst>
      <p:ext uri="{BB962C8B-B14F-4D97-AF65-F5344CB8AC3E}">
        <p14:creationId xmlns:p14="http://schemas.microsoft.com/office/powerpoint/2010/main" val="32507150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a:extLst>
            <a:ext uri="{FF2B5EF4-FFF2-40B4-BE49-F238E27FC236}">
              <a16:creationId xmlns:a16="http://schemas.microsoft.com/office/drawing/2014/main" id="{6DE8F8BE-E143-F269-6D40-D3278C42D430}"/>
            </a:ext>
          </a:extLst>
        </p:cNvPr>
        <p:cNvGrpSpPr/>
        <p:nvPr/>
      </p:nvGrpSpPr>
      <p:grpSpPr>
        <a:xfrm>
          <a:off x="0" y="0"/>
          <a:ext cx="0" cy="0"/>
          <a:chOff x="0" y="0"/>
          <a:chExt cx="0" cy="0"/>
        </a:xfrm>
      </p:grpSpPr>
      <p:sp>
        <p:nvSpPr>
          <p:cNvPr id="154" name="Google Shape;154;g32ed961eed3_0_0:notes">
            <a:extLst>
              <a:ext uri="{FF2B5EF4-FFF2-40B4-BE49-F238E27FC236}">
                <a16:creationId xmlns:a16="http://schemas.microsoft.com/office/drawing/2014/main" id="{6C26F772-01D5-6633-2FF8-BA3ED721B6A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2ed961eed3_0_0:notes">
            <a:extLst>
              <a:ext uri="{FF2B5EF4-FFF2-40B4-BE49-F238E27FC236}">
                <a16:creationId xmlns:a16="http://schemas.microsoft.com/office/drawing/2014/main" id="{CC266BAB-F6CD-371B-D2D5-8AB1F4BF69D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In your </a:t>
            </a:r>
            <a:r>
              <a:rPr lang="en-US" dirty="0" err="1"/>
              <a:t>get_damper</a:t>
            </a:r>
            <a:r>
              <a:rPr lang="en-US" dirty="0"/>
              <a:t>, the </a:t>
            </a:r>
            <a:r>
              <a:rPr lang="en-US" b="1" dirty="0"/>
              <a:t>only truly heavy operation</a:t>
            </a:r>
            <a:r>
              <a:rPr lang="en-US" dirty="0"/>
              <a:t> is </a:t>
            </a:r>
            <a:r>
              <a:rPr lang="en-US" dirty="0" err="1"/>
              <a:t>Uv</a:t>
            </a:r>
            <a:r>
              <a:rPr lang="en-US" dirty="0"/>
              <a:t> = M \ (</a:t>
            </a:r>
            <a:r>
              <a:rPr lang="el-GR" dirty="0"/>
              <a:t>λ₁ * </a:t>
            </a:r>
            <a:r>
              <a:rPr lang="en-US" dirty="0" err="1"/>
              <a:t>grad_N</a:t>
            </a:r>
            <a:r>
              <a:rPr lang="en-US" dirty="0"/>
              <a:t>).</a:t>
            </a:r>
          </a:p>
          <a:p>
            <a:r>
              <a:rPr lang="en-US" dirty="0"/>
              <a:t>Everything else (reshape, </a:t>
            </a:r>
            <a:r>
              <a:rPr lang="en-US" dirty="0" err="1"/>
              <a:t>matX</a:t>
            </a:r>
            <a:r>
              <a:rPr lang="en-US" dirty="0"/>
              <a:t>*vector, stresses) are just matrix–vector multiplies or elementwise operations, which MATLAB handles very quickly.</a:t>
            </a:r>
          </a:p>
          <a:p>
            <a:r>
              <a:rPr lang="en-US" dirty="0"/>
              <a:t>The profiler output you shared shows </a:t>
            </a:r>
            <a:r>
              <a:rPr lang="en-US" dirty="0" err="1"/>
              <a:t>get_damper</a:t>
            </a:r>
            <a:r>
              <a:rPr lang="en-US" dirty="0"/>
              <a:t> consuming ~286 s self‑time out of ~289 s total. That means almost all of its time is inside its own body, not in sub‑functions.</a:t>
            </a:r>
          </a:p>
          <a:p>
            <a:r>
              <a:rPr lang="en-US" dirty="0"/>
              <a:t>Given the code, the only candidate for that much cost is the repeated factorization/solve of M.</a:t>
            </a:r>
          </a:p>
        </p:txBody>
      </p:sp>
    </p:spTree>
    <p:extLst>
      <p:ext uri="{BB962C8B-B14F-4D97-AF65-F5344CB8AC3E}">
        <p14:creationId xmlns:p14="http://schemas.microsoft.com/office/powerpoint/2010/main" val="1134533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a:extLst>
            <a:ext uri="{FF2B5EF4-FFF2-40B4-BE49-F238E27FC236}">
              <a16:creationId xmlns:a16="http://schemas.microsoft.com/office/drawing/2014/main" id="{3FDEB565-9F66-6DB7-3EC3-EE1831EA1BC2}"/>
            </a:ext>
          </a:extLst>
        </p:cNvPr>
        <p:cNvGrpSpPr/>
        <p:nvPr/>
      </p:nvGrpSpPr>
      <p:grpSpPr>
        <a:xfrm>
          <a:off x="0" y="0"/>
          <a:ext cx="0" cy="0"/>
          <a:chOff x="0" y="0"/>
          <a:chExt cx="0" cy="0"/>
        </a:xfrm>
      </p:grpSpPr>
      <p:sp>
        <p:nvSpPr>
          <p:cNvPr id="154" name="Google Shape;154;g32ed961eed3_0_0:notes">
            <a:extLst>
              <a:ext uri="{FF2B5EF4-FFF2-40B4-BE49-F238E27FC236}">
                <a16:creationId xmlns:a16="http://schemas.microsoft.com/office/drawing/2014/main" id="{C80C15C0-A2D6-A62D-1566-E464ADEDFE9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2ed961eed3_0_0:notes">
            <a:extLst>
              <a:ext uri="{FF2B5EF4-FFF2-40B4-BE49-F238E27FC236}">
                <a16:creationId xmlns:a16="http://schemas.microsoft.com/office/drawing/2014/main" id="{E0EF8AD1-2999-A411-6C51-155F5204D6D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indent="-171450">
              <a:buFont typeface="Arial" panose="020B0604020202020204" pitchFamily="34" charset="0"/>
              <a:buChar char="•"/>
            </a:pPr>
            <a:r>
              <a:rPr lang="en-US" dirty="0"/>
              <a:t>Emphasize that </a:t>
            </a:r>
            <a:r>
              <a:rPr lang="en-US" b="1" dirty="0"/>
              <a:t>LU caching doesn’t change accuracy</a:t>
            </a:r>
            <a:r>
              <a:rPr lang="en-US" dirty="0"/>
              <a:t> (error stays ~4.5%), but it makes each subsampled solve ~3× faster.</a:t>
            </a:r>
          </a:p>
          <a:p>
            <a:pPr marL="171450" indent="-171450">
              <a:buFont typeface="Arial" panose="020B0604020202020204" pitchFamily="34" charset="0"/>
              <a:buChar char="•"/>
            </a:pPr>
            <a:r>
              <a:rPr lang="en-US" i="1" dirty="0"/>
              <a:t>ROM:</a:t>
            </a:r>
            <a:r>
              <a:rPr lang="en-US" dirty="0"/>
              <a:t> Lower error, but slower than optimized FOM.</a:t>
            </a:r>
          </a:p>
          <a:p>
            <a:endParaRPr lang="en-US" dirty="0"/>
          </a:p>
          <a:p>
            <a:endParaRPr lang="en-US" dirty="0"/>
          </a:p>
          <a:p>
            <a:r>
              <a:rPr lang="en-US" dirty="0"/>
              <a:t>The error is identical </a:t>
            </a:r>
            <a:r>
              <a:rPr lang="en-US" dirty="0" err="1"/>
              <a:t>bc</a:t>
            </a:r>
            <a:r>
              <a:rPr lang="en-US" dirty="0"/>
              <a:t>: </a:t>
            </a:r>
            <a:r>
              <a:rPr lang="en-US" b="1" dirty="0"/>
              <a:t>Same math, same inputs:</a:t>
            </a:r>
            <a:r>
              <a:rPr lang="en-US" dirty="0"/>
              <a:t> LU caching doesn’t change the linear system you solve. If MM and the right‑hand side are identical, the solution from a cached LU and a fresh solve are mathematically the same. You’re just reusing the factorization to avoid recomputing it.</a:t>
            </a:r>
          </a:p>
        </p:txBody>
      </p:sp>
    </p:spTree>
    <p:extLst>
      <p:ext uri="{BB962C8B-B14F-4D97-AF65-F5344CB8AC3E}">
        <p14:creationId xmlns:p14="http://schemas.microsoft.com/office/powerpoint/2010/main" val="10594716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B6C78C8A-4EE2-5E95-F2FC-1190CF7E660A}"/>
            </a:ext>
          </a:extLst>
        </p:cNvPr>
        <p:cNvGrpSpPr/>
        <p:nvPr/>
      </p:nvGrpSpPr>
      <p:grpSpPr>
        <a:xfrm>
          <a:off x="0" y="0"/>
          <a:ext cx="0" cy="0"/>
          <a:chOff x="0" y="0"/>
          <a:chExt cx="0" cy="0"/>
        </a:xfrm>
      </p:grpSpPr>
      <p:sp>
        <p:nvSpPr>
          <p:cNvPr id="160" name="Google Shape;160;g2f426c55b76_0_11:notes">
            <a:extLst>
              <a:ext uri="{FF2B5EF4-FFF2-40B4-BE49-F238E27FC236}">
                <a16:creationId xmlns:a16="http://schemas.microsoft.com/office/drawing/2014/main" id="{1D738595-B75F-EB6A-C4E2-D85AF11E73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2f426c55b76_0_11:notes">
            <a:extLst>
              <a:ext uri="{FF2B5EF4-FFF2-40B4-BE49-F238E27FC236}">
                <a16:creationId xmlns:a16="http://schemas.microsoft.com/office/drawing/2014/main" id="{5827D0FA-BB92-F09D-88AD-1E9F9820B6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85750" lvl="0" indent="-285750" algn="l" rtl="0">
              <a:spcBef>
                <a:spcPts val="600"/>
              </a:spcBef>
              <a:spcAft>
                <a:spcPts val="0"/>
              </a:spcAft>
              <a:buFont typeface="Arial" panose="020B0604020202020204" pitchFamily="34" charset="0"/>
              <a:buChar char="•"/>
            </a:pPr>
            <a:endParaRPr sz="1200" dirty="0">
              <a:solidFill>
                <a:schemeClr val="dk1"/>
              </a:solidFill>
              <a:latin typeface="Lato"/>
              <a:ea typeface="Lato"/>
              <a:cs typeface="Lato"/>
              <a:sym typeface="Lato"/>
            </a:endParaRPr>
          </a:p>
        </p:txBody>
      </p:sp>
    </p:spTree>
    <p:extLst>
      <p:ext uri="{BB962C8B-B14F-4D97-AF65-F5344CB8AC3E}">
        <p14:creationId xmlns:p14="http://schemas.microsoft.com/office/powerpoint/2010/main" val="3622921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AE0BE-B253-3BF3-5F13-9ED222FEE13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248D965-E770-F7AB-BB54-C29AA1439D0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078D355-7616-1595-0830-2DB73117F148}"/>
              </a:ext>
            </a:extLst>
          </p:cNvPr>
          <p:cNvSpPr>
            <a:spLocks noGrp="1"/>
          </p:cNvSpPr>
          <p:nvPr>
            <p:ph type="dt" sz="half" idx="10"/>
          </p:nvPr>
        </p:nvSpPr>
        <p:spPr/>
        <p:txBody>
          <a:bodyPr/>
          <a:lstStyle/>
          <a:p>
            <a:fld id="{8C26FFD5-A71D-DB40-821A-D09F45C1FEAB}" type="datetimeFigureOut">
              <a:rPr lang="en-US" smtClean="0"/>
              <a:t>11/28/25</a:t>
            </a:fld>
            <a:endParaRPr lang="en-US"/>
          </a:p>
        </p:txBody>
      </p:sp>
      <p:sp>
        <p:nvSpPr>
          <p:cNvPr id="5" name="Footer Placeholder 4">
            <a:extLst>
              <a:ext uri="{FF2B5EF4-FFF2-40B4-BE49-F238E27FC236}">
                <a16:creationId xmlns:a16="http://schemas.microsoft.com/office/drawing/2014/main" id="{63C907EF-06B4-6D9D-B30C-4B95A88F5C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79FC08-1CF2-3385-EDFF-C0B2B5813870}"/>
              </a:ext>
            </a:extLst>
          </p:cNvPr>
          <p:cNvSpPr>
            <a:spLocks noGrp="1"/>
          </p:cNvSpPr>
          <p:nvPr>
            <p:ph type="sldNum" sz="quarter" idx="12"/>
          </p:nvPr>
        </p:nvSpPr>
        <p:spPr/>
        <p:txBody>
          <a:bodyPr/>
          <a:lstStyle/>
          <a:p>
            <a:fld id="{387DAE10-1435-4041-A3AA-20D6593AA994}" type="slidenum">
              <a:rPr lang="en-US" smtClean="0"/>
              <a:t>‹#›</a:t>
            </a:fld>
            <a:endParaRPr lang="en-US"/>
          </a:p>
        </p:txBody>
      </p:sp>
    </p:spTree>
    <p:extLst>
      <p:ext uri="{BB962C8B-B14F-4D97-AF65-F5344CB8AC3E}">
        <p14:creationId xmlns:p14="http://schemas.microsoft.com/office/powerpoint/2010/main" val="3856941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B3F9F-00F5-E0BE-1793-AFB16AFF25D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16BC80C-B409-F23A-C24E-1C83589C6A5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6131D4-CA65-8C38-07DF-803C4EFF6F15}"/>
              </a:ext>
            </a:extLst>
          </p:cNvPr>
          <p:cNvSpPr>
            <a:spLocks noGrp="1"/>
          </p:cNvSpPr>
          <p:nvPr>
            <p:ph type="dt" sz="half" idx="10"/>
          </p:nvPr>
        </p:nvSpPr>
        <p:spPr/>
        <p:txBody>
          <a:bodyPr/>
          <a:lstStyle/>
          <a:p>
            <a:fld id="{8C26FFD5-A71D-DB40-821A-D09F45C1FEAB}" type="datetimeFigureOut">
              <a:rPr lang="en-US" smtClean="0"/>
              <a:t>11/28/25</a:t>
            </a:fld>
            <a:endParaRPr lang="en-US"/>
          </a:p>
        </p:txBody>
      </p:sp>
      <p:sp>
        <p:nvSpPr>
          <p:cNvPr id="5" name="Footer Placeholder 4">
            <a:extLst>
              <a:ext uri="{FF2B5EF4-FFF2-40B4-BE49-F238E27FC236}">
                <a16:creationId xmlns:a16="http://schemas.microsoft.com/office/drawing/2014/main" id="{C76AE1EB-F1B4-18AE-D92A-7CA9D77216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797F0D-8237-99AD-010D-590F0EB227B8}"/>
              </a:ext>
            </a:extLst>
          </p:cNvPr>
          <p:cNvSpPr>
            <a:spLocks noGrp="1"/>
          </p:cNvSpPr>
          <p:nvPr>
            <p:ph type="sldNum" sz="quarter" idx="12"/>
          </p:nvPr>
        </p:nvSpPr>
        <p:spPr/>
        <p:txBody>
          <a:bodyPr/>
          <a:lstStyle/>
          <a:p>
            <a:fld id="{387DAE10-1435-4041-A3AA-20D6593AA994}" type="slidenum">
              <a:rPr lang="en-US" smtClean="0"/>
              <a:t>‹#›</a:t>
            </a:fld>
            <a:endParaRPr lang="en-US"/>
          </a:p>
        </p:txBody>
      </p:sp>
    </p:spTree>
    <p:extLst>
      <p:ext uri="{BB962C8B-B14F-4D97-AF65-F5344CB8AC3E}">
        <p14:creationId xmlns:p14="http://schemas.microsoft.com/office/powerpoint/2010/main" val="5544924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E2C58-D2FB-8B03-3AAE-E2A49444B14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3A95E00-7B4F-D31D-1D50-8EFFF8EEB5B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EC0EC9D-A4DF-CEED-9498-DAD5A08928E5}"/>
              </a:ext>
            </a:extLst>
          </p:cNvPr>
          <p:cNvSpPr>
            <a:spLocks noGrp="1"/>
          </p:cNvSpPr>
          <p:nvPr>
            <p:ph type="dt" sz="half" idx="10"/>
          </p:nvPr>
        </p:nvSpPr>
        <p:spPr/>
        <p:txBody>
          <a:bodyPr/>
          <a:lstStyle/>
          <a:p>
            <a:fld id="{8C26FFD5-A71D-DB40-821A-D09F45C1FEAB}" type="datetimeFigureOut">
              <a:rPr lang="en-US" smtClean="0"/>
              <a:t>11/28/25</a:t>
            </a:fld>
            <a:endParaRPr lang="en-US"/>
          </a:p>
        </p:txBody>
      </p:sp>
      <p:sp>
        <p:nvSpPr>
          <p:cNvPr id="5" name="Footer Placeholder 4">
            <a:extLst>
              <a:ext uri="{FF2B5EF4-FFF2-40B4-BE49-F238E27FC236}">
                <a16:creationId xmlns:a16="http://schemas.microsoft.com/office/drawing/2014/main" id="{10E9CC1F-BF5D-C38C-C266-01598DEA2B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929481-2B8F-1E8A-65A2-BD1D08595A47}"/>
              </a:ext>
            </a:extLst>
          </p:cNvPr>
          <p:cNvSpPr>
            <a:spLocks noGrp="1"/>
          </p:cNvSpPr>
          <p:nvPr>
            <p:ph type="sldNum" sz="quarter" idx="12"/>
          </p:nvPr>
        </p:nvSpPr>
        <p:spPr/>
        <p:txBody>
          <a:bodyPr/>
          <a:lstStyle/>
          <a:p>
            <a:fld id="{387DAE10-1435-4041-A3AA-20D6593AA994}" type="slidenum">
              <a:rPr lang="en-US" smtClean="0"/>
              <a:t>‹#›</a:t>
            </a:fld>
            <a:endParaRPr lang="en-US"/>
          </a:p>
        </p:txBody>
      </p:sp>
    </p:spTree>
    <p:extLst>
      <p:ext uri="{BB962C8B-B14F-4D97-AF65-F5344CB8AC3E}">
        <p14:creationId xmlns:p14="http://schemas.microsoft.com/office/powerpoint/2010/main" val="22021028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2D4C2-51EC-2151-CF2F-9BE7B2DA5B8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AD23980-08E7-979F-BCB7-9B1168F0065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D5DB588-B1F3-C5E0-8ADD-D426709C493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92D14E9-2FCD-C175-F649-04474AC4BD6C}"/>
              </a:ext>
            </a:extLst>
          </p:cNvPr>
          <p:cNvSpPr>
            <a:spLocks noGrp="1"/>
          </p:cNvSpPr>
          <p:nvPr>
            <p:ph type="dt" sz="half" idx="10"/>
          </p:nvPr>
        </p:nvSpPr>
        <p:spPr/>
        <p:txBody>
          <a:bodyPr/>
          <a:lstStyle/>
          <a:p>
            <a:fld id="{8C26FFD5-A71D-DB40-821A-D09F45C1FEAB}" type="datetimeFigureOut">
              <a:rPr lang="en-US" smtClean="0"/>
              <a:t>11/28/25</a:t>
            </a:fld>
            <a:endParaRPr lang="en-US"/>
          </a:p>
        </p:txBody>
      </p:sp>
      <p:sp>
        <p:nvSpPr>
          <p:cNvPr id="6" name="Footer Placeholder 5">
            <a:extLst>
              <a:ext uri="{FF2B5EF4-FFF2-40B4-BE49-F238E27FC236}">
                <a16:creationId xmlns:a16="http://schemas.microsoft.com/office/drawing/2014/main" id="{8EF2866D-2C2D-1E2E-B1A2-0A0DEAEC431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6266AD-1762-CD02-680D-883B85C5336F}"/>
              </a:ext>
            </a:extLst>
          </p:cNvPr>
          <p:cNvSpPr>
            <a:spLocks noGrp="1"/>
          </p:cNvSpPr>
          <p:nvPr>
            <p:ph type="sldNum" sz="quarter" idx="12"/>
          </p:nvPr>
        </p:nvSpPr>
        <p:spPr/>
        <p:txBody>
          <a:bodyPr/>
          <a:lstStyle/>
          <a:p>
            <a:fld id="{387DAE10-1435-4041-A3AA-20D6593AA994}" type="slidenum">
              <a:rPr lang="en-US" smtClean="0"/>
              <a:t>‹#›</a:t>
            </a:fld>
            <a:endParaRPr lang="en-US"/>
          </a:p>
        </p:txBody>
      </p:sp>
    </p:spTree>
    <p:extLst>
      <p:ext uri="{BB962C8B-B14F-4D97-AF65-F5344CB8AC3E}">
        <p14:creationId xmlns:p14="http://schemas.microsoft.com/office/powerpoint/2010/main" val="23081028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CB8D8-1A4A-DE72-7A34-35DFF159EF5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DFCA3ED-EDE4-C5DD-83B2-A116099693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0811683-343B-BACC-CDEC-F1993818734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BD98B00-60C4-D255-4B0E-D44BE46ACC4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189EC37-C674-F0A3-943B-F412AE90D62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E770C02-6B33-53A8-9021-AFE76F68E9EA}"/>
              </a:ext>
            </a:extLst>
          </p:cNvPr>
          <p:cNvSpPr>
            <a:spLocks noGrp="1"/>
          </p:cNvSpPr>
          <p:nvPr>
            <p:ph type="dt" sz="half" idx="10"/>
          </p:nvPr>
        </p:nvSpPr>
        <p:spPr/>
        <p:txBody>
          <a:bodyPr/>
          <a:lstStyle/>
          <a:p>
            <a:fld id="{8C26FFD5-A71D-DB40-821A-D09F45C1FEAB}" type="datetimeFigureOut">
              <a:rPr lang="en-US" smtClean="0"/>
              <a:t>11/28/25</a:t>
            </a:fld>
            <a:endParaRPr lang="en-US"/>
          </a:p>
        </p:txBody>
      </p:sp>
      <p:sp>
        <p:nvSpPr>
          <p:cNvPr id="8" name="Footer Placeholder 7">
            <a:extLst>
              <a:ext uri="{FF2B5EF4-FFF2-40B4-BE49-F238E27FC236}">
                <a16:creationId xmlns:a16="http://schemas.microsoft.com/office/drawing/2014/main" id="{70681652-C2D5-C9C0-60A2-7C880988564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8558997-2E24-0A1D-C45D-C721D1ECB152}"/>
              </a:ext>
            </a:extLst>
          </p:cNvPr>
          <p:cNvSpPr>
            <a:spLocks noGrp="1"/>
          </p:cNvSpPr>
          <p:nvPr>
            <p:ph type="sldNum" sz="quarter" idx="12"/>
          </p:nvPr>
        </p:nvSpPr>
        <p:spPr/>
        <p:txBody>
          <a:bodyPr/>
          <a:lstStyle/>
          <a:p>
            <a:fld id="{387DAE10-1435-4041-A3AA-20D6593AA994}" type="slidenum">
              <a:rPr lang="en-US" smtClean="0"/>
              <a:t>‹#›</a:t>
            </a:fld>
            <a:endParaRPr lang="en-US"/>
          </a:p>
        </p:txBody>
      </p:sp>
    </p:spTree>
    <p:extLst>
      <p:ext uri="{BB962C8B-B14F-4D97-AF65-F5344CB8AC3E}">
        <p14:creationId xmlns:p14="http://schemas.microsoft.com/office/powerpoint/2010/main" val="38314402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09BB7-9163-B151-A1B4-86FB9BD8B1E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D085EED-DAB7-32C6-00FC-D5A37E5AE483}"/>
              </a:ext>
            </a:extLst>
          </p:cNvPr>
          <p:cNvSpPr>
            <a:spLocks noGrp="1"/>
          </p:cNvSpPr>
          <p:nvPr>
            <p:ph type="dt" sz="half" idx="10"/>
          </p:nvPr>
        </p:nvSpPr>
        <p:spPr/>
        <p:txBody>
          <a:bodyPr/>
          <a:lstStyle/>
          <a:p>
            <a:fld id="{8C26FFD5-A71D-DB40-821A-D09F45C1FEAB}" type="datetimeFigureOut">
              <a:rPr lang="en-US" smtClean="0"/>
              <a:t>11/28/25</a:t>
            </a:fld>
            <a:endParaRPr lang="en-US"/>
          </a:p>
        </p:txBody>
      </p:sp>
      <p:sp>
        <p:nvSpPr>
          <p:cNvPr id="4" name="Footer Placeholder 3">
            <a:extLst>
              <a:ext uri="{FF2B5EF4-FFF2-40B4-BE49-F238E27FC236}">
                <a16:creationId xmlns:a16="http://schemas.microsoft.com/office/drawing/2014/main" id="{8AF4B928-1D3F-3B07-5F57-F10DCB05BE6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088E9B8-951A-6EFD-08DC-360E8FA5E11B}"/>
              </a:ext>
            </a:extLst>
          </p:cNvPr>
          <p:cNvSpPr>
            <a:spLocks noGrp="1"/>
          </p:cNvSpPr>
          <p:nvPr>
            <p:ph type="sldNum" sz="quarter" idx="12"/>
          </p:nvPr>
        </p:nvSpPr>
        <p:spPr/>
        <p:txBody>
          <a:bodyPr/>
          <a:lstStyle/>
          <a:p>
            <a:fld id="{387DAE10-1435-4041-A3AA-20D6593AA994}" type="slidenum">
              <a:rPr lang="en-US" smtClean="0"/>
              <a:t>‹#›</a:t>
            </a:fld>
            <a:endParaRPr lang="en-US"/>
          </a:p>
        </p:txBody>
      </p:sp>
    </p:spTree>
    <p:extLst>
      <p:ext uri="{BB962C8B-B14F-4D97-AF65-F5344CB8AC3E}">
        <p14:creationId xmlns:p14="http://schemas.microsoft.com/office/powerpoint/2010/main" val="21622033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EFEDCB0-E5F8-EDB1-F21E-EC041A0E4EA5}"/>
              </a:ext>
            </a:extLst>
          </p:cNvPr>
          <p:cNvSpPr>
            <a:spLocks noGrp="1"/>
          </p:cNvSpPr>
          <p:nvPr>
            <p:ph type="dt" sz="half" idx="10"/>
          </p:nvPr>
        </p:nvSpPr>
        <p:spPr/>
        <p:txBody>
          <a:bodyPr/>
          <a:lstStyle/>
          <a:p>
            <a:fld id="{8C26FFD5-A71D-DB40-821A-D09F45C1FEAB}" type="datetimeFigureOut">
              <a:rPr lang="en-US" smtClean="0"/>
              <a:t>11/28/25</a:t>
            </a:fld>
            <a:endParaRPr lang="en-US"/>
          </a:p>
        </p:txBody>
      </p:sp>
      <p:sp>
        <p:nvSpPr>
          <p:cNvPr id="3" name="Footer Placeholder 2">
            <a:extLst>
              <a:ext uri="{FF2B5EF4-FFF2-40B4-BE49-F238E27FC236}">
                <a16:creationId xmlns:a16="http://schemas.microsoft.com/office/drawing/2014/main" id="{9E7C31B9-6995-E979-D62C-D149C01ABEE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21818A8-65DD-FF98-AAA9-F541B760E02C}"/>
              </a:ext>
            </a:extLst>
          </p:cNvPr>
          <p:cNvSpPr>
            <a:spLocks noGrp="1"/>
          </p:cNvSpPr>
          <p:nvPr>
            <p:ph type="sldNum" sz="quarter" idx="12"/>
          </p:nvPr>
        </p:nvSpPr>
        <p:spPr/>
        <p:txBody>
          <a:bodyPr/>
          <a:lstStyle/>
          <a:p>
            <a:fld id="{387DAE10-1435-4041-A3AA-20D6593AA994}" type="slidenum">
              <a:rPr lang="en-US" smtClean="0"/>
              <a:t>‹#›</a:t>
            </a:fld>
            <a:endParaRPr lang="en-US"/>
          </a:p>
        </p:txBody>
      </p:sp>
    </p:spTree>
    <p:extLst>
      <p:ext uri="{BB962C8B-B14F-4D97-AF65-F5344CB8AC3E}">
        <p14:creationId xmlns:p14="http://schemas.microsoft.com/office/powerpoint/2010/main" val="20047489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E244C-6FC3-C568-E2FA-79857B4E7C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F4B6D6D-5F1F-0A72-53A4-E99B6465BE2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98B8F8F-2E96-91AB-6CEF-DBC40103F6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484061-DEC7-5F3F-7C36-EA994578FFD2}"/>
              </a:ext>
            </a:extLst>
          </p:cNvPr>
          <p:cNvSpPr>
            <a:spLocks noGrp="1"/>
          </p:cNvSpPr>
          <p:nvPr>
            <p:ph type="dt" sz="half" idx="10"/>
          </p:nvPr>
        </p:nvSpPr>
        <p:spPr/>
        <p:txBody>
          <a:bodyPr/>
          <a:lstStyle/>
          <a:p>
            <a:fld id="{8C26FFD5-A71D-DB40-821A-D09F45C1FEAB}" type="datetimeFigureOut">
              <a:rPr lang="en-US" smtClean="0"/>
              <a:t>11/28/25</a:t>
            </a:fld>
            <a:endParaRPr lang="en-US"/>
          </a:p>
        </p:txBody>
      </p:sp>
      <p:sp>
        <p:nvSpPr>
          <p:cNvPr id="6" name="Footer Placeholder 5">
            <a:extLst>
              <a:ext uri="{FF2B5EF4-FFF2-40B4-BE49-F238E27FC236}">
                <a16:creationId xmlns:a16="http://schemas.microsoft.com/office/drawing/2014/main" id="{20D20B7D-F9D1-76FD-42BA-16D71D2866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BB4D27-90FD-A57E-D193-1293767C8C56}"/>
              </a:ext>
            </a:extLst>
          </p:cNvPr>
          <p:cNvSpPr>
            <a:spLocks noGrp="1"/>
          </p:cNvSpPr>
          <p:nvPr>
            <p:ph type="sldNum" sz="quarter" idx="12"/>
          </p:nvPr>
        </p:nvSpPr>
        <p:spPr/>
        <p:txBody>
          <a:bodyPr/>
          <a:lstStyle/>
          <a:p>
            <a:fld id="{387DAE10-1435-4041-A3AA-20D6593AA994}" type="slidenum">
              <a:rPr lang="en-US" smtClean="0"/>
              <a:t>‹#›</a:t>
            </a:fld>
            <a:endParaRPr lang="en-US"/>
          </a:p>
        </p:txBody>
      </p:sp>
    </p:spTree>
    <p:extLst>
      <p:ext uri="{BB962C8B-B14F-4D97-AF65-F5344CB8AC3E}">
        <p14:creationId xmlns:p14="http://schemas.microsoft.com/office/powerpoint/2010/main" val="38565682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88161-0D76-F86D-5804-7D93386669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6A20576-A862-9817-E642-6108BD31BF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3C537A55-791C-F730-E744-6E62BCC1D9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EE8D24-8500-6AEA-8209-033D2C0CDCB8}"/>
              </a:ext>
            </a:extLst>
          </p:cNvPr>
          <p:cNvSpPr>
            <a:spLocks noGrp="1"/>
          </p:cNvSpPr>
          <p:nvPr>
            <p:ph type="dt" sz="half" idx="10"/>
          </p:nvPr>
        </p:nvSpPr>
        <p:spPr/>
        <p:txBody>
          <a:bodyPr/>
          <a:lstStyle/>
          <a:p>
            <a:fld id="{8C26FFD5-A71D-DB40-821A-D09F45C1FEAB}" type="datetimeFigureOut">
              <a:rPr lang="en-US" smtClean="0"/>
              <a:t>11/28/25</a:t>
            </a:fld>
            <a:endParaRPr lang="en-US"/>
          </a:p>
        </p:txBody>
      </p:sp>
      <p:sp>
        <p:nvSpPr>
          <p:cNvPr id="6" name="Footer Placeholder 5">
            <a:extLst>
              <a:ext uri="{FF2B5EF4-FFF2-40B4-BE49-F238E27FC236}">
                <a16:creationId xmlns:a16="http://schemas.microsoft.com/office/drawing/2014/main" id="{1239251F-B522-3166-B424-11FF62FE5C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A23493-D4C6-CA62-C66C-B1C7CA07655F}"/>
              </a:ext>
            </a:extLst>
          </p:cNvPr>
          <p:cNvSpPr>
            <a:spLocks noGrp="1"/>
          </p:cNvSpPr>
          <p:nvPr>
            <p:ph type="sldNum" sz="quarter" idx="12"/>
          </p:nvPr>
        </p:nvSpPr>
        <p:spPr/>
        <p:txBody>
          <a:bodyPr/>
          <a:lstStyle/>
          <a:p>
            <a:fld id="{387DAE10-1435-4041-A3AA-20D6593AA994}" type="slidenum">
              <a:rPr lang="en-US" smtClean="0"/>
              <a:t>‹#›</a:t>
            </a:fld>
            <a:endParaRPr lang="en-US"/>
          </a:p>
        </p:txBody>
      </p:sp>
    </p:spTree>
    <p:extLst>
      <p:ext uri="{BB962C8B-B14F-4D97-AF65-F5344CB8AC3E}">
        <p14:creationId xmlns:p14="http://schemas.microsoft.com/office/powerpoint/2010/main" val="30760236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9667F-1B22-DF6C-9188-10CFE81B279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77DCB7-7275-2E01-D409-E58EA722623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22F1A1-17CD-A96B-DF20-D18E7683E169}"/>
              </a:ext>
            </a:extLst>
          </p:cNvPr>
          <p:cNvSpPr>
            <a:spLocks noGrp="1"/>
          </p:cNvSpPr>
          <p:nvPr>
            <p:ph type="dt" sz="half" idx="10"/>
          </p:nvPr>
        </p:nvSpPr>
        <p:spPr/>
        <p:txBody>
          <a:bodyPr/>
          <a:lstStyle/>
          <a:p>
            <a:fld id="{8C26FFD5-A71D-DB40-821A-D09F45C1FEAB}" type="datetimeFigureOut">
              <a:rPr lang="en-US" smtClean="0"/>
              <a:t>11/28/25</a:t>
            </a:fld>
            <a:endParaRPr lang="en-US"/>
          </a:p>
        </p:txBody>
      </p:sp>
      <p:sp>
        <p:nvSpPr>
          <p:cNvPr id="5" name="Footer Placeholder 4">
            <a:extLst>
              <a:ext uri="{FF2B5EF4-FFF2-40B4-BE49-F238E27FC236}">
                <a16:creationId xmlns:a16="http://schemas.microsoft.com/office/drawing/2014/main" id="{B91F09AB-CFEE-2420-312E-B425B35C3E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B5C4CA-C0A0-7948-DC31-FB2AD6A1D7A1}"/>
              </a:ext>
            </a:extLst>
          </p:cNvPr>
          <p:cNvSpPr>
            <a:spLocks noGrp="1"/>
          </p:cNvSpPr>
          <p:nvPr>
            <p:ph type="sldNum" sz="quarter" idx="12"/>
          </p:nvPr>
        </p:nvSpPr>
        <p:spPr/>
        <p:txBody>
          <a:bodyPr/>
          <a:lstStyle/>
          <a:p>
            <a:fld id="{387DAE10-1435-4041-A3AA-20D6593AA994}" type="slidenum">
              <a:rPr lang="en-US" smtClean="0"/>
              <a:t>‹#›</a:t>
            </a:fld>
            <a:endParaRPr lang="en-US"/>
          </a:p>
        </p:txBody>
      </p:sp>
    </p:spTree>
    <p:extLst>
      <p:ext uri="{BB962C8B-B14F-4D97-AF65-F5344CB8AC3E}">
        <p14:creationId xmlns:p14="http://schemas.microsoft.com/office/powerpoint/2010/main" val="1997924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8DB521E-C922-C078-5519-B969475B065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1385CBA-0C67-F91F-6269-3296A104F25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11463B-6D84-746E-572D-55335EE2C0D9}"/>
              </a:ext>
            </a:extLst>
          </p:cNvPr>
          <p:cNvSpPr>
            <a:spLocks noGrp="1"/>
          </p:cNvSpPr>
          <p:nvPr>
            <p:ph type="dt" sz="half" idx="10"/>
          </p:nvPr>
        </p:nvSpPr>
        <p:spPr/>
        <p:txBody>
          <a:bodyPr/>
          <a:lstStyle/>
          <a:p>
            <a:fld id="{8C26FFD5-A71D-DB40-821A-D09F45C1FEAB}" type="datetimeFigureOut">
              <a:rPr lang="en-US" smtClean="0"/>
              <a:t>11/28/25</a:t>
            </a:fld>
            <a:endParaRPr lang="en-US"/>
          </a:p>
        </p:txBody>
      </p:sp>
      <p:sp>
        <p:nvSpPr>
          <p:cNvPr id="5" name="Footer Placeholder 4">
            <a:extLst>
              <a:ext uri="{FF2B5EF4-FFF2-40B4-BE49-F238E27FC236}">
                <a16:creationId xmlns:a16="http://schemas.microsoft.com/office/drawing/2014/main" id="{FF5DDFEC-4587-DE32-C35E-DBB3BAE752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BE150E-7143-8897-C9A3-8F2A2A34B147}"/>
              </a:ext>
            </a:extLst>
          </p:cNvPr>
          <p:cNvSpPr>
            <a:spLocks noGrp="1"/>
          </p:cNvSpPr>
          <p:nvPr>
            <p:ph type="sldNum" sz="quarter" idx="12"/>
          </p:nvPr>
        </p:nvSpPr>
        <p:spPr/>
        <p:txBody>
          <a:bodyPr/>
          <a:lstStyle/>
          <a:p>
            <a:fld id="{387DAE10-1435-4041-A3AA-20D6593AA994}" type="slidenum">
              <a:rPr lang="en-US" smtClean="0"/>
              <a:t>‹#›</a:t>
            </a:fld>
            <a:endParaRPr lang="en-US"/>
          </a:p>
        </p:txBody>
      </p:sp>
    </p:spTree>
    <p:extLst>
      <p:ext uri="{BB962C8B-B14F-4D97-AF65-F5344CB8AC3E}">
        <p14:creationId xmlns:p14="http://schemas.microsoft.com/office/powerpoint/2010/main" val="19037576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860300" y="3683633"/>
            <a:ext cx="8982000" cy="15464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4400"/>
              <a:buNone/>
              <a:defRPr sz="5867">
                <a:solidFill>
                  <a:schemeClr val="dk2"/>
                </a:solidFill>
              </a:defRPr>
            </a:lvl1pPr>
            <a:lvl2pPr lvl="1" rtl="0">
              <a:spcBef>
                <a:spcPts val="0"/>
              </a:spcBef>
              <a:spcAft>
                <a:spcPts val="0"/>
              </a:spcAft>
              <a:buClr>
                <a:schemeClr val="dk2"/>
              </a:buClr>
              <a:buSzPts val="4400"/>
              <a:buNone/>
              <a:defRPr sz="5867">
                <a:solidFill>
                  <a:schemeClr val="dk2"/>
                </a:solidFill>
              </a:defRPr>
            </a:lvl2pPr>
            <a:lvl3pPr lvl="2" rtl="0">
              <a:spcBef>
                <a:spcPts val="0"/>
              </a:spcBef>
              <a:spcAft>
                <a:spcPts val="0"/>
              </a:spcAft>
              <a:buClr>
                <a:schemeClr val="dk2"/>
              </a:buClr>
              <a:buSzPts val="4400"/>
              <a:buNone/>
              <a:defRPr sz="5867">
                <a:solidFill>
                  <a:schemeClr val="dk2"/>
                </a:solidFill>
              </a:defRPr>
            </a:lvl3pPr>
            <a:lvl4pPr lvl="3" rtl="0">
              <a:spcBef>
                <a:spcPts val="0"/>
              </a:spcBef>
              <a:spcAft>
                <a:spcPts val="0"/>
              </a:spcAft>
              <a:buClr>
                <a:schemeClr val="dk2"/>
              </a:buClr>
              <a:buSzPts val="4400"/>
              <a:buNone/>
              <a:defRPr sz="5867">
                <a:solidFill>
                  <a:schemeClr val="dk2"/>
                </a:solidFill>
              </a:defRPr>
            </a:lvl4pPr>
            <a:lvl5pPr lvl="4" rtl="0">
              <a:spcBef>
                <a:spcPts val="0"/>
              </a:spcBef>
              <a:spcAft>
                <a:spcPts val="0"/>
              </a:spcAft>
              <a:buClr>
                <a:schemeClr val="dk2"/>
              </a:buClr>
              <a:buSzPts val="4400"/>
              <a:buNone/>
              <a:defRPr sz="5867">
                <a:solidFill>
                  <a:schemeClr val="dk2"/>
                </a:solidFill>
              </a:defRPr>
            </a:lvl5pPr>
            <a:lvl6pPr lvl="5" rtl="0">
              <a:spcBef>
                <a:spcPts val="0"/>
              </a:spcBef>
              <a:spcAft>
                <a:spcPts val="0"/>
              </a:spcAft>
              <a:buClr>
                <a:schemeClr val="dk2"/>
              </a:buClr>
              <a:buSzPts val="4400"/>
              <a:buNone/>
              <a:defRPr sz="5867">
                <a:solidFill>
                  <a:schemeClr val="dk2"/>
                </a:solidFill>
              </a:defRPr>
            </a:lvl6pPr>
            <a:lvl7pPr lvl="6" rtl="0">
              <a:spcBef>
                <a:spcPts val="0"/>
              </a:spcBef>
              <a:spcAft>
                <a:spcPts val="0"/>
              </a:spcAft>
              <a:buClr>
                <a:schemeClr val="dk2"/>
              </a:buClr>
              <a:buSzPts val="4400"/>
              <a:buNone/>
              <a:defRPr sz="5867">
                <a:solidFill>
                  <a:schemeClr val="dk2"/>
                </a:solidFill>
              </a:defRPr>
            </a:lvl7pPr>
            <a:lvl8pPr lvl="7" rtl="0">
              <a:spcBef>
                <a:spcPts val="0"/>
              </a:spcBef>
              <a:spcAft>
                <a:spcPts val="0"/>
              </a:spcAft>
              <a:buClr>
                <a:schemeClr val="dk2"/>
              </a:buClr>
              <a:buSzPts val="4400"/>
              <a:buNone/>
              <a:defRPr sz="5867">
                <a:solidFill>
                  <a:schemeClr val="dk2"/>
                </a:solidFill>
              </a:defRPr>
            </a:lvl8pPr>
            <a:lvl9pPr lvl="8" rtl="0">
              <a:spcBef>
                <a:spcPts val="0"/>
              </a:spcBef>
              <a:spcAft>
                <a:spcPts val="0"/>
              </a:spcAft>
              <a:buClr>
                <a:schemeClr val="dk2"/>
              </a:buClr>
              <a:buSzPts val="4400"/>
              <a:buNone/>
              <a:defRPr sz="5867">
                <a:solidFill>
                  <a:schemeClr val="dk2"/>
                </a:solidFill>
              </a:defRPr>
            </a:lvl9pPr>
          </a:lstStyle>
          <a:p>
            <a:endParaRPr/>
          </a:p>
        </p:txBody>
      </p:sp>
      <p:sp>
        <p:nvSpPr>
          <p:cNvPr id="56" name="Google Shape;56;p14"/>
          <p:cNvSpPr/>
          <p:nvPr/>
        </p:nvSpPr>
        <p:spPr>
          <a:xfrm>
            <a:off x="7917661" y="3377551"/>
            <a:ext cx="962400" cy="1028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7" name="Google Shape;57;p14"/>
          <p:cNvSpPr/>
          <p:nvPr/>
        </p:nvSpPr>
        <p:spPr>
          <a:xfrm>
            <a:off x="8879815" y="3377551"/>
            <a:ext cx="962400" cy="102800"/>
          </a:xfrm>
          <a:prstGeom prst="rect">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8" name="Google Shape;58;p14"/>
          <p:cNvSpPr/>
          <p:nvPr/>
        </p:nvSpPr>
        <p:spPr>
          <a:xfrm>
            <a:off x="-1" y="3377551"/>
            <a:ext cx="962400" cy="102800"/>
          </a:xfrm>
          <a:prstGeom prst="rect">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9" name="Google Shape;59;p14"/>
          <p:cNvSpPr/>
          <p:nvPr/>
        </p:nvSpPr>
        <p:spPr>
          <a:xfrm>
            <a:off x="961900" y="3377551"/>
            <a:ext cx="6955600" cy="102800"/>
          </a:xfrm>
          <a:prstGeom prst="rect">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33612795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ubtitle">
  <p:cSld name="Subtitle">
    <p:spTree>
      <p:nvGrpSpPr>
        <p:cNvPr id="1" name="Shape 60"/>
        <p:cNvGrpSpPr/>
        <p:nvPr/>
      </p:nvGrpSpPr>
      <p:grpSpPr>
        <a:xfrm>
          <a:off x="0" y="0"/>
          <a:ext cx="0" cy="0"/>
          <a:chOff x="0" y="0"/>
          <a:chExt cx="0" cy="0"/>
        </a:xfrm>
      </p:grpSpPr>
      <p:sp>
        <p:nvSpPr>
          <p:cNvPr id="61" name="Google Shape;61;p15"/>
          <p:cNvSpPr/>
          <p:nvPr/>
        </p:nvSpPr>
        <p:spPr>
          <a:xfrm>
            <a:off x="0" y="0"/>
            <a:ext cx="12192000" cy="5324000"/>
          </a:xfrm>
          <a:prstGeom prst="rect">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2" name="Google Shape;62;p15"/>
          <p:cNvSpPr txBox="1">
            <a:spLocks noGrp="1"/>
          </p:cNvSpPr>
          <p:nvPr>
            <p:ph type="ctrTitle"/>
          </p:nvPr>
        </p:nvSpPr>
        <p:spPr>
          <a:xfrm>
            <a:off x="914400" y="2111123"/>
            <a:ext cx="10363200" cy="15464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4800"/>
              <a:buNone/>
              <a:defRPr sz="6400">
                <a:solidFill>
                  <a:schemeClr val="lt1"/>
                </a:solidFill>
              </a:defRPr>
            </a:lvl1pPr>
            <a:lvl2pPr lvl="1" algn="ctr" rtl="0">
              <a:spcBef>
                <a:spcPts val="0"/>
              </a:spcBef>
              <a:spcAft>
                <a:spcPts val="0"/>
              </a:spcAft>
              <a:buClr>
                <a:schemeClr val="lt1"/>
              </a:buClr>
              <a:buSzPts val="4800"/>
              <a:buNone/>
              <a:defRPr sz="6400">
                <a:solidFill>
                  <a:schemeClr val="lt1"/>
                </a:solidFill>
              </a:defRPr>
            </a:lvl2pPr>
            <a:lvl3pPr lvl="2" algn="ctr" rtl="0">
              <a:spcBef>
                <a:spcPts val="0"/>
              </a:spcBef>
              <a:spcAft>
                <a:spcPts val="0"/>
              </a:spcAft>
              <a:buClr>
                <a:schemeClr val="lt1"/>
              </a:buClr>
              <a:buSzPts val="4800"/>
              <a:buNone/>
              <a:defRPr sz="6400">
                <a:solidFill>
                  <a:schemeClr val="lt1"/>
                </a:solidFill>
              </a:defRPr>
            </a:lvl3pPr>
            <a:lvl4pPr lvl="3" algn="ctr" rtl="0">
              <a:spcBef>
                <a:spcPts val="0"/>
              </a:spcBef>
              <a:spcAft>
                <a:spcPts val="0"/>
              </a:spcAft>
              <a:buClr>
                <a:schemeClr val="lt1"/>
              </a:buClr>
              <a:buSzPts val="4800"/>
              <a:buNone/>
              <a:defRPr sz="6400">
                <a:solidFill>
                  <a:schemeClr val="lt1"/>
                </a:solidFill>
              </a:defRPr>
            </a:lvl4pPr>
            <a:lvl5pPr lvl="4" algn="ctr" rtl="0">
              <a:spcBef>
                <a:spcPts val="0"/>
              </a:spcBef>
              <a:spcAft>
                <a:spcPts val="0"/>
              </a:spcAft>
              <a:buClr>
                <a:schemeClr val="lt1"/>
              </a:buClr>
              <a:buSzPts val="4800"/>
              <a:buNone/>
              <a:defRPr sz="6400">
                <a:solidFill>
                  <a:schemeClr val="lt1"/>
                </a:solidFill>
              </a:defRPr>
            </a:lvl5pPr>
            <a:lvl6pPr lvl="5" algn="ctr" rtl="0">
              <a:spcBef>
                <a:spcPts val="0"/>
              </a:spcBef>
              <a:spcAft>
                <a:spcPts val="0"/>
              </a:spcAft>
              <a:buClr>
                <a:schemeClr val="lt1"/>
              </a:buClr>
              <a:buSzPts val="4800"/>
              <a:buNone/>
              <a:defRPr sz="6400">
                <a:solidFill>
                  <a:schemeClr val="lt1"/>
                </a:solidFill>
              </a:defRPr>
            </a:lvl6pPr>
            <a:lvl7pPr lvl="6" algn="ctr" rtl="0">
              <a:spcBef>
                <a:spcPts val="0"/>
              </a:spcBef>
              <a:spcAft>
                <a:spcPts val="0"/>
              </a:spcAft>
              <a:buClr>
                <a:schemeClr val="lt1"/>
              </a:buClr>
              <a:buSzPts val="4800"/>
              <a:buNone/>
              <a:defRPr sz="6400">
                <a:solidFill>
                  <a:schemeClr val="lt1"/>
                </a:solidFill>
              </a:defRPr>
            </a:lvl7pPr>
            <a:lvl8pPr lvl="7" algn="ctr" rtl="0">
              <a:spcBef>
                <a:spcPts val="0"/>
              </a:spcBef>
              <a:spcAft>
                <a:spcPts val="0"/>
              </a:spcAft>
              <a:buClr>
                <a:schemeClr val="lt1"/>
              </a:buClr>
              <a:buSzPts val="4800"/>
              <a:buNone/>
              <a:defRPr sz="6400">
                <a:solidFill>
                  <a:schemeClr val="lt1"/>
                </a:solidFill>
              </a:defRPr>
            </a:lvl8pPr>
            <a:lvl9pPr lvl="8" algn="ctr" rtl="0">
              <a:spcBef>
                <a:spcPts val="0"/>
              </a:spcBef>
              <a:spcAft>
                <a:spcPts val="0"/>
              </a:spcAft>
              <a:buClr>
                <a:schemeClr val="lt1"/>
              </a:buClr>
              <a:buSzPts val="4800"/>
              <a:buNone/>
              <a:defRPr sz="6400">
                <a:solidFill>
                  <a:schemeClr val="lt1"/>
                </a:solidFill>
              </a:defRPr>
            </a:lvl9pPr>
          </a:lstStyle>
          <a:p>
            <a:endParaRPr/>
          </a:p>
        </p:txBody>
      </p:sp>
      <p:sp>
        <p:nvSpPr>
          <p:cNvPr id="63" name="Google Shape;63;p15"/>
          <p:cNvSpPr txBox="1">
            <a:spLocks noGrp="1"/>
          </p:cNvSpPr>
          <p:nvPr>
            <p:ph type="subTitle" idx="1"/>
          </p:nvPr>
        </p:nvSpPr>
        <p:spPr>
          <a:xfrm>
            <a:off x="914400" y="3786737"/>
            <a:ext cx="10363200" cy="10464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2400"/>
              <a:buNone/>
              <a:defRPr sz="3200" b="1">
                <a:solidFill>
                  <a:schemeClr val="lt1"/>
                </a:solidFill>
              </a:defRPr>
            </a:lvl1pPr>
            <a:lvl2pPr lvl="1" algn="ctr" rtl="0">
              <a:spcBef>
                <a:spcPts val="0"/>
              </a:spcBef>
              <a:spcAft>
                <a:spcPts val="0"/>
              </a:spcAft>
              <a:buClr>
                <a:schemeClr val="lt1"/>
              </a:buClr>
              <a:buSzPts val="2400"/>
              <a:buNone/>
              <a:defRPr b="1">
                <a:solidFill>
                  <a:schemeClr val="lt1"/>
                </a:solidFill>
              </a:defRPr>
            </a:lvl2pPr>
            <a:lvl3pPr lvl="2" algn="ctr" rtl="0">
              <a:spcBef>
                <a:spcPts val="0"/>
              </a:spcBef>
              <a:spcAft>
                <a:spcPts val="0"/>
              </a:spcAft>
              <a:buClr>
                <a:schemeClr val="lt1"/>
              </a:buClr>
              <a:buSzPts val="2400"/>
              <a:buNone/>
              <a:defRPr b="1">
                <a:solidFill>
                  <a:schemeClr val="lt1"/>
                </a:solidFill>
              </a:defRPr>
            </a:lvl3pPr>
            <a:lvl4pPr lvl="3" algn="ctr" rtl="0">
              <a:spcBef>
                <a:spcPts val="0"/>
              </a:spcBef>
              <a:spcAft>
                <a:spcPts val="0"/>
              </a:spcAft>
              <a:buClr>
                <a:schemeClr val="lt1"/>
              </a:buClr>
              <a:buSzPts val="2400"/>
              <a:buNone/>
              <a:defRPr sz="3200" b="1">
                <a:solidFill>
                  <a:schemeClr val="lt1"/>
                </a:solidFill>
              </a:defRPr>
            </a:lvl4pPr>
            <a:lvl5pPr lvl="4" algn="ctr" rtl="0">
              <a:spcBef>
                <a:spcPts val="0"/>
              </a:spcBef>
              <a:spcAft>
                <a:spcPts val="0"/>
              </a:spcAft>
              <a:buClr>
                <a:schemeClr val="lt1"/>
              </a:buClr>
              <a:buSzPts val="2400"/>
              <a:buNone/>
              <a:defRPr sz="3200" b="1">
                <a:solidFill>
                  <a:schemeClr val="lt1"/>
                </a:solidFill>
              </a:defRPr>
            </a:lvl5pPr>
            <a:lvl6pPr lvl="5" algn="ctr" rtl="0">
              <a:spcBef>
                <a:spcPts val="0"/>
              </a:spcBef>
              <a:spcAft>
                <a:spcPts val="0"/>
              </a:spcAft>
              <a:buClr>
                <a:schemeClr val="lt1"/>
              </a:buClr>
              <a:buSzPts val="2400"/>
              <a:buNone/>
              <a:defRPr sz="3200" b="1">
                <a:solidFill>
                  <a:schemeClr val="lt1"/>
                </a:solidFill>
              </a:defRPr>
            </a:lvl6pPr>
            <a:lvl7pPr lvl="6" algn="ctr" rtl="0">
              <a:spcBef>
                <a:spcPts val="0"/>
              </a:spcBef>
              <a:spcAft>
                <a:spcPts val="0"/>
              </a:spcAft>
              <a:buClr>
                <a:schemeClr val="lt1"/>
              </a:buClr>
              <a:buSzPts val="2400"/>
              <a:buNone/>
              <a:defRPr sz="3200" b="1">
                <a:solidFill>
                  <a:schemeClr val="lt1"/>
                </a:solidFill>
              </a:defRPr>
            </a:lvl7pPr>
            <a:lvl8pPr lvl="7" algn="ctr" rtl="0">
              <a:spcBef>
                <a:spcPts val="0"/>
              </a:spcBef>
              <a:spcAft>
                <a:spcPts val="0"/>
              </a:spcAft>
              <a:buClr>
                <a:schemeClr val="lt1"/>
              </a:buClr>
              <a:buSzPts val="2400"/>
              <a:buNone/>
              <a:defRPr sz="3200" b="1">
                <a:solidFill>
                  <a:schemeClr val="lt1"/>
                </a:solidFill>
              </a:defRPr>
            </a:lvl8pPr>
            <a:lvl9pPr lvl="8" algn="ctr" rtl="0">
              <a:spcBef>
                <a:spcPts val="0"/>
              </a:spcBef>
              <a:spcAft>
                <a:spcPts val="0"/>
              </a:spcAft>
              <a:buClr>
                <a:schemeClr val="lt1"/>
              </a:buClr>
              <a:buSzPts val="2400"/>
              <a:buNone/>
              <a:defRPr sz="3200" b="1">
                <a:solidFill>
                  <a:schemeClr val="lt1"/>
                </a:solidFill>
              </a:defRPr>
            </a:lvl9pPr>
          </a:lstStyle>
          <a:p>
            <a:endParaRPr/>
          </a:p>
        </p:txBody>
      </p:sp>
      <p:sp>
        <p:nvSpPr>
          <p:cNvPr id="64" name="Google Shape;64;p15"/>
          <p:cNvSpPr/>
          <p:nvPr/>
        </p:nvSpPr>
        <p:spPr>
          <a:xfrm>
            <a:off x="4063605" y="5323800"/>
            <a:ext cx="4063600" cy="1028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5" name="Google Shape;65;p15"/>
          <p:cNvSpPr/>
          <p:nvPr/>
        </p:nvSpPr>
        <p:spPr>
          <a:xfrm>
            <a:off x="8128361" y="5323800"/>
            <a:ext cx="4063600" cy="102800"/>
          </a:xfrm>
          <a:prstGeom prst="rect">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6" name="Google Shape;66;p15"/>
          <p:cNvSpPr/>
          <p:nvPr/>
        </p:nvSpPr>
        <p:spPr>
          <a:xfrm>
            <a:off x="1" y="5323800"/>
            <a:ext cx="4063600" cy="102800"/>
          </a:xfrm>
          <a:prstGeom prst="rect">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7" name="Google Shape;67;p15"/>
          <p:cNvSpPr txBox="1">
            <a:spLocks noGrp="1"/>
          </p:cNvSpPr>
          <p:nvPr>
            <p:ph type="sldNum" idx="12"/>
          </p:nvPr>
        </p:nvSpPr>
        <p:spPr>
          <a:xfrm>
            <a:off x="-167" y="6440375"/>
            <a:ext cx="12192000" cy="418000"/>
          </a:xfrm>
          <a:prstGeom prst="rect">
            <a:avLst/>
          </a:prstGeom>
        </p:spPr>
        <p:txBody>
          <a:bodyPr spcFirstLastPara="1" wrap="square" lIns="91425" tIns="91425" rIns="91425" bIns="91425" anchor="t" anchorCtr="0">
            <a:noAutofit/>
          </a:bodyPr>
          <a:lstStyle>
            <a:lvl1pPr lvl="0" algn="ctr" rtl="0">
              <a:buNone/>
              <a:defRPr/>
            </a:lvl1pPr>
            <a:lvl2pPr lvl="1" algn="ctr" rtl="0">
              <a:buNone/>
              <a:defRPr/>
            </a:lvl2pPr>
            <a:lvl3pPr lvl="2" algn="ctr" rtl="0">
              <a:buNone/>
              <a:defRPr/>
            </a:lvl3pPr>
            <a:lvl4pPr lvl="3" algn="ctr" rtl="0">
              <a:buNone/>
              <a:defRPr/>
            </a:lvl4pPr>
            <a:lvl5pPr lvl="4" algn="ctr" rtl="0">
              <a:buNone/>
              <a:defRPr/>
            </a:lvl5pPr>
            <a:lvl6pPr lvl="5" algn="ctr" rtl="0">
              <a:buNone/>
              <a:defRPr/>
            </a:lvl6pPr>
            <a:lvl7pPr lvl="6" algn="ctr" rtl="0">
              <a:buNone/>
              <a:defRPr/>
            </a:lvl7pPr>
            <a:lvl8pPr lvl="7" algn="ctr" rtl="0">
              <a:buNone/>
              <a:defRPr/>
            </a:lvl8pPr>
            <a:lvl9pPr lvl="8" algn="ctr"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2192220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68"/>
        <p:cNvGrpSpPr/>
        <p:nvPr/>
      </p:nvGrpSpPr>
      <p:grpSpPr>
        <a:xfrm>
          <a:off x="0" y="0"/>
          <a:ext cx="0" cy="0"/>
          <a:chOff x="0" y="0"/>
          <a:chExt cx="0" cy="0"/>
        </a:xfrm>
      </p:grpSpPr>
      <p:sp>
        <p:nvSpPr>
          <p:cNvPr id="69" name="Google Shape;69;p16"/>
          <p:cNvSpPr txBox="1">
            <a:spLocks noGrp="1"/>
          </p:cNvSpPr>
          <p:nvPr>
            <p:ph type="body" idx="1"/>
          </p:nvPr>
        </p:nvSpPr>
        <p:spPr>
          <a:xfrm>
            <a:off x="2280567" y="2882400"/>
            <a:ext cx="7631600" cy="1093200"/>
          </a:xfrm>
          <a:prstGeom prst="rect">
            <a:avLst/>
          </a:prstGeom>
        </p:spPr>
        <p:txBody>
          <a:bodyPr spcFirstLastPara="1" wrap="square" lIns="91425" tIns="91425" rIns="91425" bIns="91425" anchor="t" anchorCtr="0">
            <a:noAutofit/>
          </a:bodyPr>
          <a:lstStyle>
            <a:lvl1pPr marL="609585" lvl="0" indent="-507987" algn="ctr" rtl="0">
              <a:spcBef>
                <a:spcPts val="800"/>
              </a:spcBef>
              <a:spcAft>
                <a:spcPts val="0"/>
              </a:spcAft>
              <a:buSzPts val="2400"/>
              <a:buChar char="▷"/>
              <a:defRPr i="1"/>
            </a:lvl1pPr>
            <a:lvl2pPr marL="1219170" lvl="1" indent="-507987" algn="ctr" rtl="0">
              <a:spcBef>
                <a:spcPts val="0"/>
              </a:spcBef>
              <a:spcAft>
                <a:spcPts val="0"/>
              </a:spcAft>
              <a:buSzPts val="2400"/>
              <a:buChar char="○"/>
              <a:defRPr i="1"/>
            </a:lvl2pPr>
            <a:lvl3pPr marL="1828754" lvl="2" indent="-507987" algn="ctr" rtl="0">
              <a:spcBef>
                <a:spcPts val="0"/>
              </a:spcBef>
              <a:spcAft>
                <a:spcPts val="0"/>
              </a:spcAft>
              <a:buSzPts val="2400"/>
              <a:buChar char="■"/>
              <a:defRPr i="1"/>
            </a:lvl3pPr>
            <a:lvl4pPr marL="2438339" lvl="3" indent="-507987" algn="ctr" rtl="0">
              <a:spcBef>
                <a:spcPts val="0"/>
              </a:spcBef>
              <a:spcAft>
                <a:spcPts val="0"/>
              </a:spcAft>
              <a:buSzPts val="2400"/>
              <a:buChar char="●"/>
              <a:defRPr i="1"/>
            </a:lvl4pPr>
            <a:lvl5pPr marL="3047924" lvl="4" indent="-507987" algn="ctr" rtl="0">
              <a:spcBef>
                <a:spcPts val="0"/>
              </a:spcBef>
              <a:spcAft>
                <a:spcPts val="0"/>
              </a:spcAft>
              <a:buSzPts val="2400"/>
              <a:buChar char="○"/>
              <a:defRPr i="1"/>
            </a:lvl5pPr>
            <a:lvl6pPr marL="3657509" lvl="5" indent="-507987" algn="ctr" rtl="0">
              <a:spcBef>
                <a:spcPts val="0"/>
              </a:spcBef>
              <a:spcAft>
                <a:spcPts val="0"/>
              </a:spcAft>
              <a:buSzPts val="2400"/>
              <a:buChar char="■"/>
              <a:defRPr i="1"/>
            </a:lvl6pPr>
            <a:lvl7pPr marL="4267093" lvl="6" indent="-507987" algn="ctr" rtl="0">
              <a:spcBef>
                <a:spcPts val="0"/>
              </a:spcBef>
              <a:spcAft>
                <a:spcPts val="0"/>
              </a:spcAft>
              <a:buSzPts val="2400"/>
              <a:buChar char="●"/>
              <a:defRPr i="1"/>
            </a:lvl7pPr>
            <a:lvl8pPr marL="4876678" lvl="7" indent="-507987" algn="ctr" rtl="0">
              <a:spcBef>
                <a:spcPts val="0"/>
              </a:spcBef>
              <a:spcAft>
                <a:spcPts val="0"/>
              </a:spcAft>
              <a:buSzPts val="2400"/>
              <a:buChar char="○"/>
              <a:defRPr i="1"/>
            </a:lvl8pPr>
            <a:lvl9pPr marL="5486263" lvl="8" indent="-507987" algn="ctr" rtl="0">
              <a:spcBef>
                <a:spcPts val="0"/>
              </a:spcBef>
              <a:spcAft>
                <a:spcPts val="0"/>
              </a:spcAft>
              <a:buSzPts val="2400"/>
              <a:buChar char="■"/>
              <a:defRPr i="1"/>
            </a:lvl9pPr>
          </a:lstStyle>
          <a:p>
            <a:endParaRPr/>
          </a:p>
        </p:txBody>
      </p:sp>
      <p:sp>
        <p:nvSpPr>
          <p:cNvPr id="70" name="Google Shape;70;p16"/>
          <p:cNvSpPr txBox="1"/>
          <p:nvPr/>
        </p:nvSpPr>
        <p:spPr>
          <a:xfrm>
            <a:off x="4791200" y="1575225"/>
            <a:ext cx="2609600" cy="871600"/>
          </a:xfrm>
          <a:prstGeom prst="rect">
            <a:avLst/>
          </a:prstGeom>
          <a:noFill/>
          <a:ln>
            <a:noFill/>
          </a:ln>
        </p:spPr>
        <p:txBody>
          <a:bodyPr spcFirstLastPara="1" wrap="square" lIns="121900" tIns="121900" rIns="121900" bIns="121900" anchor="t" anchorCtr="0">
            <a:noAutofit/>
          </a:bodyPr>
          <a:lstStyle/>
          <a:p>
            <a:pPr marL="0" lvl="0" indent="0" algn="ctr" rtl="0">
              <a:spcBef>
                <a:spcPts val="0"/>
              </a:spcBef>
              <a:spcAft>
                <a:spcPts val="0"/>
              </a:spcAft>
              <a:buNone/>
            </a:pPr>
            <a:r>
              <a:rPr lang="en" sz="12800" b="1">
                <a:solidFill>
                  <a:schemeClr val="accent6"/>
                </a:solidFill>
              </a:rPr>
              <a:t>“</a:t>
            </a:r>
            <a:endParaRPr sz="12800" b="1">
              <a:solidFill>
                <a:schemeClr val="accent6"/>
              </a:solidFill>
            </a:endParaRPr>
          </a:p>
        </p:txBody>
      </p:sp>
      <p:sp>
        <p:nvSpPr>
          <p:cNvPr id="71" name="Google Shape;71;p16"/>
          <p:cNvSpPr/>
          <p:nvPr/>
        </p:nvSpPr>
        <p:spPr>
          <a:xfrm>
            <a:off x="7631044" y="2132900"/>
            <a:ext cx="2280400" cy="1028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2" name="Google Shape;72;p16"/>
          <p:cNvSpPr/>
          <p:nvPr/>
        </p:nvSpPr>
        <p:spPr>
          <a:xfrm>
            <a:off x="9912236" y="2132900"/>
            <a:ext cx="2280400" cy="102800"/>
          </a:xfrm>
          <a:prstGeom prst="rect">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3" name="Google Shape;73;p16"/>
          <p:cNvSpPr/>
          <p:nvPr/>
        </p:nvSpPr>
        <p:spPr>
          <a:xfrm>
            <a:off x="0" y="2132900"/>
            <a:ext cx="2280400" cy="102800"/>
          </a:xfrm>
          <a:prstGeom prst="rect">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4" name="Google Shape;74;p16"/>
          <p:cNvSpPr/>
          <p:nvPr/>
        </p:nvSpPr>
        <p:spPr>
          <a:xfrm>
            <a:off x="2280567" y="2132900"/>
            <a:ext cx="2280400" cy="102800"/>
          </a:xfrm>
          <a:prstGeom prst="rect">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5" name="Google Shape;75;p16"/>
          <p:cNvSpPr txBox="1">
            <a:spLocks noGrp="1"/>
          </p:cNvSpPr>
          <p:nvPr>
            <p:ph type="sldNum" idx="12"/>
          </p:nvPr>
        </p:nvSpPr>
        <p:spPr>
          <a:xfrm>
            <a:off x="-167" y="6440375"/>
            <a:ext cx="12192000" cy="418000"/>
          </a:xfrm>
          <a:prstGeom prst="rect">
            <a:avLst/>
          </a:prstGeom>
        </p:spPr>
        <p:txBody>
          <a:bodyPr spcFirstLastPara="1" wrap="square" lIns="91425" tIns="91425" rIns="91425" bIns="91425" anchor="t" anchorCtr="0">
            <a:noAutofit/>
          </a:bodyPr>
          <a:lstStyle>
            <a:lvl1pPr lvl="0" algn="ctr" rtl="0">
              <a:buNone/>
              <a:defRPr/>
            </a:lvl1pPr>
            <a:lvl2pPr lvl="1" algn="ctr" rtl="0">
              <a:buNone/>
              <a:defRPr/>
            </a:lvl2pPr>
            <a:lvl3pPr lvl="2" algn="ctr" rtl="0">
              <a:buNone/>
              <a:defRPr/>
            </a:lvl3pPr>
            <a:lvl4pPr lvl="3" algn="ctr" rtl="0">
              <a:buNone/>
              <a:defRPr/>
            </a:lvl4pPr>
            <a:lvl5pPr lvl="4" algn="ctr" rtl="0">
              <a:buNone/>
              <a:defRPr/>
            </a:lvl5pPr>
            <a:lvl6pPr lvl="5" algn="ctr" rtl="0">
              <a:buNone/>
              <a:defRPr/>
            </a:lvl6pPr>
            <a:lvl7pPr lvl="6" algn="ctr" rtl="0">
              <a:buNone/>
              <a:defRPr/>
            </a:lvl7pPr>
            <a:lvl8pPr lvl="7" algn="ctr" rtl="0">
              <a:buNone/>
              <a:defRPr/>
            </a:lvl8pPr>
            <a:lvl9pPr lvl="8" algn="ctr"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5353143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spTree>
      <p:nvGrpSpPr>
        <p:cNvPr id="1" name="Shape 84"/>
        <p:cNvGrpSpPr/>
        <p:nvPr/>
      </p:nvGrpSpPr>
      <p:grpSpPr>
        <a:xfrm>
          <a:off x="0" y="0"/>
          <a:ext cx="0" cy="0"/>
          <a:chOff x="0" y="0"/>
          <a:chExt cx="0" cy="0"/>
        </a:xfrm>
      </p:grpSpPr>
      <p:sp>
        <p:nvSpPr>
          <p:cNvPr id="85" name="Google Shape;85;p18"/>
          <p:cNvSpPr/>
          <p:nvPr/>
        </p:nvSpPr>
        <p:spPr>
          <a:xfrm>
            <a:off x="9808488" y="6755100"/>
            <a:ext cx="1191600" cy="1028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6" name="Google Shape;86;p18"/>
          <p:cNvSpPr/>
          <p:nvPr/>
        </p:nvSpPr>
        <p:spPr>
          <a:xfrm>
            <a:off x="11000416" y="6755100"/>
            <a:ext cx="1191600" cy="102800"/>
          </a:xfrm>
          <a:prstGeom prst="rect">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7" name="Google Shape;87;p18"/>
          <p:cNvSpPr/>
          <p:nvPr/>
        </p:nvSpPr>
        <p:spPr>
          <a:xfrm>
            <a:off x="0" y="6755100"/>
            <a:ext cx="1191600" cy="102800"/>
          </a:xfrm>
          <a:prstGeom prst="rect">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8" name="Google Shape;88;p18"/>
          <p:cNvSpPr/>
          <p:nvPr/>
        </p:nvSpPr>
        <p:spPr>
          <a:xfrm>
            <a:off x="1191613" y="6755100"/>
            <a:ext cx="8616800" cy="102800"/>
          </a:xfrm>
          <a:prstGeom prst="rect">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9" name="Google Shape;89;p18"/>
          <p:cNvSpPr txBox="1">
            <a:spLocks noGrp="1"/>
          </p:cNvSpPr>
          <p:nvPr>
            <p:ph type="title"/>
          </p:nvPr>
        </p:nvSpPr>
        <p:spPr>
          <a:xfrm>
            <a:off x="1191600" y="477851"/>
            <a:ext cx="8616800" cy="1143200"/>
          </a:xfrm>
          <a:prstGeom prst="rect">
            <a:avLst/>
          </a:prstGeom>
        </p:spPr>
        <p:txBody>
          <a:bodyPr spcFirstLastPara="1" wrap="square" lIns="91425" tIns="91425" rIns="91425" bIns="91425" anchor="b"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90" name="Google Shape;90;p18"/>
          <p:cNvSpPr txBox="1">
            <a:spLocks noGrp="1"/>
          </p:cNvSpPr>
          <p:nvPr>
            <p:ph type="body" idx="1"/>
          </p:nvPr>
        </p:nvSpPr>
        <p:spPr>
          <a:xfrm>
            <a:off x="1191500" y="1600200"/>
            <a:ext cx="4182400" cy="4967600"/>
          </a:xfrm>
          <a:prstGeom prst="rect">
            <a:avLst/>
          </a:prstGeom>
        </p:spPr>
        <p:txBody>
          <a:bodyPr spcFirstLastPara="1" wrap="square" lIns="91425" tIns="91425" rIns="91425" bIns="91425" anchor="t" anchorCtr="0">
            <a:noAutofit/>
          </a:bodyPr>
          <a:lstStyle>
            <a:lvl1pPr marL="609585" lvl="0" indent="-474121" rtl="0">
              <a:spcBef>
                <a:spcPts val="800"/>
              </a:spcBef>
              <a:spcAft>
                <a:spcPts val="0"/>
              </a:spcAft>
              <a:buSzPts val="2000"/>
              <a:buChar char="▷"/>
              <a:defRPr sz="2667"/>
            </a:lvl1pPr>
            <a:lvl2pPr marL="1219170" lvl="1" indent="-474121" rtl="0">
              <a:spcBef>
                <a:spcPts val="0"/>
              </a:spcBef>
              <a:spcAft>
                <a:spcPts val="0"/>
              </a:spcAft>
              <a:buSzPts val="2000"/>
              <a:buChar char="○"/>
              <a:defRPr sz="2667"/>
            </a:lvl2pPr>
            <a:lvl3pPr marL="1828754" lvl="2" indent="-474121" rtl="0">
              <a:spcBef>
                <a:spcPts val="0"/>
              </a:spcBef>
              <a:spcAft>
                <a:spcPts val="0"/>
              </a:spcAft>
              <a:buSzPts val="2000"/>
              <a:buChar char="■"/>
              <a:defRPr sz="2667"/>
            </a:lvl3pPr>
            <a:lvl4pPr marL="2438339" lvl="3" indent="-474121" rtl="0">
              <a:spcBef>
                <a:spcPts val="0"/>
              </a:spcBef>
              <a:spcAft>
                <a:spcPts val="0"/>
              </a:spcAft>
              <a:buSzPts val="2000"/>
              <a:buChar char="●"/>
              <a:defRPr sz="2667"/>
            </a:lvl4pPr>
            <a:lvl5pPr marL="3047924" lvl="4" indent="-474121" rtl="0">
              <a:spcBef>
                <a:spcPts val="0"/>
              </a:spcBef>
              <a:spcAft>
                <a:spcPts val="0"/>
              </a:spcAft>
              <a:buSzPts val="2000"/>
              <a:buChar char="○"/>
              <a:defRPr sz="2667"/>
            </a:lvl5pPr>
            <a:lvl6pPr marL="3657509" lvl="5" indent="-474121" rtl="0">
              <a:spcBef>
                <a:spcPts val="0"/>
              </a:spcBef>
              <a:spcAft>
                <a:spcPts val="0"/>
              </a:spcAft>
              <a:buSzPts val="2000"/>
              <a:buChar char="■"/>
              <a:defRPr sz="2667"/>
            </a:lvl6pPr>
            <a:lvl7pPr marL="4267093" lvl="6" indent="-474121" rtl="0">
              <a:spcBef>
                <a:spcPts val="0"/>
              </a:spcBef>
              <a:spcAft>
                <a:spcPts val="0"/>
              </a:spcAft>
              <a:buSzPts val="2000"/>
              <a:buChar char="●"/>
              <a:defRPr sz="2667"/>
            </a:lvl7pPr>
            <a:lvl8pPr marL="4876678" lvl="7" indent="-474121" rtl="0">
              <a:spcBef>
                <a:spcPts val="0"/>
              </a:spcBef>
              <a:spcAft>
                <a:spcPts val="0"/>
              </a:spcAft>
              <a:buSzPts val="2000"/>
              <a:buChar char="○"/>
              <a:defRPr sz="2667"/>
            </a:lvl8pPr>
            <a:lvl9pPr marL="5486263" lvl="8" indent="-474121" rtl="0">
              <a:spcBef>
                <a:spcPts val="0"/>
              </a:spcBef>
              <a:spcAft>
                <a:spcPts val="0"/>
              </a:spcAft>
              <a:buSzPts val="2000"/>
              <a:buChar char="■"/>
              <a:defRPr sz="2667"/>
            </a:lvl9pPr>
          </a:lstStyle>
          <a:p>
            <a:endParaRPr/>
          </a:p>
        </p:txBody>
      </p:sp>
      <p:sp>
        <p:nvSpPr>
          <p:cNvPr id="91" name="Google Shape;91;p18"/>
          <p:cNvSpPr txBox="1">
            <a:spLocks noGrp="1"/>
          </p:cNvSpPr>
          <p:nvPr>
            <p:ph type="body" idx="2"/>
          </p:nvPr>
        </p:nvSpPr>
        <p:spPr>
          <a:xfrm>
            <a:off x="5625941" y="1600200"/>
            <a:ext cx="4182400" cy="4967600"/>
          </a:xfrm>
          <a:prstGeom prst="rect">
            <a:avLst/>
          </a:prstGeom>
        </p:spPr>
        <p:txBody>
          <a:bodyPr spcFirstLastPara="1" wrap="square" lIns="91425" tIns="91425" rIns="91425" bIns="91425" anchor="t" anchorCtr="0">
            <a:noAutofit/>
          </a:bodyPr>
          <a:lstStyle>
            <a:lvl1pPr marL="609585" lvl="0" indent="-474121" rtl="0">
              <a:spcBef>
                <a:spcPts val="800"/>
              </a:spcBef>
              <a:spcAft>
                <a:spcPts val="0"/>
              </a:spcAft>
              <a:buSzPts val="2000"/>
              <a:buChar char="▷"/>
              <a:defRPr sz="2667"/>
            </a:lvl1pPr>
            <a:lvl2pPr marL="1219170" lvl="1" indent="-474121" rtl="0">
              <a:spcBef>
                <a:spcPts val="0"/>
              </a:spcBef>
              <a:spcAft>
                <a:spcPts val="0"/>
              </a:spcAft>
              <a:buSzPts val="2000"/>
              <a:buChar char="○"/>
              <a:defRPr sz="2667"/>
            </a:lvl2pPr>
            <a:lvl3pPr marL="1828754" lvl="2" indent="-474121" rtl="0">
              <a:spcBef>
                <a:spcPts val="0"/>
              </a:spcBef>
              <a:spcAft>
                <a:spcPts val="0"/>
              </a:spcAft>
              <a:buSzPts val="2000"/>
              <a:buChar char="■"/>
              <a:defRPr sz="2667"/>
            </a:lvl3pPr>
            <a:lvl4pPr marL="2438339" lvl="3" indent="-474121" rtl="0">
              <a:spcBef>
                <a:spcPts val="0"/>
              </a:spcBef>
              <a:spcAft>
                <a:spcPts val="0"/>
              </a:spcAft>
              <a:buSzPts val="2000"/>
              <a:buChar char="●"/>
              <a:defRPr sz="2667"/>
            </a:lvl4pPr>
            <a:lvl5pPr marL="3047924" lvl="4" indent="-474121" rtl="0">
              <a:spcBef>
                <a:spcPts val="0"/>
              </a:spcBef>
              <a:spcAft>
                <a:spcPts val="0"/>
              </a:spcAft>
              <a:buSzPts val="2000"/>
              <a:buChar char="○"/>
              <a:defRPr sz="2667"/>
            </a:lvl5pPr>
            <a:lvl6pPr marL="3657509" lvl="5" indent="-474121" rtl="0">
              <a:spcBef>
                <a:spcPts val="0"/>
              </a:spcBef>
              <a:spcAft>
                <a:spcPts val="0"/>
              </a:spcAft>
              <a:buSzPts val="2000"/>
              <a:buChar char="■"/>
              <a:defRPr sz="2667"/>
            </a:lvl6pPr>
            <a:lvl7pPr marL="4267093" lvl="6" indent="-474121" rtl="0">
              <a:spcBef>
                <a:spcPts val="0"/>
              </a:spcBef>
              <a:spcAft>
                <a:spcPts val="0"/>
              </a:spcAft>
              <a:buSzPts val="2000"/>
              <a:buChar char="●"/>
              <a:defRPr sz="2667"/>
            </a:lvl7pPr>
            <a:lvl8pPr marL="4876678" lvl="7" indent="-474121" rtl="0">
              <a:spcBef>
                <a:spcPts val="0"/>
              </a:spcBef>
              <a:spcAft>
                <a:spcPts val="0"/>
              </a:spcAft>
              <a:buSzPts val="2000"/>
              <a:buChar char="○"/>
              <a:defRPr sz="2667"/>
            </a:lvl8pPr>
            <a:lvl9pPr marL="5486263" lvl="8" indent="-474121" rtl="0">
              <a:spcBef>
                <a:spcPts val="0"/>
              </a:spcBef>
              <a:spcAft>
                <a:spcPts val="0"/>
              </a:spcAft>
              <a:buSzPts val="2000"/>
              <a:buChar char="■"/>
              <a:defRPr sz="2667"/>
            </a:lvl9pPr>
          </a:lstStyle>
          <a:p>
            <a:endParaRPr/>
          </a:p>
        </p:txBody>
      </p:sp>
      <p:sp>
        <p:nvSpPr>
          <p:cNvPr id="92" name="Google Shape;92;p18"/>
          <p:cNvSpPr txBox="1">
            <a:spLocks noGrp="1"/>
          </p:cNvSpPr>
          <p:nvPr>
            <p:ph type="sldNum" idx="12"/>
          </p:nvPr>
        </p:nvSpPr>
        <p:spPr>
          <a:xfrm>
            <a:off x="11307433" y="6262577"/>
            <a:ext cx="731600" cy="4180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6791918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 3 columns">
  <p:cSld name="Title + 3 columns">
    <p:spTree>
      <p:nvGrpSpPr>
        <p:cNvPr id="1" name="Shape 93"/>
        <p:cNvGrpSpPr/>
        <p:nvPr/>
      </p:nvGrpSpPr>
      <p:grpSpPr>
        <a:xfrm>
          <a:off x="0" y="0"/>
          <a:ext cx="0" cy="0"/>
          <a:chOff x="0" y="0"/>
          <a:chExt cx="0" cy="0"/>
        </a:xfrm>
      </p:grpSpPr>
      <p:sp>
        <p:nvSpPr>
          <p:cNvPr id="94" name="Google Shape;94;p19"/>
          <p:cNvSpPr/>
          <p:nvPr/>
        </p:nvSpPr>
        <p:spPr>
          <a:xfrm>
            <a:off x="9808488" y="6755100"/>
            <a:ext cx="1191600" cy="1028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95" name="Google Shape;95;p19"/>
          <p:cNvSpPr/>
          <p:nvPr/>
        </p:nvSpPr>
        <p:spPr>
          <a:xfrm>
            <a:off x="11000416" y="6755100"/>
            <a:ext cx="1191600" cy="102800"/>
          </a:xfrm>
          <a:prstGeom prst="rect">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96" name="Google Shape;96;p19"/>
          <p:cNvSpPr/>
          <p:nvPr/>
        </p:nvSpPr>
        <p:spPr>
          <a:xfrm>
            <a:off x="0" y="6755100"/>
            <a:ext cx="1191600" cy="102800"/>
          </a:xfrm>
          <a:prstGeom prst="rect">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97" name="Google Shape;97;p19"/>
          <p:cNvSpPr/>
          <p:nvPr/>
        </p:nvSpPr>
        <p:spPr>
          <a:xfrm>
            <a:off x="1191613" y="6755100"/>
            <a:ext cx="8616800" cy="102800"/>
          </a:xfrm>
          <a:prstGeom prst="rect">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98" name="Google Shape;98;p19"/>
          <p:cNvSpPr txBox="1">
            <a:spLocks noGrp="1"/>
          </p:cNvSpPr>
          <p:nvPr>
            <p:ph type="title"/>
          </p:nvPr>
        </p:nvSpPr>
        <p:spPr>
          <a:xfrm>
            <a:off x="1191600" y="477851"/>
            <a:ext cx="8616800" cy="1143200"/>
          </a:xfrm>
          <a:prstGeom prst="rect">
            <a:avLst/>
          </a:prstGeom>
        </p:spPr>
        <p:txBody>
          <a:bodyPr spcFirstLastPara="1" wrap="square" lIns="91425" tIns="91425" rIns="91425" bIns="91425" anchor="b"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99" name="Google Shape;99;p19"/>
          <p:cNvSpPr txBox="1">
            <a:spLocks noGrp="1"/>
          </p:cNvSpPr>
          <p:nvPr>
            <p:ph type="body" idx="1"/>
          </p:nvPr>
        </p:nvSpPr>
        <p:spPr>
          <a:xfrm>
            <a:off x="1191600" y="1600200"/>
            <a:ext cx="3161600" cy="4967600"/>
          </a:xfrm>
          <a:prstGeom prst="rect">
            <a:avLst/>
          </a:prstGeom>
        </p:spPr>
        <p:txBody>
          <a:bodyPr spcFirstLastPara="1" wrap="square" lIns="91425" tIns="91425" rIns="91425" bIns="91425" anchor="t" anchorCtr="0">
            <a:noAutofit/>
          </a:bodyPr>
          <a:lstStyle>
            <a:lvl1pPr marL="609585" lvl="0" indent="-423323" rtl="0">
              <a:spcBef>
                <a:spcPts val="800"/>
              </a:spcBef>
              <a:spcAft>
                <a:spcPts val="0"/>
              </a:spcAft>
              <a:buSzPts val="1400"/>
              <a:buChar char="▷"/>
              <a:defRPr sz="1867"/>
            </a:lvl1pPr>
            <a:lvl2pPr marL="1219170" lvl="1" indent="-423323" rtl="0">
              <a:spcBef>
                <a:spcPts val="0"/>
              </a:spcBef>
              <a:spcAft>
                <a:spcPts val="0"/>
              </a:spcAft>
              <a:buSzPts val="1400"/>
              <a:buChar char="○"/>
              <a:defRPr sz="1867"/>
            </a:lvl2pPr>
            <a:lvl3pPr marL="1828754" lvl="2" indent="-423323" rtl="0">
              <a:spcBef>
                <a:spcPts val="0"/>
              </a:spcBef>
              <a:spcAft>
                <a:spcPts val="0"/>
              </a:spcAft>
              <a:buSzPts val="1400"/>
              <a:buChar char="■"/>
              <a:defRPr sz="1867"/>
            </a:lvl3pPr>
            <a:lvl4pPr marL="2438339" lvl="3" indent="-423323" rtl="0">
              <a:spcBef>
                <a:spcPts val="0"/>
              </a:spcBef>
              <a:spcAft>
                <a:spcPts val="0"/>
              </a:spcAft>
              <a:buSzPts val="1400"/>
              <a:buChar char="●"/>
              <a:defRPr sz="1867"/>
            </a:lvl4pPr>
            <a:lvl5pPr marL="3047924" lvl="4" indent="-423323" rtl="0">
              <a:spcBef>
                <a:spcPts val="0"/>
              </a:spcBef>
              <a:spcAft>
                <a:spcPts val="0"/>
              </a:spcAft>
              <a:buSzPts val="1400"/>
              <a:buChar char="○"/>
              <a:defRPr sz="1867"/>
            </a:lvl5pPr>
            <a:lvl6pPr marL="3657509" lvl="5" indent="-423323" rtl="0">
              <a:spcBef>
                <a:spcPts val="0"/>
              </a:spcBef>
              <a:spcAft>
                <a:spcPts val="0"/>
              </a:spcAft>
              <a:buSzPts val="1400"/>
              <a:buChar char="■"/>
              <a:defRPr sz="1867"/>
            </a:lvl6pPr>
            <a:lvl7pPr marL="4267093" lvl="6" indent="-423323" rtl="0">
              <a:spcBef>
                <a:spcPts val="0"/>
              </a:spcBef>
              <a:spcAft>
                <a:spcPts val="0"/>
              </a:spcAft>
              <a:buSzPts val="1400"/>
              <a:buChar char="●"/>
              <a:defRPr sz="1867"/>
            </a:lvl7pPr>
            <a:lvl8pPr marL="4876678" lvl="7" indent="-423323" rtl="0">
              <a:spcBef>
                <a:spcPts val="0"/>
              </a:spcBef>
              <a:spcAft>
                <a:spcPts val="0"/>
              </a:spcAft>
              <a:buSzPts val="1400"/>
              <a:buChar char="○"/>
              <a:defRPr sz="1867"/>
            </a:lvl8pPr>
            <a:lvl9pPr marL="5486263" lvl="8" indent="-423323" rtl="0">
              <a:spcBef>
                <a:spcPts val="0"/>
              </a:spcBef>
              <a:spcAft>
                <a:spcPts val="0"/>
              </a:spcAft>
              <a:buSzPts val="1400"/>
              <a:buChar char="■"/>
              <a:defRPr sz="1867"/>
            </a:lvl9pPr>
          </a:lstStyle>
          <a:p>
            <a:endParaRPr/>
          </a:p>
        </p:txBody>
      </p:sp>
      <p:sp>
        <p:nvSpPr>
          <p:cNvPr id="100" name="Google Shape;100;p19"/>
          <p:cNvSpPr txBox="1">
            <a:spLocks noGrp="1"/>
          </p:cNvSpPr>
          <p:nvPr>
            <p:ph type="body" idx="2"/>
          </p:nvPr>
        </p:nvSpPr>
        <p:spPr>
          <a:xfrm>
            <a:off x="4515205" y="1600200"/>
            <a:ext cx="3161600" cy="4967600"/>
          </a:xfrm>
          <a:prstGeom prst="rect">
            <a:avLst/>
          </a:prstGeom>
        </p:spPr>
        <p:txBody>
          <a:bodyPr spcFirstLastPara="1" wrap="square" lIns="91425" tIns="91425" rIns="91425" bIns="91425" anchor="t" anchorCtr="0">
            <a:noAutofit/>
          </a:bodyPr>
          <a:lstStyle>
            <a:lvl1pPr marL="609585" lvl="0" indent="-423323" rtl="0">
              <a:spcBef>
                <a:spcPts val="800"/>
              </a:spcBef>
              <a:spcAft>
                <a:spcPts val="0"/>
              </a:spcAft>
              <a:buSzPts val="1400"/>
              <a:buChar char="▷"/>
              <a:defRPr sz="1867"/>
            </a:lvl1pPr>
            <a:lvl2pPr marL="1219170" lvl="1" indent="-423323" rtl="0">
              <a:spcBef>
                <a:spcPts val="0"/>
              </a:spcBef>
              <a:spcAft>
                <a:spcPts val="0"/>
              </a:spcAft>
              <a:buSzPts val="1400"/>
              <a:buChar char="○"/>
              <a:defRPr sz="1867"/>
            </a:lvl2pPr>
            <a:lvl3pPr marL="1828754" lvl="2" indent="-423323" rtl="0">
              <a:spcBef>
                <a:spcPts val="0"/>
              </a:spcBef>
              <a:spcAft>
                <a:spcPts val="0"/>
              </a:spcAft>
              <a:buSzPts val="1400"/>
              <a:buChar char="■"/>
              <a:defRPr sz="1867"/>
            </a:lvl3pPr>
            <a:lvl4pPr marL="2438339" lvl="3" indent="-423323" rtl="0">
              <a:spcBef>
                <a:spcPts val="0"/>
              </a:spcBef>
              <a:spcAft>
                <a:spcPts val="0"/>
              </a:spcAft>
              <a:buSzPts val="1400"/>
              <a:buChar char="●"/>
              <a:defRPr sz="1867"/>
            </a:lvl4pPr>
            <a:lvl5pPr marL="3047924" lvl="4" indent="-423323" rtl="0">
              <a:spcBef>
                <a:spcPts val="0"/>
              </a:spcBef>
              <a:spcAft>
                <a:spcPts val="0"/>
              </a:spcAft>
              <a:buSzPts val="1400"/>
              <a:buChar char="○"/>
              <a:defRPr sz="1867"/>
            </a:lvl5pPr>
            <a:lvl6pPr marL="3657509" lvl="5" indent="-423323" rtl="0">
              <a:spcBef>
                <a:spcPts val="0"/>
              </a:spcBef>
              <a:spcAft>
                <a:spcPts val="0"/>
              </a:spcAft>
              <a:buSzPts val="1400"/>
              <a:buChar char="■"/>
              <a:defRPr sz="1867"/>
            </a:lvl6pPr>
            <a:lvl7pPr marL="4267093" lvl="6" indent="-423323" rtl="0">
              <a:spcBef>
                <a:spcPts val="0"/>
              </a:spcBef>
              <a:spcAft>
                <a:spcPts val="0"/>
              </a:spcAft>
              <a:buSzPts val="1400"/>
              <a:buChar char="●"/>
              <a:defRPr sz="1867"/>
            </a:lvl7pPr>
            <a:lvl8pPr marL="4876678" lvl="7" indent="-423323" rtl="0">
              <a:spcBef>
                <a:spcPts val="0"/>
              </a:spcBef>
              <a:spcAft>
                <a:spcPts val="0"/>
              </a:spcAft>
              <a:buSzPts val="1400"/>
              <a:buChar char="○"/>
              <a:defRPr sz="1867"/>
            </a:lvl8pPr>
            <a:lvl9pPr marL="5486263" lvl="8" indent="-423323" rtl="0">
              <a:spcBef>
                <a:spcPts val="0"/>
              </a:spcBef>
              <a:spcAft>
                <a:spcPts val="0"/>
              </a:spcAft>
              <a:buSzPts val="1400"/>
              <a:buChar char="■"/>
              <a:defRPr sz="1867"/>
            </a:lvl9pPr>
          </a:lstStyle>
          <a:p>
            <a:endParaRPr/>
          </a:p>
        </p:txBody>
      </p:sp>
      <p:sp>
        <p:nvSpPr>
          <p:cNvPr id="101" name="Google Shape;101;p19"/>
          <p:cNvSpPr txBox="1">
            <a:spLocks noGrp="1"/>
          </p:cNvSpPr>
          <p:nvPr>
            <p:ph type="body" idx="3"/>
          </p:nvPr>
        </p:nvSpPr>
        <p:spPr>
          <a:xfrm>
            <a:off x="7838809" y="1600200"/>
            <a:ext cx="3161600" cy="4967600"/>
          </a:xfrm>
          <a:prstGeom prst="rect">
            <a:avLst/>
          </a:prstGeom>
        </p:spPr>
        <p:txBody>
          <a:bodyPr spcFirstLastPara="1" wrap="square" lIns="91425" tIns="91425" rIns="91425" bIns="91425" anchor="t" anchorCtr="0">
            <a:noAutofit/>
          </a:bodyPr>
          <a:lstStyle>
            <a:lvl1pPr marL="609585" lvl="0" indent="-423323" rtl="0">
              <a:spcBef>
                <a:spcPts val="800"/>
              </a:spcBef>
              <a:spcAft>
                <a:spcPts val="0"/>
              </a:spcAft>
              <a:buSzPts val="1400"/>
              <a:buChar char="▷"/>
              <a:defRPr sz="1867"/>
            </a:lvl1pPr>
            <a:lvl2pPr marL="1219170" lvl="1" indent="-423323" rtl="0">
              <a:spcBef>
                <a:spcPts val="0"/>
              </a:spcBef>
              <a:spcAft>
                <a:spcPts val="0"/>
              </a:spcAft>
              <a:buSzPts val="1400"/>
              <a:buChar char="○"/>
              <a:defRPr sz="1867"/>
            </a:lvl2pPr>
            <a:lvl3pPr marL="1828754" lvl="2" indent="-423323" rtl="0">
              <a:spcBef>
                <a:spcPts val="0"/>
              </a:spcBef>
              <a:spcAft>
                <a:spcPts val="0"/>
              </a:spcAft>
              <a:buSzPts val="1400"/>
              <a:buChar char="■"/>
              <a:defRPr sz="1867"/>
            </a:lvl3pPr>
            <a:lvl4pPr marL="2438339" lvl="3" indent="-423323" rtl="0">
              <a:spcBef>
                <a:spcPts val="0"/>
              </a:spcBef>
              <a:spcAft>
                <a:spcPts val="0"/>
              </a:spcAft>
              <a:buSzPts val="1400"/>
              <a:buChar char="●"/>
              <a:defRPr sz="1867"/>
            </a:lvl4pPr>
            <a:lvl5pPr marL="3047924" lvl="4" indent="-423323" rtl="0">
              <a:spcBef>
                <a:spcPts val="0"/>
              </a:spcBef>
              <a:spcAft>
                <a:spcPts val="0"/>
              </a:spcAft>
              <a:buSzPts val="1400"/>
              <a:buChar char="○"/>
              <a:defRPr sz="1867"/>
            </a:lvl5pPr>
            <a:lvl6pPr marL="3657509" lvl="5" indent="-423323" rtl="0">
              <a:spcBef>
                <a:spcPts val="0"/>
              </a:spcBef>
              <a:spcAft>
                <a:spcPts val="0"/>
              </a:spcAft>
              <a:buSzPts val="1400"/>
              <a:buChar char="■"/>
              <a:defRPr sz="1867"/>
            </a:lvl6pPr>
            <a:lvl7pPr marL="4267093" lvl="6" indent="-423323" rtl="0">
              <a:spcBef>
                <a:spcPts val="0"/>
              </a:spcBef>
              <a:spcAft>
                <a:spcPts val="0"/>
              </a:spcAft>
              <a:buSzPts val="1400"/>
              <a:buChar char="●"/>
              <a:defRPr sz="1867"/>
            </a:lvl7pPr>
            <a:lvl8pPr marL="4876678" lvl="7" indent="-423323" rtl="0">
              <a:spcBef>
                <a:spcPts val="0"/>
              </a:spcBef>
              <a:spcAft>
                <a:spcPts val="0"/>
              </a:spcAft>
              <a:buSzPts val="1400"/>
              <a:buChar char="○"/>
              <a:defRPr sz="1867"/>
            </a:lvl8pPr>
            <a:lvl9pPr marL="5486263" lvl="8" indent="-423323" rtl="0">
              <a:spcBef>
                <a:spcPts val="0"/>
              </a:spcBef>
              <a:spcAft>
                <a:spcPts val="0"/>
              </a:spcAft>
              <a:buSzPts val="1400"/>
              <a:buChar char="■"/>
              <a:defRPr sz="1867"/>
            </a:lvl9pPr>
          </a:lstStyle>
          <a:p>
            <a:endParaRPr/>
          </a:p>
        </p:txBody>
      </p:sp>
      <p:sp>
        <p:nvSpPr>
          <p:cNvPr id="102" name="Google Shape;102;p19"/>
          <p:cNvSpPr txBox="1">
            <a:spLocks noGrp="1"/>
          </p:cNvSpPr>
          <p:nvPr>
            <p:ph type="sldNum" idx="12"/>
          </p:nvPr>
        </p:nvSpPr>
        <p:spPr>
          <a:xfrm>
            <a:off x="11307433" y="6262577"/>
            <a:ext cx="731600" cy="4180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3983313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03"/>
        <p:cNvGrpSpPr/>
        <p:nvPr/>
      </p:nvGrpSpPr>
      <p:grpSpPr>
        <a:xfrm>
          <a:off x="0" y="0"/>
          <a:ext cx="0" cy="0"/>
          <a:chOff x="0" y="0"/>
          <a:chExt cx="0" cy="0"/>
        </a:xfrm>
      </p:grpSpPr>
      <p:sp>
        <p:nvSpPr>
          <p:cNvPr id="104" name="Google Shape;104;p20"/>
          <p:cNvSpPr/>
          <p:nvPr/>
        </p:nvSpPr>
        <p:spPr>
          <a:xfrm>
            <a:off x="9808488" y="6755100"/>
            <a:ext cx="1191600" cy="1028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5" name="Google Shape;105;p20"/>
          <p:cNvSpPr/>
          <p:nvPr/>
        </p:nvSpPr>
        <p:spPr>
          <a:xfrm>
            <a:off x="11000416" y="6755100"/>
            <a:ext cx="1191600" cy="102800"/>
          </a:xfrm>
          <a:prstGeom prst="rect">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6" name="Google Shape;106;p20"/>
          <p:cNvSpPr/>
          <p:nvPr/>
        </p:nvSpPr>
        <p:spPr>
          <a:xfrm>
            <a:off x="0" y="6755100"/>
            <a:ext cx="1191600" cy="102800"/>
          </a:xfrm>
          <a:prstGeom prst="rect">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7" name="Google Shape;107;p20"/>
          <p:cNvSpPr/>
          <p:nvPr/>
        </p:nvSpPr>
        <p:spPr>
          <a:xfrm>
            <a:off x="1191613" y="6755100"/>
            <a:ext cx="8616800" cy="102800"/>
          </a:xfrm>
          <a:prstGeom prst="rect">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8" name="Google Shape;108;p20"/>
          <p:cNvSpPr txBox="1">
            <a:spLocks noGrp="1"/>
          </p:cNvSpPr>
          <p:nvPr>
            <p:ph type="title"/>
          </p:nvPr>
        </p:nvSpPr>
        <p:spPr>
          <a:xfrm>
            <a:off x="1191600" y="477851"/>
            <a:ext cx="8616800" cy="1143200"/>
          </a:xfrm>
          <a:prstGeom prst="rect">
            <a:avLst/>
          </a:prstGeom>
        </p:spPr>
        <p:txBody>
          <a:bodyPr spcFirstLastPara="1" wrap="square" lIns="91425" tIns="91425" rIns="91425" bIns="91425" anchor="b"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109" name="Google Shape;109;p20"/>
          <p:cNvSpPr txBox="1">
            <a:spLocks noGrp="1"/>
          </p:cNvSpPr>
          <p:nvPr>
            <p:ph type="sldNum" idx="12"/>
          </p:nvPr>
        </p:nvSpPr>
        <p:spPr>
          <a:xfrm>
            <a:off x="11307433" y="6262577"/>
            <a:ext cx="731600" cy="4180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2356726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110"/>
        <p:cNvGrpSpPr/>
        <p:nvPr/>
      </p:nvGrpSpPr>
      <p:grpSpPr>
        <a:xfrm>
          <a:off x="0" y="0"/>
          <a:ext cx="0" cy="0"/>
          <a:chOff x="0" y="0"/>
          <a:chExt cx="0" cy="0"/>
        </a:xfrm>
      </p:grpSpPr>
      <p:sp>
        <p:nvSpPr>
          <p:cNvPr id="111" name="Google Shape;111;p21"/>
          <p:cNvSpPr/>
          <p:nvPr/>
        </p:nvSpPr>
        <p:spPr>
          <a:xfrm>
            <a:off x="9808488" y="6755100"/>
            <a:ext cx="1191600" cy="1028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2" name="Google Shape;112;p21"/>
          <p:cNvSpPr/>
          <p:nvPr/>
        </p:nvSpPr>
        <p:spPr>
          <a:xfrm>
            <a:off x="11000416" y="6755100"/>
            <a:ext cx="1191600" cy="102800"/>
          </a:xfrm>
          <a:prstGeom prst="rect">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3" name="Google Shape;113;p21"/>
          <p:cNvSpPr/>
          <p:nvPr/>
        </p:nvSpPr>
        <p:spPr>
          <a:xfrm>
            <a:off x="0" y="6755100"/>
            <a:ext cx="1191600" cy="102800"/>
          </a:xfrm>
          <a:prstGeom prst="rect">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4" name="Google Shape;114;p21"/>
          <p:cNvSpPr/>
          <p:nvPr/>
        </p:nvSpPr>
        <p:spPr>
          <a:xfrm>
            <a:off x="1191613" y="6755100"/>
            <a:ext cx="8616800" cy="102800"/>
          </a:xfrm>
          <a:prstGeom prst="rect">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5" name="Google Shape;115;p21"/>
          <p:cNvSpPr txBox="1">
            <a:spLocks noGrp="1"/>
          </p:cNvSpPr>
          <p:nvPr>
            <p:ph type="body" idx="1"/>
          </p:nvPr>
        </p:nvSpPr>
        <p:spPr>
          <a:xfrm>
            <a:off x="1191600" y="6199951"/>
            <a:ext cx="8616800" cy="467600"/>
          </a:xfrm>
          <a:prstGeom prst="rect">
            <a:avLst/>
          </a:prstGeom>
        </p:spPr>
        <p:txBody>
          <a:bodyPr spcFirstLastPara="1" wrap="square" lIns="91425" tIns="91425" rIns="91425" bIns="91425" anchor="b" anchorCtr="0">
            <a:noAutofit/>
          </a:bodyPr>
          <a:lstStyle>
            <a:lvl1pPr marL="609585" lvl="0" indent="-304792" rtl="0">
              <a:spcBef>
                <a:spcPts val="480"/>
              </a:spcBef>
              <a:spcAft>
                <a:spcPts val="0"/>
              </a:spcAft>
              <a:buClr>
                <a:schemeClr val="dk2"/>
              </a:buClr>
              <a:buSzPts val="1400"/>
              <a:buNone/>
              <a:defRPr sz="1867">
                <a:solidFill>
                  <a:schemeClr val="dk2"/>
                </a:solidFill>
              </a:defRPr>
            </a:lvl1pPr>
          </a:lstStyle>
          <a:p>
            <a:endParaRPr/>
          </a:p>
        </p:txBody>
      </p:sp>
      <p:sp>
        <p:nvSpPr>
          <p:cNvPr id="116" name="Google Shape;116;p21"/>
          <p:cNvSpPr txBox="1">
            <a:spLocks noGrp="1"/>
          </p:cNvSpPr>
          <p:nvPr>
            <p:ph type="sldNum" idx="12"/>
          </p:nvPr>
        </p:nvSpPr>
        <p:spPr>
          <a:xfrm>
            <a:off x="11307433" y="6262577"/>
            <a:ext cx="731600" cy="4180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9848369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ank color background">
  <p:cSld name="Blank color background">
    <p:bg>
      <p:bgPr>
        <a:solidFill>
          <a:schemeClr val="accent1"/>
        </a:solidFill>
        <a:effectLst/>
      </p:bgPr>
    </p:bg>
    <p:spTree>
      <p:nvGrpSpPr>
        <p:cNvPr id="1" name="Shape 123"/>
        <p:cNvGrpSpPr/>
        <p:nvPr/>
      </p:nvGrpSpPr>
      <p:grpSpPr>
        <a:xfrm>
          <a:off x="0" y="0"/>
          <a:ext cx="0" cy="0"/>
          <a:chOff x="0" y="0"/>
          <a:chExt cx="0" cy="0"/>
        </a:xfrm>
      </p:grpSpPr>
      <p:sp>
        <p:nvSpPr>
          <p:cNvPr id="124" name="Google Shape;124;p23"/>
          <p:cNvSpPr/>
          <p:nvPr/>
        </p:nvSpPr>
        <p:spPr>
          <a:xfrm>
            <a:off x="9808489" y="6755100"/>
            <a:ext cx="1191600" cy="1028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933"/>
          </a:p>
        </p:txBody>
      </p:sp>
      <p:sp>
        <p:nvSpPr>
          <p:cNvPr id="125" name="Google Shape;125;p23"/>
          <p:cNvSpPr/>
          <p:nvPr/>
        </p:nvSpPr>
        <p:spPr>
          <a:xfrm>
            <a:off x="11000416" y="6755100"/>
            <a:ext cx="1191600" cy="102800"/>
          </a:xfrm>
          <a:prstGeom prst="rect">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933"/>
          </a:p>
        </p:txBody>
      </p:sp>
      <p:sp>
        <p:nvSpPr>
          <p:cNvPr id="126" name="Google Shape;126;p23"/>
          <p:cNvSpPr/>
          <p:nvPr/>
        </p:nvSpPr>
        <p:spPr>
          <a:xfrm>
            <a:off x="-1" y="6755100"/>
            <a:ext cx="1191600" cy="1028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933"/>
          </a:p>
        </p:txBody>
      </p:sp>
      <p:sp>
        <p:nvSpPr>
          <p:cNvPr id="127" name="Google Shape;127;p23"/>
          <p:cNvSpPr/>
          <p:nvPr/>
        </p:nvSpPr>
        <p:spPr>
          <a:xfrm>
            <a:off x="1191613" y="6755100"/>
            <a:ext cx="8616800" cy="102800"/>
          </a:xfrm>
          <a:prstGeom prst="rect">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933"/>
          </a:p>
        </p:txBody>
      </p:sp>
      <p:sp>
        <p:nvSpPr>
          <p:cNvPr id="128" name="Google Shape;128;p23"/>
          <p:cNvSpPr txBox="1">
            <a:spLocks noGrp="1"/>
          </p:cNvSpPr>
          <p:nvPr>
            <p:ph type="sldNum" idx="12"/>
          </p:nvPr>
        </p:nvSpPr>
        <p:spPr>
          <a:xfrm>
            <a:off x="11307433" y="6262577"/>
            <a:ext cx="731600" cy="418000"/>
          </a:xfrm>
          <a:prstGeom prst="rect">
            <a:avLst/>
          </a:prstGeom>
        </p:spPr>
        <p:txBody>
          <a:bodyPr spcFirstLastPara="1" wrap="square" lIns="182850" tIns="182850" rIns="182850" bIns="182850" anchor="t"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9264917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76"/>
        <p:cNvGrpSpPr/>
        <p:nvPr/>
      </p:nvGrpSpPr>
      <p:grpSpPr>
        <a:xfrm>
          <a:off x="0" y="0"/>
          <a:ext cx="0" cy="0"/>
          <a:chOff x="0" y="0"/>
          <a:chExt cx="0" cy="0"/>
        </a:xfrm>
      </p:grpSpPr>
      <p:sp>
        <p:nvSpPr>
          <p:cNvPr id="77" name="Google Shape;77;p17"/>
          <p:cNvSpPr txBox="1">
            <a:spLocks noGrp="1"/>
          </p:cNvSpPr>
          <p:nvPr>
            <p:ph type="title"/>
          </p:nvPr>
        </p:nvSpPr>
        <p:spPr>
          <a:xfrm>
            <a:off x="1191600" y="477851"/>
            <a:ext cx="8616800" cy="1143200"/>
          </a:xfrm>
          <a:prstGeom prst="rect">
            <a:avLst/>
          </a:prstGeom>
        </p:spPr>
        <p:txBody>
          <a:bodyPr spcFirstLastPara="1" wrap="square" lIns="182850" tIns="182850" rIns="182850" bIns="182850" anchor="b" anchorCtr="0">
            <a:noAutofit/>
          </a:bodyPr>
          <a:lstStyle>
            <a:lvl1pPr lvl="0" rtl="0">
              <a:spcBef>
                <a:spcPts val="0"/>
              </a:spcBef>
              <a:spcAft>
                <a:spcPts val="0"/>
              </a:spcAft>
              <a:buSzPts val="6400"/>
              <a:buNone/>
              <a:defRPr/>
            </a:lvl1pPr>
            <a:lvl2pPr lvl="1" rtl="0">
              <a:spcBef>
                <a:spcPts val="0"/>
              </a:spcBef>
              <a:spcAft>
                <a:spcPts val="0"/>
              </a:spcAft>
              <a:buSzPts val="6400"/>
              <a:buNone/>
              <a:defRPr/>
            </a:lvl2pPr>
            <a:lvl3pPr lvl="2" rtl="0">
              <a:spcBef>
                <a:spcPts val="0"/>
              </a:spcBef>
              <a:spcAft>
                <a:spcPts val="0"/>
              </a:spcAft>
              <a:buSzPts val="6400"/>
              <a:buNone/>
              <a:defRPr/>
            </a:lvl3pPr>
            <a:lvl4pPr lvl="3" rtl="0">
              <a:spcBef>
                <a:spcPts val="0"/>
              </a:spcBef>
              <a:spcAft>
                <a:spcPts val="0"/>
              </a:spcAft>
              <a:buSzPts val="6400"/>
              <a:buNone/>
              <a:defRPr/>
            </a:lvl4pPr>
            <a:lvl5pPr lvl="4" rtl="0">
              <a:spcBef>
                <a:spcPts val="0"/>
              </a:spcBef>
              <a:spcAft>
                <a:spcPts val="0"/>
              </a:spcAft>
              <a:buSzPts val="6400"/>
              <a:buNone/>
              <a:defRPr/>
            </a:lvl5pPr>
            <a:lvl6pPr lvl="5" rtl="0">
              <a:spcBef>
                <a:spcPts val="0"/>
              </a:spcBef>
              <a:spcAft>
                <a:spcPts val="0"/>
              </a:spcAft>
              <a:buSzPts val="6400"/>
              <a:buNone/>
              <a:defRPr/>
            </a:lvl6pPr>
            <a:lvl7pPr lvl="6" rtl="0">
              <a:spcBef>
                <a:spcPts val="0"/>
              </a:spcBef>
              <a:spcAft>
                <a:spcPts val="0"/>
              </a:spcAft>
              <a:buSzPts val="6400"/>
              <a:buNone/>
              <a:defRPr/>
            </a:lvl7pPr>
            <a:lvl8pPr lvl="7" rtl="0">
              <a:spcBef>
                <a:spcPts val="0"/>
              </a:spcBef>
              <a:spcAft>
                <a:spcPts val="0"/>
              </a:spcAft>
              <a:buSzPts val="6400"/>
              <a:buNone/>
              <a:defRPr/>
            </a:lvl8pPr>
            <a:lvl9pPr lvl="8" rtl="0">
              <a:spcBef>
                <a:spcPts val="0"/>
              </a:spcBef>
              <a:spcAft>
                <a:spcPts val="0"/>
              </a:spcAft>
              <a:buSzPts val="6400"/>
              <a:buNone/>
              <a:defRPr/>
            </a:lvl9pPr>
          </a:lstStyle>
          <a:p>
            <a:endParaRPr/>
          </a:p>
        </p:txBody>
      </p:sp>
      <p:sp>
        <p:nvSpPr>
          <p:cNvPr id="78" name="Google Shape;78;p17"/>
          <p:cNvSpPr txBox="1">
            <a:spLocks noGrp="1"/>
          </p:cNvSpPr>
          <p:nvPr>
            <p:ph type="body" idx="1"/>
          </p:nvPr>
        </p:nvSpPr>
        <p:spPr>
          <a:xfrm>
            <a:off x="1191600" y="1831451"/>
            <a:ext cx="8616800" cy="4736400"/>
          </a:xfrm>
          <a:prstGeom prst="rect">
            <a:avLst/>
          </a:prstGeom>
        </p:spPr>
        <p:txBody>
          <a:bodyPr spcFirstLastPara="1" wrap="square" lIns="182850" tIns="182850" rIns="182850" bIns="182850" anchor="t" anchorCtr="0">
            <a:noAutofit/>
          </a:bodyPr>
          <a:lstStyle>
            <a:lvl1pPr marL="304792" lvl="0" indent="-304792" rtl="0">
              <a:spcBef>
                <a:spcPts val="800"/>
              </a:spcBef>
              <a:spcAft>
                <a:spcPts val="0"/>
              </a:spcAft>
              <a:buClr>
                <a:schemeClr val="accent6"/>
              </a:buClr>
              <a:buSzPts val="3600"/>
              <a:buChar char="▷"/>
              <a:defRPr>
                <a:solidFill>
                  <a:schemeClr val="dk1"/>
                </a:solidFill>
              </a:defRPr>
            </a:lvl1pPr>
            <a:lvl2pPr marL="609585" lvl="1" indent="-355591" rtl="0">
              <a:spcBef>
                <a:spcPts val="0"/>
              </a:spcBef>
              <a:spcAft>
                <a:spcPts val="0"/>
              </a:spcAft>
              <a:buClr>
                <a:schemeClr val="dk1"/>
              </a:buClr>
              <a:buSzPts val="4800"/>
              <a:buChar char="○"/>
              <a:defRPr>
                <a:solidFill>
                  <a:schemeClr val="dk1"/>
                </a:solidFill>
              </a:defRPr>
            </a:lvl2pPr>
            <a:lvl3pPr marL="914377" lvl="2" indent="-355591" rtl="0">
              <a:spcBef>
                <a:spcPts val="0"/>
              </a:spcBef>
              <a:spcAft>
                <a:spcPts val="0"/>
              </a:spcAft>
              <a:buClr>
                <a:schemeClr val="dk1"/>
              </a:buClr>
              <a:buSzPts val="4800"/>
              <a:buChar char="■"/>
              <a:defRPr>
                <a:solidFill>
                  <a:schemeClr val="dk1"/>
                </a:solidFill>
              </a:defRPr>
            </a:lvl3pPr>
            <a:lvl4pPr marL="1219170" lvl="3" indent="-355591" rtl="0">
              <a:spcBef>
                <a:spcPts val="0"/>
              </a:spcBef>
              <a:spcAft>
                <a:spcPts val="0"/>
              </a:spcAft>
              <a:buClr>
                <a:schemeClr val="dk1"/>
              </a:buClr>
              <a:buSzPts val="4800"/>
              <a:buChar char="●"/>
              <a:defRPr>
                <a:solidFill>
                  <a:schemeClr val="dk1"/>
                </a:solidFill>
              </a:defRPr>
            </a:lvl4pPr>
            <a:lvl5pPr marL="1523962" lvl="4" indent="-355591" rtl="0">
              <a:spcBef>
                <a:spcPts val="0"/>
              </a:spcBef>
              <a:spcAft>
                <a:spcPts val="0"/>
              </a:spcAft>
              <a:buClr>
                <a:schemeClr val="dk1"/>
              </a:buClr>
              <a:buSzPts val="4800"/>
              <a:buChar char="○"/>
              <a:defRPr>
                <a:solidFill>
                  <a:schemeClr val="dk1"/>
                </a:solidFill>
              </a:defRPr>
            </a:lvl5pPr>
            <a:lvl6pPr marL="1828754" lvl="5" indent="-355591" rtl="0">
              <a:spcBef>
                <a:spcPts val="0"/>
              </a:spcBef>
              <a:spcAft>
                <a:spcPts val="0"/>
              </a:spcAft>
              <a:buClr>
                <a:schemeClr val="dk1"/>
              </a:buClr>
              <a:buSzPts val="4800"/>
              <a:buChar char="■"/>
              <a:defRPr>
                <a:solidFill>
                  <a:schemeClr val="dk1"/>
                </a:solidFill>
              </a:defRPr>
            </a:lvl6pPr>
            <a:lvl7pPr marL="2133547" lvl="6" indent="-355591" rtl="0">
              <a:spcBef>
                <a:spcPts val="0"/>
              </a:spcBef>
              <a:spcAft>
                <a:spcPts val="0"/>
              </a:spcAft>
              <a:buClr>
                <a:schemeClr val="dk1"/>
              </a:buClr>
              <a:buSzPts val="4800"/>
              <a:buChar char="●"/>
              <a:defRPr>
                <a:solidFill>
                  <a:schemeClr val="dk1"/>
                </a:solidFill>
              </a:defRPr>
            </a:lvl7pPr>
            <a:lvl8pPr marL="2438339" lvl="7" indent="-355591" rtl="0">
              <a:spcBef>
                <a:spcPts val="0"/>
              </a:spcBef>
              <a:spcAft>
                <a:spcPts val="0"/>
              </a:spcAft>
              <a:buClr>
                <a:schemeClr val="dk1"/>
              </a:buClr>
              <a:buSzPts val="4800"/>
              <a:buChar char="○"/>
              <a:defRPr>
                <a:solidFill>
                  <a:schemeClr val="dk1"/>
                </a:solidFill>
              </a:defRPr>
            </a:lvl8pPr>
            <a:lvl9pPr marL="2743131" lvl="8" indent="-355591" rtl="0">
              <a:spcBef>
                <a:spcPts val="0"/>
              </a:spcBef>
              <a:spcAft>
                <a:spcPts val="0"/>
              </a:spcAft>
              <a:buClr>
                <a:schemeClr val="dk1"/>
              </a:buClr>
              <a:buSzPts val="4800"/>
              <a:buChar char="■"/>
              <a:defRPr>
                <a:solidFill>
                  <a:schemeClr val="dk1"/>
                </a:solidFill>
              </a:defRPr>
            </a:lvl9pPr>
          </a:lstStyle>
          <a:p>
            <a:endParaRPr/>
          </a:p>
        </p:txBody>
      </p:sp>
      <p:sp>
        <p:nvSpPr>
          <p:cNvPr id="79" name="Google Shape;79;p17"/>
          <p:cNvSpPr/>
          <p:nvPr/>
        </p:nvSpPr>
        <p:spPr>
          <a:xfrm>
            <a:off x="9808489" y="6755100"/>
            <a:ext cx="1191600" cy="1028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933"/>
          </a:p>
        </p:txBody>
      </p:sp>
      <p:sp>
        <p:nvSpPr>
          <p:cNvPr id="80" name="Google Shape;80;p17"/>
          <p:cNvSpPr/>
          <p:nvPr/>
        </p:nvSpPr>
        <p:spPr>
          <a:xfrm>
            <a:off x="11000416" y="6755100"/>
            <a:ext cx="1191600" cy="102800"/>
          </a:xfrm>
          <a:prstGeom prst="rect">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933"/>
          </a:p>
        </p:txBody>
      </p:sp>
      <p:sp>
        <p:nvSpPr>
          <p:cNvPr id="81" name="Google Shape;81;p17"/>
          <p:cNvSpPr/>
          <p:nvPr/>
        </p:nvSpPr>
        <p:spPr>
          <a:xfrm>
            <a:off x="-1" y="6755100"/>
            <a:ext cx="1191600" cy="102800"/>
          </a:xfrm>
          <a:prstGeom prst="rect">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933"/>
          </a:p>
        </p:txBody>
      </p:sp>
      <p:sp>
        <p:nvSpPr>
          <p:cNvPr id="82" name="Google Shape;82;p17"/>
          <p:cNvSpPr/>
          <p:nvPr/>
        </p:nvSpPr>
        <p:spPr>
          <a:xfrm>
            <a:off x="1191613" y="6755100"/>
            <a:ext cx="8616800" cy="102800"/>
          </a:xfrm>
          <a:prstGeom prst="rect">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933"/>
          </a:p>
        </p:txBody>
      </p:sp>
      <p:sp>
        <p:nvSpPr>
          <p:cNvPr id="83" name="Google Shape;83;p17"/>
          <p:cNvSpPr txBox="1">
            <a:spLocks noGrp="1"/>
          </p:cNvSpPr>
          <p:nvPr>
            <p:ph type="sldNum" idx="12"/>
          </p:nvPr>
        </p:nvSpPr>
        <p:spPr>
          <a:xfrm>
            <a:off x="11307433" y="6262577"/>
            <a:ext cx="731600" cy="418000"/>
          </a:xfrm>
          <a:prstGeom prst="rect">
            <a:avLst/>
          </a:prstGeom>
        </p:spPr>
        <p:txBody>
          <a:bodyPr spcFirstLastPara="1" wrap="square" lIns="182850" tIns="182850" rIns="182850" bIns="18285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9244129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10"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CE072D-A8AB-859D-0688-2CCFC29A61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A379192-4CA3-08EA-E9B1-38F8D6F841E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CE3F58-3657-6AF8-37E3-701885D362F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C26FFD5-A71D-DB40-821A-D09F45C1FEAB}" type="datetimeFigureOut">
              <a:rPr lang="en-US" smtClean="0"/>
              <a:t>11/28/25</a:t>
            </a:fld>
            <a:endParaRPr lang="en-US"/>
          </a:p>
        </p:txBody>
      </p:sp>
      <p:sp>
        <p:nvSpPr>
          <p:cNvPr id="5" name="Footer Placeholder 4">
            <a:extLst>
              <a:ext uri="{FF2B5EF4-FFF2-40B4-BE49-F238E27FC236}">
                <a16:creationId xmlns:a16="http://schemas.microsoft.com/office/drawing/2014/main" id="{4913AD2C-C3D8-2790-2FDA-7EEFA636D8A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4EAD349-7E0B-E151-28F5-6612DB915DB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87DAE10-1435-4041-A3AA-20D6593AA994}" type="slidenum">
              <a:rPr lang="en-US" smtClean="0"/>
              <a:t>‹#›</a:t>
            </a:fld>
            <a:endParaRPr lang="en-US"/>
          </a:p>
        </p:txBody>
      </p:sp>
    </p:spTree>
    <p:extLst>
      <p:ext uri="{BB962C8B-B14F-4D97-AF65-F5344CB8AC3E}">
        <p14:creationId xmlns:p14="http://schemas.microsoft.com/office/powerpoint/2010/main" val="2383220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1191600" y="477851"/>
            <a:ext cx="8616800" cy="1143200"/>
          </a:xfrm>
          <a:prstGeom prst="rect">
            <a:avLst/>
          </a:prstGeom>
          <a:noFill/>
          <a:ln>
            <a:noFill/>
          </a:ln>
        </p:spPr>
        <p:txBody>
          <a:bodyPr spcFirstLastPara="1" wrap="square" lIns="91425" tIns="91425" rIns="91425" bIns="91425" anchor="b" anchorCtr="0">
            <a:noAutofit/>
          </a:bodyPr>
          <a:lstStyle>
            <a:lvl1pPr lvl="0" rtl="0">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1pPr>
            <a:lvl2pPr lvl="1" rtl="0">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2pPr>
            <a:lvl3pPr lvl="2" rtl="0">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3pPr>
            <a:lvl4pPr lvl="3" rtl="0">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4pPr>
            <a:lvl5pPr lvl="4" rtl="0">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5pPr>
            <a:lvl6pPr lvl="5" rtl="0">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6pPr>
            <a:lvl7pPr lvl="6" rtl="0">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7pPr>
            <a:lvl8pPr lvl="7" rtl="0">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8pPr>
            <a:lvl9pPr lvl="8" rtl="0">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9pPr>
          </a:lstStyle>
          <a:p>
            <a:endParaRPr/>
          </a:p>
        </p:txBody>
      </p:sp>
      <p:sp>
        <p:nvSpPr>
          <p:cNvPr id="52" name="Google Shape;52;p13"/>
          <p:cNvSpPr txBox="1">
            <a:spLocks noGrp="1"/>
          </p:cNvSpPr>
          <p:nvPr>
            <p:ph type="body" idx="1"/>
          </p:nvPr>
        </p:nvSpPr>
        <p:spPr>
          <a:xfrm>
            <a:off x="1191600" y="1831451"/>
            <a:ext cx="8616800" cy="4736400"/>
          </a:xfrm>
          <a:prstGeom prst="rect">
            <a:avLst/>
          </a:prstGeom>
          <a:noFill/>
          <a:ln>
            <a:noFill/>
          </a:ln>
        </p:spPr>
        <p:txBody>
          <a:bodyPr spcFirstLastPara="1" wrap="square" lIns="91425" tIns="91425" rIns="91425" bIns="91425" anchor="t" anchorCtr="0">
            <a:noAutofit/>
          </a:bodyPr>
          <a:lstStyle>
            <a:lvl1pPr marL="457200" lvl="0" indent="-381000" rtl="0">
              <a:spcBef>
                <a:spcPts val="600"/>
              </a:spcBef>
              <a:spcAft>
                <a:spcPts val="0"/>
              </a:spcAft>
              <a:buClr>
                <a:schemeClr val="accent6"/>
              </a:buClr>
              <a:buSzPts val="2400"/>
              <a:buFont typeface="Lato"/>
              <a:buChar char="▷"/>
              <a:defRPr sz="2400">
                <a:solidFill>
                  <a:schemeClr val="dk1"/>
                </a:solidFill>
                <a:latin typeface="Lato"/>
                <a:ea typeface="Lato"/>
                <a:cs typeface="Lato"/>
                <a:sym typeface="Lato"/>
              </a:defRPr>
            </a:lvl1pPr>
            <a:lvl2pPr marL="914400" lvl="1" indent="-381000" rtl="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2pPr>
            <a:lvl3pPr marL="1371600" lvl="2" indent="-381000" rtl="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3pPr>
            <a:lvl4pPr marL="1828800" lvl="3" indent="-381000" rtl="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4pPr>
            <a:lvl5pPr marL="2286000" lvl="4" indent="-381000" rtl="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5pPr>
            <a:lvl6pPr marL="2743200" lvl="5" indent="-381000" rtl="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6pPr>
            <a:lvl7pPr marL="3200400" lvl="6" indent="-381000" rtl="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7pPr>
            <a:lvl8pPr marL="3657600" lvl="7" indent="-381000" rtl="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8pPr>
            <a:lvl9pPr marL="4114800" lvl="8" indent="-381000" rtl="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9pPr>
          </a:lstStyle>
          <a:p>
            <a:endParaRPr/>
          </a:p>
        </p:txBody>
      </p:sp>
      <p:sp>
        <p:nvSpPr>
          <p:cNvPr id="53" name="Google Shape;53;p13"/>
          <p:cNvSpPr txBox="1">
            <a:spLocks noGrp="1"/>
          </p:cNvSpPr>
          <p:nvPr>
            <p:ph type="sldNum" idx="12"/>
          </p:nvPr>
        </p:nvSpPr>
        <p:spPr>
          <a:xfrm>
            <a:off x="11307433" y="6262577"/>
            <a:ext cx="731600" cy="418000"/>
          </a:xfrm>
          <a:prstGeom prst="rect">
            <a:avLst/>
          </a:prstGeom>
          <a:noFill/>
          <a:ln>
            <a:noFill/>
          </a:ln>
        </p:spPr>
        <p:txBody>
          <a:bodyPr spcFirstLastPara="1" wrap="square" lIns="91425" tIns="91425" rIns="91425" bIns="91425" anchor="t" anchorCtr="0">
            <a:noAutofit/>
          </a:bodyPr>
          <a:lstStyle>
            <a:lvl1pPr lvl="0" algn="r" rtl="0">
              <a:buNone/>
              <a:defRPr sz="1733">
                <a:solidFill>
                  <a:schemeClr val="accent6"/>
                </a:solidFill>
                <a:latin typeface="Lato"/>
                <a:ea typeface="Lato"/>
                <a:cs typeface="Lato"/>
                <a:sym typeface="Lato"/>
              </a:defRPr>
            </a:lvl1pPr>
            <a:lvl2pPr lvl="1" algn="r" rtl="0">
              <a:buNone/>
              <a:defRPr sz="1733">
                <a:solidFill>
                  <a:schemeClr val="accent6"/>
                </a:solidFill>
                <a:latin typeface="Lato"/>
                <a:ea typeface="Lato"/>
                <a:cs typeface="Lato"/>
                <a:sym typeface="Lato"/>
              </a:defRPr>
            </a:lvl2pPr>
            <a:lvl3pPr lvl="2" algn="r" rtl="0">
              <a:buNone/>
              <a:defRPr sz="1733">
                <a:solidFill>
                  <a:schemeClr val="accent6"/>
                </a:solidFill>
                <a:latin typeface="Lato"/>
                <a:ea typeface="Lato"/>
                <a:cs typeface="Lato"/>
                <a:sym typeface="Lato"/>
              </a:defRPr>
            </a:lvl3pPr>
            <a:lvl4pPr lvl="3" algn="r" rtl="0">
              <a:buNone/>
              <a:defRPr sz="1733">
                <a:solidFill>
                  <a:schemeClr val="accent6"/>
                </a:solidFill>
                <a:latin typeface="Lato"/>
                <a:ea typeface="Lato"/>
                <a:cs typeface="Lato"/>
                <a:sym typeface="Lato"/>
              </a:defRPr>
            </a:lvl4pPr>
            <a:lvl5pPr lvl="4" algn="r" rtl="0">
              <a:buNone/>
              <a:defRPr sz="1733">
                <a:solidFill>
                  <a:schemeClr val="accent6"/>
                </a:solidFill>
                <a:latin typeface="Lato"/>
                <a:ea typeface="Lato"/>
                <a:cs typeface="Lato"/>
                <a:sym typeface="Lato"/>
              </a:defRPr>
            </a:lvl5pPr>
            <a:lvl6pPr lvl="5" algn="r" rtl="0">
              <a:buNone/>
              <a:defRPr sz="1733">
                <a:solidFill>
                  <a:schemeClr val="accent6"/>
                </a:solidFill>
                <a:latin typeface="Lato"/>
                <a:ea typeface="Lato"/>
                <a:cs typeface="Lato"/>
                <a:sym typeface="Lato"/>
              </a:defRPr>
            </a:lvl6pPr>
            <a:lvl7pPr lvl="6" algn="r" rtl="0">
              <a:buNone/>
              <a:defRPr sz="1733">
                <a:solidFill>
                  <a:schemeClr val="accent6"/>
                </a:solidFill>
                <a:latin typeface="Lato"/>
                <a:ea typeface="Lato"/>
                <a:cs typeface="Lato"/>
                <a:sym typeface="Lato"/>
              </a:defRPr>
            </a:lvl7pPr>
            <a:lvl8pPr lvl="7" algn="r" rtl="0">
              <a:buNone/>
              <a:defRPr sz="1733">
                <a:solidFill>
                  <a:schemeClr val="accent6"/>
                </a:solidFill>
                <a:latin typeface="Lato"/>
                <a:ea typeface="Lato"/>
                <a:cs typeface="Lato"/>
                <a:sym typeface="Lato"/>
              </a:defRPr>
            </a:lvl8pPr>
            <a:lvl9pPr lvl="8" algn="r" rtl="0">
              <a:buNone/>
              <a:defRPr sz="1733">
                <a:solidFill>
                  <a:schemeClr val="accent6"/>
                </a:solidFill>
                <a:latin typeface="Lato"/>
                <a:ea typeface="Lato"/>
                <a:cs typeface="Lato"/>
                <a:sym typeface="Lato"/>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128646450"/>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transition>
    <p:fade thruBlk="1"/>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9.xml"/><Relationship Id="rId1" Type="http://schemas.openxmlformats.org/officeDocument/2006/relationships/slideLayout" Target="../slideLayouts/slideLayout20.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3.xml"/><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0.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5"/>
          <p:cNvSpPr txBox="1">
            <a:spLocks noGrp="1"/>
          </p:cNvSpPr>
          <p:nvPr>
            <p:ph type="ctrTitle"/>
          </p:nvPr>
        </p:nvSpPr>
        <p:spPr>
          <a:xfrm>
            <a:off x="1" y="1953835"/>
            <a:ext cx="12191999" cy="1352974"/>
          </a:xfrm>
          <a:prstGeom prst="rect">
            <a:avLst/>
          </a:prstGeom>
        </p:spPr>
        <p:txBody>
          <a:bodyPr spcFirstLastPara="1" wrap="square" lIns="121900" tIns="121900" rIns="121900" bIns="121900" anchor="t" anchorCtr="0">
            <a:noAutofit/>
          </a:bodyPr>
          <a:lstStyle/>
          <a:p>
            <a:r>
              <a:rPr lang="en-US" sz="4000" b="1" dirty="0"/>
              <a:t>Optimization and tradeoff analysis of </a:t>
            </a:r>
            <a:br>
              <a:rPr lang="en-US" sz="4000" b="1" dirty="0"/>
            </a:br>
            <a:r>
              <a:rPr lang="en-US" sz="4000" b="1" dirty="0"/>
              <a:t>tumor mechanics models</a:t>
            </a:r>
            <a:r>
              <a:rPr lang="en-US" sz="4000" dirty="0"/>
              <a:t> </a:t>
            </a:r>
            <a:endParaRPr lang="en-US" sz="3733" dirty="0">
              <a:solidFill>
                <a:schemeClr val="accent1"/>
              </a:solidFill>
              <a:latin typeface="Raleway" pitchFamily="2" charset="77"/>
              <a:ea typeface="Times New Roman" panose="02020603050405020304" pitchFamily="18" charset="0"/>
            </a:endParaRPr>
          </a:p>
        </p:txBody>
      </p:sp>
      <p:sp>
        <p:nvSpPr>
          <p:cNvPr id="140" name="Google Shape;140;p25"/>
          <p:cNvSpPr txBox="1">
            <a:spLocks noGrp="1"/>
          </p:cNvSpPr>
          <p:nvPr>
            <p:ph type="body" idx="4294967295"/>
          </p:nvPr>
        </p:nvSpPr>
        <p:spPr>
          <a:xfrm>
            <a:off x="4178033" y="3470800"/>
            <a:ext cx="5763600" cy="1293600"/>
          </a:xfrm>
          <a:prstGeom prst="rect">
            <a:avLst/>
          </a:prstGeom>
        </p:spPr>
        <p:txBody>
          <a:bodyPr spcFirstLastPara="1" wrap="square" lIns="121900" tIns="121900" rIns="121900" bIns="121900" anchor="t" anchorCtr="0">
            <a:noAutofit/>
          </a:bodyPr>
          <a:lstStyle/>
          <a:p>
            <a:pPr marL="0" indent="0" algn="r">
              <a:spcBef>
                <a:spcPts val="0"/>
              </a:spcBef>
              <a:buNone/>
            </a:pPr>
            <a:r>
              <a:rPr lang="en" sz="3467" dirty="0">
                <a:solidFill>
                  <a:schemeClr val="accent1"/>
                </a:solidFill>
                <a:latin typeface="Raleway"/>
                <a:ea typeface="Raleway"/>
                <a:cs typeface="Raleway"/>
                <a:sym typeface="Raleway"/>
              </a:rPr>
              <a:t>Tarini Thiagarajan</a:t>
            </a:r>
            <a:endParaRPr sz="3467" dirty="0">
              <a:solidFill>
                <a:schemeClr val="accent1"/>
              </a:solidFill>
              <a:latin typeface="Raleway"/>
              <a:ea typeface="Raleway"/>
              <a:cs typeface="Raleway"/>
              <a:sym typeface="Raleway"/>
            </a:endParaRPr>
          </a:p>
          <a:p>
            <a:pPr marL="0" indent="0" algn="r">
              <a:spcBef>
                <a:spcPts val="0"/>
              </a:spcBef>
              <a:buNone/>
            </a:pPr>
            <a:r>
              <a:rPr lang="en" dirty="0">
                <a:solidFill>
                  <a:schemeClr val="accent1"/>
                </a:solidFill>
                <a:latin typeface="Raleway"/>
                <a:ea typeface="Raleway"/>
                <a:cs typeface="Raleway"/>
                <a:sym typeface="Raleway"/>
              </a:rPr>
              <a:t>3</a:t>
            </a:r>
            <a:r>
              <a:rPr lang="en" baseline="30000" dirty="0">
                <a:solidFill>
                  <a:schemeClr val="accent1"/>
                </a:solidFill>
                <a:latin typeface="Raleway"/>
                <a:ea typeface="Raleway"/>
                <a:cs typeface="Raleway"/>
                <a:sym typeface="Raleway"/>
              </a:rPr>
              <a:t>rd</a:t>
            </a:r>
            <a:r>
              <a:rPr lang="en" dirty="0">
                <a:solidFill>
                  <a:schemeClr val="accent1"/>
                </a:solidFill>
                <a:latin typeface="Raleway"/>
                <a:ea typeface="Raleway"/>
                <a:cs typeface="Raleway"/>
                <a:sym typeface="Raleway"/>
              </a:rPr>
              <a:t> year PhD student, CSEM program</a:t>
            </a:r>
            <a:endParaRPr dirty="0">
              <a:solidFill>
                <a:schemeClr val="accent1"/>
              </a:solidFill>
              <a:latin typeface="Raleway"/>
              <a:ea typeface="Raleway"/>
              <a:cs typeface="Raleway"/>
              <a:sym typeface="Raleway"/>
            </a:endParaRPr>
          </a:p>
        </p:txBody>
      </p:sp>
      <p:sp>
        <p:nvSpPr>
          <p:cNvPr id="141" name="Google Shape;141;p25"/>
          <p:cNvSpPr txBox="1"/>
          <p:nvPr/>
        </p:nvSpPr>
        <p:spPr>
          <a:xfrm>
            <a:off x="50274" y="1682997"/>
            <a:ext cx="3094074" cy="430833"/>
          </a:xfrm>
          <a:prstGeom prst="rect">
            <a:avLst/>
          </a:prstGeom>
          <a:noFill/>
          <a:ln>
            <a:noFill/>
          </a:ln>
        </p:spPr>
        <p:txBody>
          <a:bodyPr spcFirstLastPara="1" wrap="square" lIns="121900" tIns="60933" rIns="121900" bIns="60933" anchor="t" anchorCtr="0">
            <a:spAutoFit/>
          </a:bodyPr>
          <a:lstStyle/>
          <a:p>
            <a:pPr defTabSz="1219170">
              <a:buClr>
                <a:srgbClr val="000000"/>
              </a:buClr>
            </a:pPr>
            <a:r>
              <a:rPr lang="en" sz="2000" kern="0" dirty="0">
                <a:solidFill>
                  <a:srgbClr val="2185C5"/>
                </a:solidFill>
                <a:latin typeface="Raleway"/>
                <a:ea typeface="Raleway"/>
                <a:cs typeface="Raleway"/>
                <a:sym typeface="Raleway"/>
              </a:rPr>
              <a:t>December 2nd, 2025</a:t>
            </a:r>
            <a:endParaRPr sz="2000" kern="0" dirty="0">
              <a:solidFill>
                <a:srgbClr val="2185C5"/>
              </a:solidFill>
              <a:latin typeface="Raleway"/>
              <a:ea typeface="Raleway"/>
              <a:cs typeface="Raleway"/>
              <a:sym typeface="Raleway"/>
            </a:endParaRPr>
          </a:p>
        </p:txBody>
      </p:sp>
      <p:sp>
        <p:nvSpPr>
          <p:cNvPr id="142" name="Google Shape;142;p25"/>
          <p:cNvSpPr/>
          <p:nvPr/>
        </p:nvSpPr>
        <p:spPr>
          <a:xfrm rot="-5400000">
            <a:off x="6046000" y="-6064767"/>
            <a:ext cx="100000" cy="12230000"/>
          </a:xfrm>
          <a:prstGeom prst="rect">
            <a:avLst/>
          </a:prstGeom>
          <a:solidFill>
            <a:srgbClr val="FF9900"/>
          </a:solidFill>
          <a:ln>
            <a:noFill/>
          </a:ln>
        </p:spPr>
        <p:txBody>
          <a:bodyPr spcFirstLastPara="1" wrap="square" lIns="121900" tIns="60933" rIns="121900" bIns="60933" anchor="ctr" anchorCtr="0">
            <a:noAutofit/>
          </a:bodyPr>
          <a:lstStyle/>
          <a:p>
            <a:pPr algn="ctr" defTabSz="1219170">
              <a:buClr>
                <a:srgbClr val="000000"/>
              </a:buClr>
            </a:pPr>
            <a:endParaRPr sz="2400" kern="0">
              <a:solidFill>
                <a:srgbClr val="FFFFFF"/>
              </a:solidFill>
              <a:latin typeface="Arial"/>
              <a:ea typeface="Arial"/>
              <a:cs typeface="Arial"/>
              <a:sym typeface="Arial"/>
            </a:endParaRPr>
          </a:p>
        </p:txBody>
      </p:sp>
      <p:sp>
        <p:nvSpPr>
          <p:cNvPr id="143" name="Google Shape;143;p25"/>
          <p:cNvSpPr/>
          <p:nvPr/>
        </p:nvSpPr>
        <p:spPr>
          <a:xfrm rot="-5400000">
            <a:off x="5127367" y="-4172967"/>
            <a:ext cx="100000" cy="8446400"/>
          </a:xfrm>
          <a:prstGeom prst="rect">
            <a:avLst/>
          </a:prstGeom>
          <a:solidFill>
            <a:schemeClr val="dk2"/>
          </a:solidFill>
          <a:ln>
            <a:noFill/>
          </a:ln>
        </p:spPr>
        <p:txBody>
          <a:bodyPr spcFirstLastPara="1" wrap="square" lIns="121900" tIns="60933" rIns="121900" bIns="60933" anchor="ctr" anchorCtr="0">
            <a:noAutofit/>
          </a:bodyPr>
          <a:lstStyle/>
          <a:p>
            <a:pPr algn="ctr" defTabSz="1219170">
              <a:buClr>
                <a:srgbClr val="000000"/>
              </a:buClr>
            </a:pPr>
            <a:endParaRPr sz="2400" kern="0">
              <a:solidFill>
                <a:srgbClr val="FFFFFF"/>
              </a:solidFill>
              <a:latin typeface="Arial"/>
              <a:ea typeface="Arial"/>
              <a:cs typeface="Arial"/>
              <a:sym typeface="Arial"/>
            </a:endParaRPr>
          </a:p>
        </p:txBody>
      </p:sp>
      <p:sp>
        <p:nvSpPr>
          <p:cNvPr id="144" name="Google Shape;144;p25"/>
          <p:cNvSpPr/>
          <p:nvPr/>
        </p:nvSpPr>
        <p:spPr>
          <a:xfrm rot="-5400000">
            <a:off x="427200" y="-445967"/>
            <a:ext cx="100000" cy="992400"/>
          </a:xfrm>
          <a:prstGeom prst="rect">
            <a:avLst/>
          </a:prstGeom>
          <a:solidFill>
            <a:schemeClr val="accent2"/>
          </a:solidFill>
          <a:ln>
            <a:noFill/>
          </a:ln>
        </p:spPr>
        <p:txBody>
          <a:bodyPr spcFirstLastPara="1" wrap="square" lIns="121900" tIns="60933" rIns="121900" bIns="60933" anchor="ctr" anchorCtr="0">
            <a:noAutofit/>
          </a:bodyPr>
          <a:lstStyle/>
          <a:p>
            <a:pPr algn="ctr" defTabSz="1219170">
              <a:buClr>
                <a:srgbClr val="000000"/>
              </a:buClr>
            </a:pPr>
            <a:endParaRPr sz="2400" kern="0">
              <a:solidFill>
                <a:srgbClr val="FFFFFF"/>
              </a:solidFill>
              <a:latin typeface="Arial"/>
              <a:ea typeface="Arial"/>
              <a:cs typeface="Arial"/>
              <a:sym typeface="Arial"/>
            </a:endParaRPr>
          </a:p>
        </p:txBody>
      </p:sp>
      <p:sp>
        <p:nvSpPr>
          <p:cNvPr id="145" name="Google Shape;145;p25"/>
          <p:cNvSpPr/>
          <p:nvPr/>
        </p:nvSpPr>
        <p:spPr>
          <a:xfrm rot="-5400000">
            <a:off x="11658100" y="-433767"/>
            <a:ext cx="100000" cy="968000"/>
          </a:xfrm>
          <a:prstGeom prst="rect">
            <a:avLst/>
          </a:prstGeom>
          <a:solidFill>
            <a:schemeClr val="accent3"/>
          </a:solidFill>
          <a:ln>
            <a:noFill/>
          </a:ln>
        </p:spPr>
        <p:txBody>
          <a:bodyPr spcFirstLastPara="1" wrap="square" lIns="121900" tIns="60933" rIns="121900" bIns="60933" anchor="ctr" anchorCtr="0">
            <a:noAutofit/>
          </a:bodyPr>
          <a:lstStyle/>
          <a:p>
            <a:pPr algn="ctr" defTabSz="1219170">
              <a:buClr>
                <a:srgbClr val="000000"/>
              </a:buClr>
            </a:pPr>
            <a:endParaRPr sz="2400" kern="0">
              <a:solidFill>
                <a:srgbClr val="FFFFFF"/>
              </a:solidFill>
              <a:latin typeface="Arial"/>
              <a:ea typeface="Arial"/>
              <a:cs typeface="Arial"/>
              <a:sym typeface="Arial"/>
            </a:endParaRPr>
          </a:p>
        </p:txBody>
      </p:sp>
      <p:pic>
        <p:nvPicPr>
          <p:cNvPr id="1026" name="Picture 2" descr="Tarini Thiagarajan">
            <a:extLst>
              <a:ext uri="{FF2B5EF4-FFF2-40B4-BE49-F238E27FC236}">
                <a16:creationId xmlns:a16="http://schemas.microsoft.com/office/drawing/2014/main" id="{620EABB5-8623-501D-2C20-CC212E627F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0322" y="4101248"/>
            <a:ext cx="2695341" cy="1828498"/>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pic>
        <p:nvPicPr>
          <p:cNvPr id="2" name="Picture 2" descr="computational sciences to Texas">
            <a:extLst>
              <a:ext uri="{FF2B5EF4-FFF2-40B4-BE49-F238E27FC236}">
                <a16:creationId xmlns:a16="http://schemas.microsoft.com/office/drawing/2014/main" id="{0432EC29-A185-87EF-D3A2-9125289304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18954" y="5929746"/>
            <a:ext cx="1936652" cy="817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8B5D22C4-E6B8-A9F9-6EB0-02072D36C19F}"/>
            </a:ext>
          </a:extLst>
        </p:cNvPr>
        <p:cNvGrpSpPr/>
        <p:nvPr/>
      </p:nvGrpSpPr>
      <p:grpSpPr>
        <a:xfrm>
          <a:off x="0" y="0"/>
          <a:ext cx="0" cy="0"/>
          <a:chOff x="0" y="0"/>
          <a:chExt cx="0" cy="0"/>
        </a:xfrm>
      </p:grpSpPr>
      <p:sp>
        <p:nvSpPr>
          <p:cNvPr id="164" name="Google Shape;164;p28">
            <a:extLst>
              <a:ext uri="{FF2B5EF4-FFF2-40B4-BE49-F238E27FC236}">
                <a16:creationId xmlns:a16="http://schemas.microsoft.com/office/drawing/2014/main" id="{522CF39D-F5AD-E11C-411D-C1CBB10A399C}"/>
              </a:ext>
            </a:extLst>
          </p:cNvPr>
          <p:cNvSpPr txBox="1"/>
          <p:nvPr/>
        </p:nvSpPr>
        <p:spPr>
          <a:xfrm>
            <a:off x="609600" y="1051601"/>
            <a:ext cx="10972800" cy="4786911"/>
          </a:xfrm>
          <a:prstGeom prst="rect">
            <a:avLst/>
          </a:prstGeom>
          <a:noFill/>
          <a:ln>
            <a:noFill/>
          </a:ln>
        </p:spPr>
        <p:txBody>
          <a:bodyPr spcFirstLastPara="1" wrap="square" lIns="121900" tIns="121900" rIns="121900" bIns="121900" anchor="t" anchorCtr="0">
            <a:spAutoFit/>
          </a:bodyPr>
          <a:lstStyle/>
          <a:p>
            <a:pPr marL="609585" indent="-465655" defTabSz="1219170">
              <a:lnSpc>
                <a:spcPct val="115000"/>
              </a:lnSpc>
              <a:spcAft>
                <a:spcPts val="800"/>
              </a:spcAft>
              <a:buClr>
                <a:srgbClr val="434343"/>
              </a:buClr>
              <a:buSzPct val="100000"/>
              <a:buFont typeface="Lato"/>
              <a:buChar char="▷"/>
            </a:pPr>
            <a:r>
              <a:rPr lang="en-US" sz="2400" b="1" kern="0" dirty="0">
                <a:solidFill>
                  <a:schemeClr val="tx2">
                    <a:lumMod val="10000"/>
                  </a:schemeClr>
                </a:solidFill>
                <a:latin typeface="Lato"/>
                <a:ea typeface="Lato"/>
                <a:cs typeface="Lato"/>
                <a:sym typeface="Lato"/>
              </a:rPr>
              <a:t>Problem: </a:t>
            </a:r>
            <a:r>
              <a:rPr lang="en-US" sz="2400" kern="0" dirty="0">
                <a:solidFill>
                  <a:schemeClr val="tx2">
                    <a:lumMod val="10000"/>
                  </a:schemeClr>
                </a:solidFill>
                <a:latin typeface="Lato"/>
                <a:ea typeface="Lato"/>
                <a:cs typeface="Lato"/>
                <a:sym typeface="Lato"/>
              </a:rPr>
              <a:t>Mechanics solves are expensive; ROMs reduce cost but require training.</a:t>
            </a:r>
          </a:p>
          <a:p>
            <a:pPr marL="609585" indent="-465655" defTabSz="1219170">
              <a:lnSpc>
                <a:spcPct val="115000"/>
              </a:lnSpc>
              <a:spcAft>
                <a:spcPts val="800"/>
              </a:spcAft>
              <a:buClr>
                <a:srgbClr val="434343"/>
              </a:buClr>
              <a:buSzPct val="100000"/>
              <a:buFont typeface="Lato"/>
              <a:buChar char="▷"/>
            </a:pPr>
            <a:r>
              <a:rPr lang="en-US" sz="2400" b="1" kern="0" dirty="0">
                <a:solidFill>
                  <a:schemeClr val="tx2">
                    <a:lumMod val="10000"/>
                  </a:schemeClr>
                </a:solidFill>
                <a:latin typeface="Lato"/>
                <a:ea typeface="Lato"/>
                <a:cs typeface="Lato"/>
                <a:sym typeface="Lato"/>
              </a:rPr>
              <a:t>Question: </a:t>
            </a:r>
            <a:r>
              <a:rPr lang="en-US" sz="2400" kern="0" dirty="0">
                <a:solidFill>
                  <a:schemeClr val="tx2">
                    <a:lumMod val="10000"/>
                  </a:schemeClr>
                </a:solidFill>
                <a:latin typeface="Lato"/>
                <a:ea typeface="Lato"/>
                <a:cs typeface="Lato"/>
                <a:sym typeface="Lato"/>
              </a:rPr>
              <a:t>Can simple computational tools push FOM close to ROM performance?</a:t>
            </a:r>
          </a:p>
          <a:p>
            <a:pPr marL="609585" indent="-465655" defTabSz="1219170">
              <a:lnSpc>
                <a:spcPct val="115000"/>
              </a:lnSpc>
              <a:spcAft>
                <a:spcPts val="800"/>
              </a:spcAft>
              <a:buClr>
                <a:srgbClr val="434343"/>
              </a:buClr>
              <a:buSzPct val="100000"/>
              <a:buFont typeface="Lato"/>
              <a:buChar char="▷"/>
            </a:pPr>
            <a:r>
              <a:rPr lang="en-US" sz="2400" b="1" kern="0" dirty="0">
                <a:solidFill>
                  <a:schemeClr val="tx2">
                    <a:lumMod val="10000"/>
                  </a:schemeClr>
                </a:solidFill>
                <a:latin typeface="Lato"/>
                <a:ea typeface="Lato"/>
                <a:cs typeface="Lato"/>
                <a:sym typeface="Lato"/>
              </a:rPr>
              <a:t>Objectives: </a:t>
            </a:r>
          </a:p>
          <a:p>
            <a:pPr marL="1066785" lvl="1" indent="-465655" defTabSz="1219170">
              <a:lnSpc>
                <a:spcPct val="115000"/>
              </a:lnSpc>
              <a:spcAft>
                <a:spcPts val="800"/>
              </a:spcAft>
              <a:buClr>
                <a:srgbClr val="434343"/>
              </a:buClr>
              <a:buSzPct val="100000"/>
              <a:buFont typeface="+mj-lt"/>
              <a:buAutoNum type="arabicPeriod"/>
            </a:pPr>
            <a:r>
              <a:rPr lang="en-US" sz="2400" kern="0" dirty="0">
                <a:solidFill>
                  <a:schemeClr val="tx2">
                    <a:lumMod val="10000"/>
                  </a:schemeClr>
                </a:solidFill>
                <a:latin typeface="Lato"/>
                <a:ea typeface="Lato"/>
                <a:cs typeface="Lato"/>
                <a:sym typeface="Lato"/>
              </a:rPr>
              <a:t>Build mechanics pipeline using simulated breast cancer patient data</a:t>
            </a:r>
          </a:p>
          <a:p>
            <a:pPr marL="1066785" lvl="1" indent="-465655" defTabSz="1219170">
              <a:lnSpc>
                <a:spcPct val="115000"/>
              </a:lnSpc>
              <a:spcAft>
                <a:spcPts val="800"/>
              </a:spcAft>
              <a:buClr>
                <a:srgbClr val="434343"/>
              </a:buClr>
              <a:buSzPct val="100000"/>
              <a:buFont typeface="+mj-lt"/>
              <a:buAutoNum type="arabicPeriod"/>
            </a:pPr>
            <a:r>
              <a:rPr lang="en-US" sz="2400" kern="0" dirty="0">
                <a:solidFill>
                  <a:schemeClr val="tx2">
                    <a:lumMod val="10000"/>
                  </a:schemeClr>
                </a:solidFill>
                <a:latin typeface="Lato"/>
                <a:ea typeface="Lato"/>
                <a:cs typeface="Lato"/>
                <a:sym typeface="Lato"/>
              </a:rPr>
              <a:t>Verify correctness</a:t>
            </a:r>
          </a:p>
          <a:p>
            <a:pPr marL="1066785" lvl="1" indent="-465655" defTabSz="1219170">
              <a:lnSpc>
                <a:spcPct val="115000"/>
              </a:lnSpc>
              <a:spcAft>
                <a:spcPts val="800"/>
              </a:spcAft>
              <a:buClr>
                <a:srgbClr val="434343"/>
              </a:buClr>
              <a:buSzPct val="100000"/>
              <a:buFont typeface="+mj-lt"/>
              <a:buAutoNum type="arabicPeriod"/>
            </a:pPr>
            <a:r>
              <a:rPr lang="en-US" sz="2400" kern="0" dirty="0">
                <a:solidFill>
                  <a:schemeClr val="tx2">
                    <a:lumMod val="10000"/>
                  </a:schemeClr>
                </a:solidFill>
                <a:latin typeface="Lato"/>
                <a:ea typeface="Lato"/>
                <a:cs typeface="Lato"/>
                <a:sym typeface="Lato"/>
              </a:rPr>
              <a:t>Profile performance</a:t>
            </a:r>
          </a:p>
          <a:p>
            <a:pPr marL="1066785" lvl="1" indent="-465655" defTabSz="1219170">
              <a:lnSpc>
                <a:spcPct val="115000"/>
              </a:lnSpc>
              <a:spcAft>
                <a:spcPts val="800"/>
              </a:spcAft>
              <a:buClr>
                <a:srgbClr val="434343"/>
              </a:buClr>
              <a:buSzPct val="100000"/>
              <a:buFont typeface="+mj-lt"/>
              <a:buAutoNum type="arabicPeriod"/>
            </a:pPr>
            <a:r>
              <a:rPr lang="en-US" sz="2400" kern="0" dirty="0">
                <a:solidFill>
                  <a:schemeClr val="tx2">
                    <a:lumMod val="10000"/>
                  </a:schemeClr>
                </a:solidFill>
                <a:latin typeface="Lato"/>
                <a:ea typeface="Lato"/>
                <a:cs typeface="Lato"/>
                <a:sym typeface="Lato"/>
              </a:rPr>
              <a:t>Test subsampling and LU-once optimization</a:t>
            </a:r>
          </a:p>
        </p:txBody>
      </p:sp>
      <p:sp>
        <p:nvSpPr>
          <p:cNvPr id="4" name="Google Shape;157;p27">
            <a:extLst>
              <a:ext uri="{FF2B5EF4-FFF2-40B4-BE49-F238E27FC236}">
                <a16:creationId xmlns:a16="http://schemas.microsoft.com/office/drawing/2014/main" id="{1C104E60-9794-CDBC-69FF-FEDAED0337D3}"/>
              </a:ext>
            </a:extLst>
          </p:cNvPr>
          <p:cNvSpPr txBox="1">
            <a:spLocks/>
          </p:cNvSpPr>
          <p:nvPr/>
        </p:nvSpPr>
        <p:spPr>
          <a:xfrm>
            <a:off x="0" y="0"/>
            <a:ext cx="12192000" cy="1051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chemeClr val="accent6"/>
              </a:buClr>
              <a:buSzPts val="2400"/>
              <a:buFont typeface="Lato"/>
              <a:buChar char="▷"/>
              <a:defRPr sz="2400" b="0" i="0" u="none" strike="noStrike" cap="none">
                <a:solidFill>
                  <a:schemeClr val="dk1"/>
                </a:solidFill>
                <a:latin typeface="Lato"/>
                <a:ea typeface="Lato"/>
                <a:cs typeface="Lato"/>
                <a:sym typeface="Lato"/>
              </a:defRPr>
            </a:lvl1pPr>
            <a:lvl2pPr marL="914400" marR="0" lvl="1"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2pPr>
            <a:lvl3pPr marL="1371600" marR="0" lvl="2"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3pPr>
            <a:lvl4pPr marL="1828800" marR="0" lvl="3"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4pPr>
            <a:lvl5pPr marL="2286000" marR="0" lvl="4"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5pPr>
            <a:lvl6pPr marL="2743200" marR="0" lvl="5"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6pPr>
            <a:lvl7pPr marL="3200400" marR="0" lvl="6"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7pPr>
            <a:lvl8pPr marL="3657600" marR="0" lvl="7"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8pPr>
            <a:lvl9pPr marL="4114800" marR="0" lvl="8"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9pPr>
          </a:lstStyle>
          <a:p>
            <a:pPr marL="0" indent="0" defTabSz="1219170">
              <a:spcBef>
                <a:spcPts val="0"/>
              </a:spcBef>
              <a:buClr>
                <a:srgbClr val="97ABBC"/>
              </a:buClr>
              <a:buNone/>
            </a:pPr>
            <a:r>
              <a:rPr lang="en-US" sz="5333" b="1" kern="0" dirty="0">
                <a:solidFill>
                  <a:srgbClr val="2185C5"/>
                </a:solidFill>
                <a:latin typeface="Raleway"/>
                <a:ea typeface="Raleway"/>
                <a:cs typeface="Raleway"/>
                <a:sym typeface="Raleway"/>
              </a:rPr>
              <a:t>Motivations and objectives</a:t>
            </a:r>
            <a:endParaRPr lang="en-US" sz="3733" i="1" kern="0" dirty="0">
              <a:solidFill>
                <a:srgbClr val="2185C5"/>
              </a:solidFill>
              <a:latin typeface="Raleway"/>
              <a:ea typeface="Raleway"/>
              <a:cs typeface="Raleway"/>
              <a:sym typeface="Raleway"/>
            </a:endParaRPr>
          </a:p>
        </p:txBody>
      </p:sp>
    </p:spTree>
    <p:extLst>
      <p:ext uri="{BB962C8B-B14F-4D97-AF65-F5344CB8AC3E}">
        <p14:creationId xmlns:p14="http://schemas.microsoft.com/office/powerpoint/2010/main" val="410112190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361FED49-3B55-2522-EA77-8444EA7E13E1}"/>
            </a:ext>
          </a:extLst>
        </p:cNvPr>
        <p:cNvGrpSpPr/>
        <p:nvPr/>
      </p:nvGrpSpPr>
      <p:grpSpPr>
        <a:xfrm>
          <a:off x="0" y="0"/>
          <a:ext cx="0" cy="0"/>
          <a:chOff x="0" y="0"/>
          <a:chExt cx="0" cy="0"/>
        </a:xfrm>
      </p:grpSpPr>
      <p:sp>
        <p:nvSpPr>
          <p:cNvPr id="164" name="Google Shape;164;p28">
            <a:extLst>
              <a:ext uri="{FF2B5EF4-FFF2-40B4-BE49-F238E27FC236}">
                <a16:creationId xmlns:a16="http://schemas.microsoft.com/office/drawing/2014/main" id="{94EDE5A8-3D30-4C7D-8B5F-C83033C18C6F}"/>
              </a:ext>
            </a:extLst>
          </p:cNvPr>
          <p:cNvSpPr txBox="1"/>
          <p:nvPr/>
        </p:nvSpPr>
        <p:spPr>
          <a:xfrm>
            <a:off x="609600" y="1051601"/>
            <a:ext cx="10972800" cy="1828152"/>
          </a:xfrm>
          <a:prstGeom prst="rect">
            <a:avLst/>
          </a:prstGeom>
          <a:noFill/>
          <a:ln>
            <a:noFill/>
          </a:ln>
        </p:spPr>
        <p:txBody>
          <a:bodyPr spcFirstLastPara="1" wrap="square" lIns="121900" tIns="121900" rIns="121900" bIns="121900" anchor="t" anchorCtr="0">
            <a:spAutoFit/>
          </a:bodyPr>
          <a:lstStyle/>
          <a:p>
            <a:pPr marL="609585" indent="-465655" defTabSz="1219170">
              <a:lnSpc>
                <a:spcPct val="115000"/>
              </a:lnSpc>
              <a:spcAft>
                <a:spcPts val="800"/>
              </a:spcAft>
              <a:buClr>
                <a:srgbClr val="434343"/>
              </a:buClr>
              <a:buSzPct val="100000"/>
              <a:buFont typeface="Lato"/>
              <a:buChar char="▷"/>
            </a:pPr>
            <a:r>
              <a:rPr lang="en-US" sz="2400" b="1"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Models compared:</a:t>
            </a:r>
            <a:r>
              <a:rPr lang="en-US" sz="240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 FOM, SFOM (stride sweep), ROM (POD)</a:t>
            </a:r>
          </a:p>
          <a:p>
            <a:pPr marL="609585" indent="-465655" defTabSz="1219170">
              <a:lnSpc>
                <a:spcPct val="115000"/>
              </a:lnSpc>
              <a:spcAft>
                <a:spcPts val="800"/>
              </a:spcAft>
              <a:buClr>
                <a:srgbClr val="434343"/>
              </a:buClr>
              <a:buSzPct val="100000"/>
              <a:buFont typeface="Lato"/>
              <a:buChar char="▷"/>
            </a:pPr>
            <a:r>
              <a:rPr lang="en-US" sz="2400" b="1" kern="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sym typeface="Lato"/>
              </a:rPr>
              <a:t>Key metrics: </a:t>
            </a:r>
            <a:r>
              <a:rPr lang="en-US" sz="240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von Mises stress error vs FOM, runtime, speedup factor</a:t>
            </a:r>
            <a:endParaRPr lang="en-US" sz="2400" kern="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sym typeface="Lato"/>
            </a:endParaRPr>
          </a:p>
          <a:p>
            <a:pPr marL="609585" indent="-465655" defTabSz="1219170">
              <a:lnSpc>
                <a:spcPct val="115000"/>
              </a:lnSpc>
              <a:spcAft>
                <a:spcPts val="800"/>
              </a:spcAft>
              <a:buClr>
                <a:srgbClr val="434343"/>
              </a:buClr>
              <a:buSzPct val="100000"/>
              <a:buFont typeface="Lato"/>
              <a:buChar char="▷"/>
            </a:pPr>
            <a:r>
              <a:rPr lang="en-US" sz="2400" b="1" kern="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sym typeface="Lato"/>
              </a:rPr>
              <a:t>Reproducibility: </a:t>
            </a:r>
            <a:r>
              <a:rPr lang="en-US" sz="240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inputs, outputs, logs, </a:t>
            </a:r>
            <a:r>
              <a:rPr lang="en-US" sz="2400" dirty="0" err="1">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run_env.mat</a:t>
            </a:r>
            <a:r>
              <a:rPr lang="en-US" sz="240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 saved .mat files</a:t>
            </a:r>
            <a:endParaRPr lang="en-US" sz="2400" kern="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sym typeface="Lato"/>
            </a:endParaRPr>
          </a:p>
        </p:txBody>
      </p:sp>
      <p:sp>
        <p:nvSpPr>
          <p:cNvPr id="4" name="Google Shape;157;p27">
            <a:extLst>
              <a:ext uri="{FF2B5EF4-FFF2-40B4-BE49-F238E27FC236}">
                <a16:creationId xmlns:a16="http://schemas.microsoft.com/office/drawing/2014/main" id="{CA007942-2FF2-A48F-09DC-15C91938836E}"/>
              </a:ext>
            </a:extLst>
          </p:cNvPr>
          <p:cNvSpPr txBox="1">
            <a:spLocks/>
          </p:cNvSpPr>
          <p:nvPr/>
        </p:nvSpPr>
        <p:spPr>
          <a:xfrm>
            <a:off x="0" y="0"/>
            <a:ext cx="12192000" cy="1051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chemeClr val="accent6"/>
              </a:buClr>
              <a:buSzPts val="2400"/>
              <a:buFont typeface="Lato"/>
              <a:buChar char="▷"/>
              <a:defRPr sz="2400" b="0" i="0" u="none" strike="noStrike" cap="none">
                <a:solidFill>
                  <a:schemeClr val="dk1"/>
                </a:solidFill>
                <a:latin typeface="Lato"/>
                <a:ea typeface="Lato"/>
                <a:cs typeface="Lato"/>
                <a:sym typeface="Lato"/>
              </a:defRPr>
            </a:lvl1pPr>
            <a:lvl2pPr marL="914400" marR="0" lvl="1"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2pPr>
            <a:lvl3pPr marL="1371600" marR="0" lvl="2"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3pPr>
            <a:lvl4pPr marL="1828800" marR="0" lvl="3"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4pPr>
            <a:lvl5pPr marL="2286000" marR="0" lvl="4"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5pPr>
            <a:lvl6pPr marL="2743200" marR="0" lvl="5"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6pPr>
            <a:lvl7pPr marL="3200400" marR="0" lvl="6"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7pPr>
            <a:lvl8pPr marL="3657600" marR="0" lvl="7"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8pPr>
            <a:lvl9pPr marL="4114800" marR="0" lvl="8"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9pPr>
          </a:lstStyle>
          <a:p>
            <a:pPr marL="0" indent="0" defTabSz="1219170">
              <a:spcBef>
                <a:spcPts val="0"/>
              </a:spcBef>
              <a:buClr>
                <a:srgbClr val="97ABBC"/>
              </a:buClr>
              <a:buNone/>
            </a:pPr>
            <a:r>
              <a:rPr lang="en-US" sz="5333" b="1" kern="0" dirty="0">
                <a:solidFill>
                  <a:srgbClr val="2185C5"/>
                </a:solidFill>
                <a:latin typeface="Raleway"/>
                <a:ea typeface="Raleway"/>
                <a:cs typeface="Raleway"/>
                <a:sym typeface="Raleway"/>
              </a:rPr>
              <a:t>Methods</a:t>
            </a:r>
            <a:endParaRPr lang="en-US" sz="3733" i="1" kern="0" dirty="0">
              <a:solidFill>
                <a:srgbClr val="2185C5"/>
              </a:solidFill>
              <a:latin typeface="Raleway"/>
              <a:ea typeface="Raleway"/>
              <a:cs typeface="Raleway"/>
              <a:sym typeface="Raleway"/>
            </a:endParaRPr>
          </a:p>
        </p:txBody>
      </p:sp>
    </p:spTree>
    <p:extLst>
      <p:ext uri="{BB962C8B-B14F-4D97-AF65-F5344CB8AC3E}">
        <p14:creationId xmlns:p14="http://schemas.microsoft.com/office/powerpoint/2010/main" val="415156429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24DE9EC6-5759-E694-477A-B17E0BD32FFE}"/>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64" name="Google Shape;164;p28">
                <a:extLst>
                  <a:ext uri="{FF2B5EF4-FFF2-40B4-BE49-F238E27FC236}">
                    <a16:creationId xmlns:a16="http://schemas.microsoft.com/office/drawing/2014/main" id="{E67D89B3-D14E-64A3-6038-50331BE2E57B}"/>
                  </a:ext>
                </a:extLst>
              </p:cNvPr>
              <p:cNvSpPr txBox="1"/>
              <p:nvPr/>
            </p:nvSpPr>
            <p:spPr>
              <a:xfrm>
                <a:off x="609600" y="1051601"/>
                <a:ext cx="10972800" cy="2252884"/>
              </a:xfrm>
              <a:prstGeom prst="rect">
                <a:avLst/>
              </a:prstGeom>
              <a:noFill/>
              <a:ln>
                <a:noFill/>
              </a:ln>
            </p:spPr>
            <p:txBody>
              <a:bodyPr spcFirstLastPara="1" wrap="square" lIns="121900" tIns="121900" rIns="121900" bIns="121900" anchor="t" anchorCtr="0">
                <a:spAutoFit/>
              </a:bodyPr>
              <a:lstStyle/>
              <a:p>
                <a:pPr marL="609585" indent="-465655" defTabSz="1219170">
                  <a:lnSpc>
                    <a:spcPct val="115000"/>
                  </a:lnSpc>
                  <a:spcAft>
                    <a:spcPts val="800"/>
                  </a:spcAft>
                  <a:buClr>
                    <a:srgbClr val="434343"/>
                  </a:buClr>
                  <a:buSzPct val="100000"/>
                  <a:buFont typeface="Lato"/>
                  <a:buChar char="▷"/>
                </a:pPr>
                <a:r>
                  <a:rPr lang="en-US" sz="2400" b="1"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Approach: </a:t>
                </a:r>
                <a:r>
                  <a:rPr lang="en-US" sz="240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skip mechanics updates every S steps; tested S = 1, 2, 4, 8, 16</a:t>
                </a:r>
              </a:p>
              <a:p>
                <a:pPr marL="609585" indent="-465655" defTabSz="1219170">
                  <a:lnSpc>
                    <a:spcPct val="115000"/>
                  </a:lnSpc>
                  <a:spcAft>
                    <a:spcPts val="800"/>
                  </a:spcAft>
                  <a:buClr>
                    <a:srgbClr val="434343"/>
                  </a:buClr>
                  <a:buSzPct val="100000"/>
                  <a:buFont typeface="Lato"/>
                  <a:buChar char="▷"/>
                </a:pPr>
                <a:r>
                  <a:rPr lang="en-US" sz="2400" b="1"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Why: </a:t>
                </a:r>
                <a:r>
                  <a:rPr lang="en-US" sz="240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no changes to the mechanics under the hood, only fewer evaluations</a:t>
                </a:r>
              </a:p>
              <a:p>
                <a:pPr marL="609585" indent="-465655" defTabSz="1219170">
                  <a:lnSpc>
                    <a:spcPct val="115000"/>
                  </a:lnSpc>
                  <a:spcAft>
                    <a:spcPts val="800"/>
                  </a:spcAft>
                  <a:buClr>
                    <a:srgbClr val="434343"/>
                  </a:buClr>
                  <a:buSzPct val="100000"/>
                  <a:buFont typeface="Lato"/>
                  <a:buChar char="▷"/>
                </a:pPr>
                <a:r>
                  <a:rPr lang="en-US" sz="2400" b="1"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Numerical safeguards: </a:t>
                </a:r>
                <a:r>
                  <a:rPr lang="en-US" sz="240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error denominators </a:t>
                </a:r>
                <a14:m>
                  <m:oMath xmlns:m="http://schemas.openxmlformats.org/officeDocument/2006/math">
                    <m:r>
                      <m:rPr>
                        <m:sty m:val="p"/>
                      </m:rPr>
                      <a:rPr lang="en-US" sz="2400" b="0" i="0" smtClean="0">
                        <a:solidFill>
                          <a:schemeClr val="tx2">
                            <a:lumMod val="10000"/>
                          </a:schemeClr>
                        </a:solidFill>
                        <a:latin typeface="Cambria Math" panose="02040503050406030204" pitchFamily="18" charset="0"/>
                      </a:rPr>
                      <m:t>max</m:t>
                    </m:r>
                    <m:r>
                      <a:rPr lang="en-US" sz="2400" b="0" i="1" smtClean="0">
                        <a:solidFill>
                          <a:schemeClr val="tx2">
                            <a:lumMod val="10000"/>
                          </a:schemeClr>
                        </a:solidFill>
                        <a:latin typeface="Cambria Math" panose="02040503050406030204" pitchFamily="18" charset="0"/>
                      </a:rPr>
                      <m:t>⁡(</m:t>
                    </m:r>
                    <m:d>
                      <m:dPr>
                        <m:begChr m:val="‖"/>
                        <m:endChr m:val="‖"/>
                        <m:ctrlPr>
                          <a:rPr lang="en-US" sz="2400" b="0" i="1" smtClean="0">
                            <a:solidFill>
                              <a:schemeClr val="tx2">
                                <a:lumMod val="10000"/>
                              </a:schemeClr>
                            </a:solidFill>
                            <a:latin typeface="Cambria Math" panose="02040503050406030204" pitchFamily="18" charset="0"/>
                          </a:rPr>
                        </m:ctrlPr>
                      </m:dPr>
                      <m:e>
                        <m:r>
                          <a:rPr lang="en-US" sz="2400" b="0" i="1" smtClean="0">
                            <a:solidFill>
                              <a:schemeClr val="tx2">
                                <a:lumMod val="10000"/>
                              </a:schemeClr>
                            </a:solidFill>
                            <a:latin typeface="Cambria Math" panose="02040503050406030204" pitchFamily="18" charset="0"/>
                            <a:ea typeface="Cambria Math" panose="02040503050406030204" pitchFamily="18" charset="0"/>
                          </a:rPr>
                          <m:t>∙</m:t>
                        </m:r>
                      </m:e>
                    </m:d>
                    <m:r>
                      <a:rPr lang="en-US" sz="2400" b="0" i="1" smtClean="0">
                        <a:solidFill>
                          <a:schemeClr val="tx2">
                            <a:lumMod val="10000"/>
                          </a:schemeClr>
                        </a:solidFill>
                        <a:latin typeface="Cambria Math" panose="02040503050406030204" pitchFamily="18" charset="0"/>
                      </a:rPr>
                      <m:t>,</m:t>
                    </m:r>
                    <m:sSup>
                      <m:sSupPr>
                        <m:ctrlPr>
                          <a:rPr lang="en-US" sz="2400" b="0" i="1" smtClean="0">
                            <a:solidFill>
                              <a:schemeClr val="tx2">
                                <a:lumMod val="10000"/>
                              </a:schemeClr>
                            </a:solidFill>
                            <a:latin typeface="Cambria Math" panose="02040503050406030204" pitchFamily="18" charset="0"/>
                          </a:rPr>
                        </m:ctrlPr>
                      </m:sSupPr>
                      <m:e>
                        <m:r>
                          <a:rPr lang="en-US" sz="2400" b="0" i="1" smtClean="0">
                            <a:solidFill>
                              <a:schemeClr val="tx2">
                                <a:lumMod val="10000"/>
                              </a:schemeClr>
                            </a:solidFill>
                            <a:latin typeface="Cambria Math" panose="02040503050406030204" pitchFamily="18" charset="0"/>
                          </a:rPr>
                          <m:t>10</m:t>
                        </m:r>
                      </m:e>
                      <m:sup>
                        <m:r>
                          <a:rPr lang="en-US" sz="2400" b="0" i="1" smtClean="0">
                            <a:solidFill>
                              <a:schemeClr val="tx2">
                                <a:lumMod val="10000"/>
                              </a:schemeClr>
                            </a:solidFill>
                            <a:latin typeface="Cambria Math" panose="02040503050406030204" pitchFamily="18" charset="0"/>
                          </a:rPr>
                          <m:t>−12</m:t>
                        </m:r>
                      </m:sup>
                    </m:sSup>
                    <m:r>
                      <a:rPr lang="en-US" sz="2400" b="0" i="1" smtClean="0">
                        <a:solidFill>
                          <a:schemeClr val="tx2">
                            <a:lumMod val="10000"/>
                          </a:schemeClr>
                        </a:solidFill>
                        <a:latin typeface="Cambria Math" panose="02040503050406030204" pitchFamily="18" charset="0"/>
                      </a:rPr>
                      <m:t>)</m:t>
                    </m:r>
                  </m:oMath>
                </a14:m>
                <a:r>
                  <a:rPr lang="en-US" sz="240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 matrix size assertions</a:t>
                </a:r>
              </a:p>
            </p:txBody>
          </p:sp>
        </mc:Choice>
        <mc:Fallback>
          <p:sp>
            <p:nvSpPr>
              <p:cNvPr id="164" name="Google Shape;164;p28">
                <a:extLst>
                  <a:ext uri="{FF2B5EF4-FFF2-40B4-BE49-F238E27FC236}">
                    <a16:creationId xmlns:a16="http://schemas.microsoft.com/office/drawing/2014/main" id="{E67D89B3-D14E-64A3-6038-50331BE2E57B}"/>
                  </a:ext>
                </a:extLst>
              </p:cNvPr>
              <p:cNvSpPr txBox="1">
                <a:spLocks noRot="1" noChangeAspect="1" noMove="1" noResize="1" noEditPoints="1" noAdjustHandles="1" noChangeArrowheads="1" noChangeShapeType="1" noTextEdit="1"/>
              </p:cNvSpPr>
              <p:nvPr/>
            </p:nvSpPr>
            <p:spPr>
              <a:xfrm>
                <a:off x="609600" y="1051601"/>
                <a:ext cx="10972800" cy="2252884"/>
              </a:xfrm>
              <a:prstGeom prst="rect">
                <a:avLst/>
              </a:prstGeom>
              <a:blipFill>
                <a:blip r:embed="rId3"/>
                <a:stretch>
                  <a:fillRect/>
                </a:stretch>
              </a:blipFill>
              <a:ln>
                <a:noFill/>
              </a:ln>
            </p:spPr>
            <p:txBody>
              <a:bodyPr/>
              <a:lstStyle/>
              <a:p>
                <a:r>
                  <a:rPr lang="en-US">
                    <a:noFill/>
                  </a:rPr>
                  <a:t> </a:t>
                </a:r>
              </a:p>
            </p:txBody>
          </p:sp>
        </mc:Fallback>
      </mc:AlternateContent>
      <p:sp>
        <p:nvSpPr>
          <p:cNvPr id="4" name="Google Shape;157;p27">
            <a:extLst>
              <a:ext uri="{FF2B5EF4-FFF2-40B4-BE49-F238E27FC236}">
                <a16:creationId xmlns:a16="http://schemas.microsoft.com/office/drawing/2014/main" id="{A627C398-ED57-8852-2459-84D66A63A647}"/>
              </a:ext>
            </a:extLst>
          </p:cNvPr>
          <p:cNvSpPr txBox="1">
            <a:spLocks/>
          </p:cNvSpPr>
          <p:nvPr/>
        </p:nvSpPr>
        <p:spPr>
          <a:xfrm>
            <a:off x="0" y="0"/>
            <a:ext cx="12192000" cy="1051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chemeClr val="accent6"/>
              </a:buClr>
              <a:buSzPts val="2400"/>
              <a:buFont typeface="Lato"/>
              <a:buChar char="▷"/>
              <a:defRPr sz="2400" b="0" i="0" u="none" strike="noStrike" cap="none">
                <a:solidFill>
                  <a:schemeClr val="dk1"/>
                </a:solidFill>
                <a:latin typeface="Lato"/>
                <a:ea typeface="Lato"/>
                <a:cs typeface="Lato"/>
                <a:sym typeface="Lato"/>
              </a:defRPr>
            </a:lvl1pPr>
            <a:lvl2pPr marL="914400" marR="0" lvl="1"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2pPr>
            <a:lvl3pPr marL="1371600" marR="0" lvl="2"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3pPr>
            <a:lvl4pPr marL="1828800" marR="0" lvl="3"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4pPr>
            <a:lvl5pPr marL="2286000" marR="0" lvl="4"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5pPr>
            <a:lvl6pPr marL="2743200" marR="0" lvl="5"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6pPr>
            <a:lvl7pPr marL="3200400" marR="0" lvl="6"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7pPr>
            <a:lvl8pPr marL="3657600" marR="0" lvl="7"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8pPr>
            <a:lvl9pPr marL="4114800" marR="0" lvl="8"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9pPr>
          </a:lstStyle>
          <a:p>
            <a:pPr marL="0" indent="0" defTabSz="1219170">
              <a:spcBef>
                <a:spcPts val="0"/>
              </a:spcBef>
              <a:buClr>
                <a:srgbClr val="97ABBC"/>
              </a:buClr>
              <a:buNone/>
            </a:pPr>
            <a:r>
              <a:rPr lang="en-US" sz="5333" b="1" kern="0" dirty="0">
                <a:solidFill>
                  <a:srgbClr val="2185C5"/>
                </a:solidFill>
                <a:latin typeface="Raleway"/>
                <a:ea typeface="Raleway"/>
                <a:cs typeface="Raleway"/>
                <a:sym typeface="Raleway"/>
              </a:rPr>
              <a:t>Subsampling strategy</a:t>
            </a:r>
            <a:endParaRPr lang="en-US" sz="3733" i="1" kern="0" dirty="0">
              <a:solidFill>
                <a:srgbClr val="2185C5"/>
              </a:solidFill>
              <a:latin typeface="Raleway"/>
              <a:ea typeface="Raleway"/>
              <a:cs typeface="Raleway"/>
              <a:sym typeface="Raleway"/>
            </a:endParaRPr>
          </a:p>
        </p:txBody>
      </p:sp>
    </p:spTree>
    <p:extLst>
      <p:ext uri="{BB962C8B-B14F-4D97-AF65-F5344CB8AC3E}">
        <p14:creationId xmlns:p14="http://schemas.microsoft.com/office/powerpoint/2010/main" val="263391110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9C81FC3C-26F8-050B-BD85-5EE77986BC80}"/>
            </a:ext>
          </a:extLst>
        </p:cNvPr>
        <p:cNvGrpSpPr/>
        <p:nvPr/>
      </p:nvGrpSpPr>
      <p:grpSpPr>
        <a:xfrm>
          <a:off x="0" y="0"/>
          <a:ext cx="0" cy="0"/>
          <a:chOff x="0" y="0"/>
          <a:chExt cx="0" cy="0"/>
        </a:xfrm>
      </p:grpSpPr>
      <p:sp>
        <p:nvSpPr>
          <p:cNvPr id="164" name="Google Shape;164;p28">
            <a:extLst>
              <a:ext uri="{FF2B5EF4-FFF2-40B4-BE49-F238E27FC236}">
                <a16:creationId xmlns:a16="http://schemas.microsoft.com/office/drawing/2014/main" id="{AF1EACC9-02DE-F152-77EC-A16A30BE76B8}"/>
              </a:ext>
            </a:extLst>
          </p:cNvPr>
          <p:cNvSpPr txBox="1"/>
          <p:nvPr/>
        </p:nvSpPr>
        <p:spPr>
          <a:xfrm>
            <a:off x="609600" y="1051601"/>
            <a:ext cx="10972800" cy="2252884"/>
          </a:xfrm>
          <a:prstGeom prst="rect">
            <a:avLst/>
          </a:prstGeom>
          <a:noFill/>
          <a:ln>
            <a:noFill/>
          </a:ln>
        </p:spPr>
        <p:txBody>
          <a:bodyPr spcFirstLastPara="1" wrap="square" lIns="121900" tIns="121900" rIns="121900" bIns="121900" anchor="t" anchorCtr="0">
            <a:spAutoFit/>
          </a:bodyPr>
          <a:lstStyle/>
          <a:p>
            <a:pPr marL="609585" indent="-465655" defTabSz="1219170">
              <a:lnSpc>
                <a:spcPct val="115000"/>
              </a:lnSpc>
              <a:spcAft>
                <a:spcPts val="800"/>
              </a:spcAft>
              <a:buClr>
                <a:srgbClr val="434343"/>
              </a:buClr>
              <a:buSzPct val="100000"/>
              <a:buFont typeface="Lato"/>
              <a:buChar char="▷"/>
            </a:pPr>
            <a:r>
              <a:rPr lang="en-US" sz="2400" b="1"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Bottleneck: </a:t>
            </a:r>
            <a:r>
              <a:rPr lang="en-US" sz="240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repeated LU factorizations</a:t>
            </a:r>
          </a:p>
          <a:p>
            <a:pPr marL="609585" indent="-465655" defTabSz="1219170">
              <a:lnSpc>
                <a:spcPct val="115000"/>
              </a:lnSpc>
              <a:spcAft>
                <a:spcPts val="800"/>
              </a:spcAft>
              <a:buClr>
                <a:srgbClr val="434343"/>
              </a:buClr>
              <a:buSzPct val="100000"/>
              <a:buFont typeface="Lato"/>
              <a:buChar char="▷"/>
            </a:pPr>
            <a:r>
              <a:rPr lang="en-US" sz="2400" b="1"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Optimization: </a:t>
            </a:r>
            <a:r>
              <a:rPr lang="en-US" sz="240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compute LU once and reuse across solves (</a:t>
            </a:r>
            <a:r>
              <a:rPr lang="en-US" sz="2400" dirty="0">
                <a:solidFill>
                  <a:schemeClr val="tx2">
                    <a:lumMod val="10000"/>
                  </a:schemeClr>
                </a:solidFill>
                <a:latin typeface="Courier New" panose="02070309020205020404" pitchFamily="49" charset="0"/>
                <a:ea typeface="Lato" panose="020F0502020204030203" pitchFamily="34" charset="0"/>
                <a:cs typeface="Courier New" panose="02070309020205020404" pitchFamily="49" charset="0"/>
              </a:rPr>
              <a:t>getMechanicsMaps_2D_LUonce</a:t>
            </a:r>
            <a:r>
              <a:rPr lang="en-US" sz="240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 </a:t>
            </a:r>
          </a:p>
          <a:p>
            <a:pPr marL="609585" indent="-465655" defTabSz="1219170">
              <a:lnSpc>
                <a:spcPct val="115000"/>
              </a:lnSpc>
              <a:spcAft>
                <a:spcPts val="800"/>
              </a:spcAft>
              <a:buClr>
                <a:srgbClr val="434343"/>
              </a:buClr>
              <a:buSzPct val="100000"/>
              <a:buFont typeface="Lato"/>
              <a:buChar char="▷"/>
            </a:pPr>
            <a:r>
              <a:rPr lang="en-US" sz="2400" b="1"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Correctness: </a:t>
            </a:r>
            <a:r>
              <a:rPr lang="en-US" sz="240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von Mises delta = 1.311 × 10</a:t>
            </a:r>
            <a:r>
              <a:rPr lang="en-US" sz="2400" baseline="3000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-14</a:t>
            </a:r>
            <a:r>
              <a:rPr lang="en-US" sz="240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 (bit‑level agreement).</a:t>
            </a:r>
          </a:p>
        </p:txBody>
      </p:sp>
      <p:sp>
        <p:nvSpPr>
          <p:cNvPr id="4" name="Google Shape;157;p27">
            <a:extLst>
              <a:ext uri="{FF2B5EF4-FFF2-40B4-BE49-F238E27FC236}">
                <a16:creationId xmlns:a16="http://schemas.microsoft.com/office/drawing/2014/main" id="{32B52D5D-194D-BEC3-C81E-24598758EAA3}"/>
              </a:ext>
            </a:extLst>
          </p:cNvPr>
          <p:cNvSpPr txBox="1">
            <a:spLocks/>
          </p:cNvSpPr>
          <p:nvPr/>
        </p:nvSpPr>
        <p:spPr>
          <a:xfrm>
            <a:off x="0" y="0"/>
            <a:ext cx="12192000" cy="1051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chemeClr val="accent6"/>
              </a:buClr>
              <a:buSzPts val="2400"/>
              <a:buFont typeface="Lato"/>
              <a:buChar char="▷"/>
              <a:defRPr sz="2400" b="0" i="0" u="none" strike="noStrike" cap="none">
                <a:solidFill>
                  <a:schemeClr val="dk1"/>
                </a:solidFill>
                <a:latin typeface="Lato"/>
                <a:ea typeface="Lato"/>
                <a:cs typeface="Lato"/>
                <a:sym typeface="Lato"/>
              </a:defRPr>
            </a:lvl1pPr>
            <a:lvl2pPr marL="914400" marR="0" lvl="1"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2pPr>
            <a:lvl3pPr marL="1371600" marR="0" lvl="2"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3pPr>
            <a:lvl4pPr marL="1828800" marR="0" lvl="3"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4pPr>
            <a:lvl5pPr marL="2286000" marR="0" lvl="4"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5pPr>
            <a:lvl6pPr marL="2743200" marR="0" lvl="5"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6pPr>
            <a:lvl7pPr marL="3200400" marR="0" lvl="6"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7pPr>
            <a:lvl8pPr marL="3657600" marR="0" lvl="7"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8pPr>
            <a:lvl9pPr marL="4114800" marR="0" lvl="8"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9pPr>
          </a:lstStyle>
          <a:p>
            <a:pPr marL="0" indent="0" defTabSz="1219170">
              <a:spcBef>
                <a:spcPts val="0"/>
              </a:spcBef>
              <a:buClr>
                <a:srgbClr val="97ABBC"/>
              </a:buClr>
              <a:buNone/>
            </a:pPr>
            <a:r>
              <a:rPr lang="en-US" sz="5333" b="1" kern="0" dirty="0">
                <a:solidFill>
                  <a:srgbClr val="2185C5"/>
                </a:solidFill>
                <a:latin typeface="Raleway"/>
                <a:ea typeface="Raleway"/>
                <a:cs typeface="Raleway"/>
                <a:sym typeface="Raleway"/>
              </a:rPr>
              <a:t>LU-once optimization</a:t>
            </a:r>
            <a:endParaRPr lang="en-US" sz="3733" i="1" kern="0" dirty="0">
              <a:solidFill>
                <a:srgbClr val="2185C5"/>
              </a:solidFill>
              <a:latin typeface="Raleway"/>
              <a:ea typeface="Raleway"/>
              <a:cs typeface="Raleway"/>
              <a:sym typeface="Raleway"/>
            </a:endParaRPr>
          </a:p>
        </p:txBody>
      </p:sp>
    </p:spTree>
    <p:extLst>
      <p:ext uri="{BB962C8B-B14F-4D97-AF65-F5344CB8AC3E}">
        <p14:creationId xmlns:p14="http://schemas.microsoft.com/office/powerpoint/2010/main" val="63767218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C80C149B-7237-3C90-442D-E2721A52598A}"/>
            </a:ext>
          </a:extLst>
        </p:cNvPr>
        <p:cNvGrpSpPr/>
        <p:nvPr/>
      </p:nvGrpSpPr>
      <p:grpSpPr>
        <a:xfrm>
          <a:off x="0" y="0"/>
          <a:ext cx="0" cy="0"/>
          <a:chOff x="0" y="0"/>
          <a:chExt cx="0" cy="0"/>
        </a:xfrm>
      </p:grpSpPr>
      <p:sp>
        <p:nvSpPr>
          <p:cNvPr id="164" name="Google Shape;164;p28">
            <a:extLst>
              <a:ext uri="{FF2B5EF4-FFF2-40B4-BE49-F238E27FC236}">
                <a16:creationId xmlns:a16="http://schemas.microsoft.com/office/drawing/2014/main" id="{4D8C30B6-657D-EA24-BE62-8B5C77BE560C}"/>
              </a:ext>
            </a:extLst>
          </p:cNvPr>
          <p:cNvSpPr txBox="1"/>
          <p:nvPr/>
        </p:nvSpPr>
        <p:spPr>
          <a:xfrm>
            <a:off x="609600" y="1051601"/>
            <a:ext cx="10972800" cy="3102347"/>
          </a:xfrm>
          <a:prstGeom prst="rect">
            <a:avLst/>
          </a:prstGeom>
          <a:noFill/>
          <a:ln>
            <a:noFill/>
          </a:ln>
        </p:spPr>
        <p:txBody>
          <a:bodyPr spcFirstLastPara="1" wrap="square" lIns="121900" tIns="121900" rIns="121900" bIns="121900" anchor="t" anchorCtr="0">
            <a:spAutoFit/>
          </a:bodyPr>
          <a:lstStyle/>
          <a:p>
            <a:pPr marL="609585" indent="-465655" defTabSz="1219170">
              <a:lnSpc>
                <a:spcPct val="115000"/>
              </a:lnSpc>
              <a:spcAft>
                <a:spcPts val="800"/>
              </a:spcAft>
              <a:buClr>
                <a:srgbClr val="434343"/>
              </a:buClr>
              <a:buSzPct val="100000"/>
              <a:buFont typeface="Lato"/>
              <a:buChar char="▷"/>
            </a:pPr>
            <a:r>
              <a:rPr lang="en-US" sz="2400" b="1"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Automated tests: </a:t>
            </a:r>
            <a:r>
              <a:rPr lang="en-US" sz="240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4 tests passed (</a:t>
            </a:r>
            <a:r>
              <a:rPr lang="en-US" sz="2400" dirty="0" err="1">
                <a:solidFill>
                  <a:schemeClr val="tx2">
                    <a:lumMod val="10000"/>
                  </a:schemeClr>
                </a:solidFill>
                <a:latin typeface="Courier New" panose="02070309020205020404" pitchFamily="49" charset="0"/>
                <a:ea typeface="Lato" panose="020F0502020204030203" pitchFamily="34" charset="0"/>
                <a:cs typeface="Courier New" panose="02070309020205020404" pitchFamily="49" charset="0"/>
              </a:rPr>
              <a:t>TestCore</a:t>
            </a:r>
            <a:r>
              <a:rPr lang="en-US" sz="240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 </a:t>
            </a:r>
            <a:r>
              <a:rPr lang="en-US" sz="2400" dirty="0" err="1">
                <a:solidFill>
                  <a:schemeClr val="tx2">
                    <a:lumMod val="10000"/>
                  </a:schemeClr>
                </a:solidFill>
                <a:latin typeface="Courier New" panose="02070309020205020404" pitchFamily="49" charset="0"/>
                <a:ea typeface="Lato" panose="020F0502020204030203" pitchFamily="34" charset="0"/>
                <a:cs typeface="Courier New" panose="02070309020205020404" pitchFamily="49" charset="0"/>
              </a:rPr>
              <a:t>TestSolverConsistency</a:t>
            </a:r>
            <a:r>
              <a:rPr lang="en-US" sz="240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 runtime 0.091 s. </a:t>
            </a:r>
          </a:p>
          <a:p>
            <a:pPr marL="609585" indent="-465655" defTabSz="1219170">
              <a:lnSpc>
                <a:spcPct val="115000"/>
              </a:lnSpc>
              <a:spcAft>
                <a:spcPts val="800"/>
              </a:spcAft>
              <a:buClr>
                <a:srgbClr val="434343"/>
              </a:buClr>
              <a:buSzPct val="100000"/>
              <a:buFont typeface="Lato"/>
              <a:buChar char="▷"/>
            </a:pPr>
            <a:r>
              <a:rPr lang="en-US" sz="2400" b="1"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Sanity checks: </a:t>
            </a:r>
            <a:r>
              <a:rPr lang="en-US" sz="240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matrix dimension assertions, gradient alignment, stable error denominators. </a:t>
            </a:r>
          </a:p>
          <a:p>
            <a:pPr marL="609585" indent="-465655" defTabSz="1219170">
              <a:lnSpc>
                <a:spcPct val="115000"/>
              </a:lnSpc>
              <a:spcAft>
                <a:spcPts val="800"/>
              </a:spcAft>
              <a:buClr>
                <a:srgbClr val="434343"/>
              </a:buClr>
              <a:buSzPct val="100000"/>
              <a:buFont typeface="Lato"/>
              <a:buChar char="▷"/>
            </a:pPr>
            <a:r>
              <a:rPr lang="en-US" sz="2400" b="1"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Saved outputs: </a:t>
            </a:r>
            <a:r>
              <a:rPr lang="en-US" sz="240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tests/</a:t>
            </a:r>
            <a:r>
              <a:rPr lang="en-US" sz="2400" dirty="0" err="1">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test_results.mat</a:t>
            </a:r>
            <a:r>
              <a:rPr lang="en-US" sz="240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 profiling/</a:t>
            </a:r>
            <a:r>
              <a:rPr lang="en-US" sz="2400" dirty="0" err="1">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timings.mat</a:t>
            </a:r>
            <a:r>
              <a:rPr lang="en-US" sz="240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 profiling/</a:t>
            </a:r>
            <a:r>
              <a:rPr lang="en-US" sz="2400" dirty="0" err="1">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tradeoff_sweep.mat</a:t>
            </a:r>
            <a:r>
              <a:rPr lang="en-US" sz="240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 </a:t>
            </a:r>
            <a:r>
              <a:rPr lang="en-US" sz="2400" dirty="0" err="1">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run_env.mat</a:t>
            </a:r>
            <a:r>
              <a:rPr lang="en-US" sz="240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a:t>
            </a:r>
          </a:p>
        </p:txBody>
      </p:sp>
      <p:sp>
        <p:nvSpPr>
          <p:cNvPr id="4" name="Google Shape;157;p27">
            <a:extLst>
              <a:ext uri="{FF2B5EF4-FFF2-40B4-BE49-F238E27FC236}">
                <a16:creationId xmlns:a16="http://schemas.microsoft.com/office/drawing/2014/main" id="{86D4684C-9ACD-1848-97DE-E0C014BBD0EC}"/>
              </a:ext>
            </a:extLst>
          </p:cNvPr>
          <p:cNvSpPr txBox="1">
            <a:spLocks/>
          </p:cNvSpPr>
          <p:nvPr/>
        </p:nvSpPr>
        <p:spPr>
          <a:xfrm>
            <a:off x="0" y="0"/>
            <a:ext cx="12192000" cy="1051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chemeClr val="accent6"/>
              </a:buClr>
              <a:buSzPts val="2400"/>
              <a:buFont typeface="Lato"/>
              <a:buChar char="▷"/>
              <a:defRPr sz="2400" b="0" i="0" u="none" strike="noStrike" cap="none">
                <a:solidFill>
                  <a:schemeClr val="dk1"/>
                </a:solidFill>
                <a:latin typeface="Lato"/>
                <a:ea typeface="Lato"/>
                <a:cs typeface="Lato"/>
                <a:sym typeface="Lato"/>
              </a:defRPr>
            </a:lvl1pPr>
            <a:lvl2pPr marL="914400" marR="0" lvl="1"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2pPr>
            <a:lvl3pPr marL="1371600" marR="0" lvl="2"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3pPr>
            <a:lvl4pPr marL="1828800" marR="0" lvl="3"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4pPr>
            <a:lvl5pPr marL="2286000" marR="0" lvl="4"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5pPr>
            <a:lvl6pPr marL="2743200" marR="0" lvl="5"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6pPr>
            <a:lvl7pPr marL="3200400" marR="0" lvl="6"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7pPr>
            <a:lvl8pPr marL="3657600" marR="0" lvl="7"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8pPr>
            <a:lvl9pPr marL="4114800" marR="0" lvl="8"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9pPr>
          </a:lstStyle>
          <a:p>
            <a:pPr marL="0" indent="0" defTabSz="1219170">
              <a:spcBef>
                <a:spcPts val="0"/>
              </a:spcBef>
              <a:buClr>
                <a:srgbClr val="97ABBC"/>
              </a:buClr>
              <a:buNone/>
            </a:pPr>
            <a:r>
              <a:rPr lang="en-US" sz="5333" b="1" kern="0" dirty="0">
                <a:solidFill>
                  <a:srgbClr val="2185C5"/>
                </a:solidFill>
                <a:latin typeface="Raleway"/>
                <a:ea typeface="Raleway"/>
                <a:cs typeface="Raleway"/>
                <a:sym typeface="Raleway"/>
              </a:rPr>
              <a:t>Testing and sanity checks</a:t>
            </a:r>
            <a:endParaRPr lang="en-US" sz="3733" i="1" kern="0" dirty="0">
              <a:solidFill>
                <a:srgbClr val="2185C5"/>
              </a:solidFill>
              <a:latin typeface="Raleway"/>
              <a:ea typeface="Raleway"/>
              <a:cs typeface="Raleway"/>
              <a:sym typeface="Raleway"/>
            </a:endParaRPr>
          </a:p>
        </p:txBody>
      </p:sp>
    </p:spTree>
    <p:extLst>
      <p:ext uri="{BB962C8B-B14F-4D97-AF65-F5344CB8AC3E}">
        <p14:creationId xmlns:p14="http://schemas.microsoft.com/office/powerpoint/2010/main" val="41027969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87B419C2-5AA8-35B5-879E-349171DC4E51}"/>
            </a:ext>
          </a:extLst>
        </p:cNvPr>
        <p:cNvGrpSpPr/>
        <p:nvPr/>
      </p:nvGrpSpPr>
      <p:grpSpPr>
        <a:xfrm>
          <a:off x="0" y="0"/>
          <a:ext cx="0" cy="0"/>
          <a:chOff x="0" y="0"/>
          <a:chExt cx="0" cy="0"/>
        </a:xfrm>
      </p:grpSpPr>
      <p:sp>
        <p:nvSpPr>
          <p:cNvPr id="4" name="Google Shape;157;p27">
            <a:extLst>
              <a:ext uri="{FF2B5EF4-FFF2-40B4-BE49-F238E27FC236}">
                <a16:creationId xmlns:a16="http://schemas.microsoft.com/office/drawing/2014/main" id="{F5B342B4-8A9D-38DE-C359-80129243B7FB}"/>
              </a:ext>
            </a:extLst>
          </p:cNvPr>
          <p:cNvSpPr txBox="1">
            <a:spLocks/>
          </p:cNvSpPr>
          <p:nvPr/>
        </p:nvSpPr>
        <p:spPr>
          <a:xfrm>
            <a:off x="0" y="0"/>
            <a:ext cx="12192000" cy="1051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chemeClr val="accent6"/>
              </a:buClr>
              <a:buSzPts val="2400"/>
              <a:buFont typeface="Lato"/>
              <a:buChar char="▷"/>
              <a:defRPr sz="2400" b="0" i="0" u="none" strike="noStrike" cap="none">
                <a:solidFill>
                  <a:schemeClr val="dk1"/>
                </a:solidFill>
                <a:latin typeface="Lato"/>
                <a:ea typeface="Lato"/>
                <a:cs typeface="Lato"/>
                <a:sym typeface="Lato"/>
              </a:defRPr>
            </a:lvl1pPr>
            <a:lvl2pPr marL="914400" marR="0" lvl="1"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2pPr>
            <a:lvl3pPr marL="1371600" marR="0" lvl="2"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3pPr>
            <a:lvl4pPr marL="1828800" marR="0" lvl="3"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4pPr>
            <a:lvl5pPr marL="2286000" marR="0" lvl="4"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5pPr>
            <a:lvl6pPr marL="2743200" marR="0" lvl="5"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6pPr>
            <a:lvl7pPr marL="3200400" marR="0" lvl="6"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7pPr>
            <a:lvl8pPr marL="3657600" marR="0" lvl="7"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8pPr>
            <a:lvl9pPr marL="4114800" marR="0" lvl="8"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9pPr>
          </a:lstStyle>
          <a:p>
            <a:pPr marL="0" indent="0" defTabSz="1219170">
              <a:spcBef>
                <a:spcPts val="0"/>
              </a:spcBef>
              <a:buClr>
                <a:srgbClr val="97ABBC"/>
              </a:buClr>
              <a:buNone/>
            </a:pPr>
            <a:r>
              <a:rPr lang="en-US" sz="5333" b="1" kern="0" dirty="0">
                <a:solidFill>
                  <a:srgbClr val="2185C5"/>
                </a:solidFill>
                <a:latin typeface="Raleway"/>
                <a:ea typeface="Raleway"/>
                <a:cs typeface="Raleway"/>
                <a:sym typeface="Raleway"/>
              </a:rPr>
              <a:t>Results</a:t>
            </a:r>
            <a:endParaRPr lang="en-US" sz="3733" i="1" kern="0" dirty="0">
              <a:solidFill>
                <a:srgbClr val="2185C5"/>
              </a:solidFill>
              <a:latin typeface="Raleway"/>
              <a:ea typeface="Raleway"/>
              <a:cs typeface="Raleway"/>
              <a:sym typeface="Raleway"/>
            </a:endParaRPr>
          </a:p>
        </p:txBody>
      </p:sp>
      <p:graphicFrame>
        <p:nvGraphicFramePr>
          <p:cNvPr id="2" name="Table 1">
            <a:extLst>
              <a:ext uri="{FF2B5EF4-FFF2-40B4-BE49-F238E27FC236}">
                <a16:creationId xmlns:a16="http://schemas.microsoft.com/office/drawing/2014/main" id="{0020324B-4D96-EA14-D619-5AAB7F05F67A}"/>
              </a:ext>
            </a:extLst>
          </p:cNvPr>
          <p:cNvGraphicFramePr>
            <a:graphicFrameLocks noGrp="1"/>
          </p:cNvGraphicFramePr>
          <p:nvPr>
            <p:extLst>
              <p:ext uri="{D42A27DB-BD31-4B8C-83A1-F6EECF244321}">
                <p14:modId xmlns:p14="http://schemas.microsoft.com/office/powerpoint/2010/main" val="504442760"/>
              </p:ext>
            </p:extLst>
          </p:nvPr>
        </p:nvGraphicFramePr>
        <p:xfrm>
          <a:off x="1260764" y="1642091"/>
          <a:ext cx="10256232" cy="3017520"/>
        </p:xfrm>
        <a:graphic>
          <a:graphicData uri="http://schemas.openxmlformats.org/drawingml/2006/table">
            <a:tbl>
              <a:tblPr>
                <a:tableStyleId>{2D5ABB26-0587-4C30-8999-92F81FD0307C}</a:tableStyleId>
              </a:tblPr>
              <a:tblGrid>
                <a:gridCol w="2564058">
                  <a:extLst>
                    <a:ext uri="{9D8B030D-6E8A-4147-A177-3AD203B41FA5}">
                      <a16:colId xmlns:a16="http://schemas.microsoft.com/office/drawing/2014/main" val="2259043582"/>
                    </a:ext>
                  </a:extLst>
                </a:gridCol>
                <a:gridCol w="2564058">
                  <a:extLst>
                    <a:ext uri="{9D8B030D-6E8A-4147-A177-3AD203B41FA5}">
                      <a16:colId xmlns:a16="http://schemas.microsoft.com/office/drawing/2014/main" val="362875831"/>
                    </a:ext>
                  </a:extLst>
                </a:gridCol>
                <a:gridCol w="2564058">
                  <a:extLst>
                    <a:ext uri="{9D8B030D-6E8A-4147-A177-3AD203B41FA5}">
                      <a16:colId xmlns:a16="http://schemas.microsoft.com/office/drawing/2014/main" val="2232177768"/>
                    </a:ext>
                  </a:extLst>
                </a:gridCol>
                <a:gridCol w="2564058">
                  <a:extLst>
                    <a:ext uri="{9D8B030D-6E8A-4147-A177-3AD203B41FA5}">
                      <a16:colId xmlns:a16="http://schemas.microsoft.com/office/drawing/2014/main" val="3286041361"/>
                    </a:ext>
                  </a:extLst>
                </a:gridCol>
              </a:tblGrid>
              <a:tr h="660527">
                <a:tc>
                  <a:txBody>
                    <a:bodyPr/>
                    <a:lstStyle/>
                    <a:p>
                      <a:pPr algn="ctr">
                        <a:buNone/>
                      </a:pPr>
                      <a:r>
                        <a:rPr lang="en-US" sz="240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Model</a:t>
                      </a:r>
                    </a:p>
                  </a:txBody>
                  <a:tcPr anchor="ctr">
                    <a:solidFill>
                      <a:schemeClr val="accent2"/>
                    </a:solidFill>
                  </a:tcPr>
                </a:tc>
                <a:tc>
                  <a:txBody>
                    <a:bodyPr/>
                    <a:lstStyle/>
                    <a:p>
                      <a:pPr algn="ctr">
                        <a:buNone/>
                      </a:pPr>
                      <a:r>
                        <a:rPr lang="en-US" sz="240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Runtime (s)</a:t>
                      </a:r>
                    </a:p>
                  </a:txBody>
                  <a:tcPr anchor="ctr">
                    <a:solidFill>
                      <a:schemeClr val="accent2"/>
                    </a:solidFill>
                  </a:tcPr>
                </a:tc>
                <a:tc>
                  <a:txBody>
                    <a:bodyPr/>
                    <a:lstStyle/>
                    <a:p>
                      <a:pPr algn="ctr">
                        <a:buNone/>
                      </a:pPr>
                      <a:r>
                        <a:rPr lang="en-US" sz="240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Speedup vs FOM</a:t>
                      </a:r>
                    </a:p>
                  </a:txBody>
                  <a:tcPr anchor="ctr">
                    <a:solidFill>
                      <a:schemeClr val="accent2"/>
                    </a:solidFill>
                  </a:tcPr>
                </a:tc>
                <a:tc>
                  <a:txBody>
                    <a:bodyPr/>
                    <a:lstStyle/>
                    <a:p>
                      <a:pPr algn="ctr">
                        <a:buNone/>
                      </a:pPr>
                      <a:r>
                        <a:rPr lang="en-US" sz="240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Von Mises Error (%)</a:t>
                      </a:r>
                    </a:p>
                  </a:txBody>
                  <a:tcPr anchor="ctr">
                    <a:solidFill>
                      <a:schemeClr val="accent2"/>
                    </a:solidFill>
                  </a:tcPr>
                </a:tc>
                <a:extLst>
                  <a:ext uri="{0D108BD9-81ED-4DB2-BD59-A6C34878D82A}">
                    <a16:rowId xmlns:a16="http://schemas.microsoft.com/office/drawing/2014/main" val="3648578542"/>
                  </a:ext>
                </a:extLst>
              </a:tr>
              <a:tr h="375984">
                <a:tc>
                  <a:txBody>
                    <a:bodyPr/>
                    <a:lstStyle/>
                    <a:p>
                      <a:pPr algn="ctr">
                        <a:buNone/>
                      </a:pPr>
                      <a:r>
                        <a:rPr lang="en-US" sz="240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FOM (S=1)</a:t>
                      </a:r>
                    </a:p>
                  </a:txBody>
                  <a:tcPr anchor="ctr">
                    <a:lnB w="12700" cap="flat" cmpd="sng" algn="ctr">
                      <a:solidFill>
                        <a:schemeClr val="tx1"/>
                      </a:solidFill>
                      <a:prstDash val="solid"/>
                      <a:round/>
                      <a:headEnd type="none" w="med" len="med"/>
                      <a:tailEnd type="none" w="med" len="med"/>
                    </a:lnB>
                  </a:tcPr>
                </a:tc>
                <a:tc>
                  <a:txBody>
                    <a:bodyPr/>
                    <a:lstStyle/>
                    <a:p>
                      <a:pPr algn="ctr">
                        <a:buNone/>
                      </a:pPr>
                      <a:r>
                        <a:rPr lang="en-US" sz="240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0.193</a:t>
                      </a:r>
                    </a:p>
                  </a:txBody>
                  <a:tcPr anchor="ctr">
                    <a:lnB w="12700" cap="flat" cmpd="sng" algn="ctr">
                      <a:solidFill>
                        <a:schemeClr val="tx1"/>
                      </a:solidFill>
                      <a:prstDash val="solid"/>
                      <a:round/>
                      <a:headEnd type="none" w="med" len="med"/>
                      <a:tailEnd type="none" w="med" len="med"/>
                    </a:lnB>
                  </a:tcPr>
                </a:tc>
                <a:tc>
                  <a:txBody>
                    <a:bodyPr/>
                    <a:lstStyle/>
                    <a:p>
                      <a:pPr algn="ctr">
                        <a:buNone/>
                      </a:pPr>
                      <a:r>
                        <a:rPr lang="en-US" sz="240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1.0×</a:t>
                      </a:r>
                    </a:p>
                  </a:txBody>
                  <a:tcPr anchor="ctr">
                    <a:lnB w="12700" cap="flat" cmpd="sng" algn="ctr">
                      <a:solidFill>
                        <a:schemeClr val="tx1"/>
                      </a:solidFill>
                      <a:prstDash val="solid"/>
                      <a:round/>
                      <a:headEnd type="none" w="med" len="med"/>
                      <a:tailEnd type="none" w="med" len="med"/>
                    </a:lnB>
                  </a:tcPr>
                </a:tc>
                <a:tc>
                  <a:txBody>
                    <a:bodyPr/>
                    <a:lstStyle/>
                    <a:p>
                      <a:pPr algn="ctr">
                        <a:buNone/>
                      </a:pPr>
                      <a:r>
                        <a:rPr lang="en-US" sz="240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0.00 %</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6002257"/>
                  </a:ext>
                </a:extLst>
              </a:tr>
              <a:tr h="375984">
                <a:tc>
                  <a:txBody>
                    <a:bodyPr/>
                    <a:lstStyle/>
                    <a:p>
                      <a:pPr algn="ctr">
                        <a:buNone/>
                      </a:pPr>
                      <a:r>
                        <a:rPr lang="en-US" sz="240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SFOM (S=4)</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400" b="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0.000153</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400" b="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1268.8×</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400" b="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4.45%</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87914922"/>
                  </a:ext>
                </a:extLst>
              </a:tr>
              <a:tr h="375984">
                <a:tc>
                  <a:txBody>
                    <a:bodyPr/>
                    <a:lstStyle/>
                    <a:p>
                      <a:pPr algn="ctr">
                        <a:buNone/>
                      </a:pPr>
                      <a:r>
                        <a:rPr lang="en-US" sz="2400" b="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SFOM </a:t>
                      </a:r>
                    </a:p>
                    <a:p>
                      <a:pPr algn="ctr">
                        <a:buNone/>
                      </a:pPr>
                      <a:r>
                        <a:rPr lang="en-US" sz="2400" b="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(S=4 + LU-once)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400" b="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0.000059</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400" b="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3279.9×</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400" b="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4.45%</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8375744"/>
                  </a:ext>
                </a:extLst>
              </a:tr>
              <a:tr h="375984">
                <a:tc>
                  <a:txBody>
                    <a:bodyPr/>
                    <a:lstStyle/>
                    <a:p>
                      <a:pPr algn="ctr">
                        <a:buNone/>
                      </a:pPr>
                      <a:r>
                        <a:rPr lang="en-US" sz="240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ROM</a:t>
                      </a:r>
                    </a:p>
                  </a:txBody>
                  <a:tcPr anchor="ctr">
                    <a:lnT w="12700" cap="flat" cmpd="sng" algn="ctr">
                      <a:solidFill>
                        <a:schemeClr val="tx1"/>
                      </a:solidFill>
                      <a:prstDash val="solid"/>
                      <a:round/>
                      <a:headEnd type="none" w="med" len="med"/>
                      <a:tailEnd type="none" w="med" len="med"/>
                    </a:lnT>
                  </a:tcPr>
                </a:tc>
                <a:tc>
                  <a:txBody>
                    <a:bodyPr/>
                    <a:lstStyle/>
                    <a:p>
                      <a:pPr algn="ctr">
                        <a:buNone/>
                      </a:pPr>
                      <a:r>
                        <a:rPr lang="en-US" sz="240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0.000320</a:t>
                      </a:r>
                    </a:p>
                  </a:txBody>
                  <a:tcPr anchor="ctr">
                    <a:lnT w="12700" cap="flat" cmpd="sng" algn="ctr">
                      <a:solidFill>
                        <a:schemeClr val="tx1"/>
                      </a:solidFill>
                      <a:prstDash val="solid"/>
                      <a:round/>
                      <a:headEnd type="none" w="med" len="med"/>
                      <a:tailEnd type="none" w="med" len="med"/>
                    </a:lnT>
                  </a:tcPr>
                </a:tc>
                <a:tc>
                  <a:txBody>
                    <a:bodyPr/>
                    <a:lstStyle/>
                    <a:p>
                      <a:pPr algn="ctr">
                        <a:buNone/>
                      </a:pPr>
                      <a:r>
                        <a:rPr lang="en-US" sz="240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605.1×</a:t>
                      </a:r>
                    </a:p>
                  </a:txBody>
                  <a:tcPr anchor="ctr">
                    <a:lnT w="12700" cap="flat" cmpd="sng" algn="ctr">
                      <a:solidFill>
                        <a:schemeClr val="tx1"/>
                      </a:solidFill>
                      <a:prstDash val="solid"/>
                      <a:round/>
                      <a:headEnd type="none" w="med" len="med"/>
                      <a:tailEnd type="none" w="med" len="med"/>
                    </a:lnT>
                  </a:tcPr>
                </a:tc>
                <a:tc>
                  <a:txBody>
                    <a:bodyPr/>
                    <a:lstStyle/>
                    <a:p>
                      <a:pPr algn="ctr">
                        <a:buNone/>
                      </a:pPr>
                      <a:r>
                        <a:rPr lang="en-US" sz="240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1.29%</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948172802"/>
                  </a:ext>
                </a:extLst>
              </a:tr>
            </a:tbl>
          </a:graphicData>
        </a:graphic>
      </p:graphicFrame>
    </p:spTree>
    <p:extLst>
      <p:ext uri="{BB962C8B-B14F-4D97-AF65-F5344CB8AC3E}">
        <p14:creationId xmlns:p14="http://schemas.microsoft.com/office/powerpoint/2010/main" val="218024881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E27793A7-F0DD-7A03-9D24-8DC77F869CD2}"/>
            </a:ext>
          </a:extLst>
        </p:cNvPr>
        <p:cNvGrpSpPr/>
        <p:nvPr/>
      </p:nvGrpSpPr>
      <p:grpSpPr>
        <a:xfrm>
          <a:off x="0" y="0"/>
          <a:ext cx="0" cy="0"/>
          <a:chOff x="0" y="0"/>
          <a:chExt cx="0" cy="0"/>
        </a:xfrm>
      </p:grpSpPr>
      <p:sp>
        <p:nvSpPr>
          <p:cNvPr id="4" name="Google Shape;157;p27">
            <a:extLst>
              <a:ext uri="{FF2B5EF4-FFF2-40B4-BE49-F238E27FC236}">
                <a16:creationId xmlns:a16="http://schemas.microsoft.com/office/drawing/2014/main" id="{D383E194-6F92-9A22-F45F-59F83F6CA629}"/>
              </a:ext>
            </a:extLst>
          </p:cNvPr>
          <p:cNvSpPr txBox="1">
            <a:spLocks/>
          </p:cNvSpPr>
          <p:nvPr/>
        </p:nvSpPr>
        <p:spPr>
          <a:xfrm>
            <a:off x="0" y="0"/>
            <a:ext cx="12192000" cy="1051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chemeClr val="accent6"/>
              </a:buClr>
              <a:buSzPts val="2400"/>
              <a:buFont typeface="Lato"/>
              <a:buChar char="▷"/>
              <a:defRPr sz="2400" b="0" i="0" u="none" strike="noStrike" cap="none">
                <a:solidFill>
                  <a:schemeClr val="dk1"/>
                </a:solidFill>
                <a:latin typeface="Lato"/>
                <a:ea typeface="Lato"/>
                <a:cs typeface="Lato"/>
                <a:sym typeface="Lato"/>
              </a:defRPr>
            </a:lvl1pPr>
            <a:lvl2pPr marL="914400" marR="0" lvl="1"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2pPr>
            <a:lvl3pPr marL="1371600" marR="0" lvl="2"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3pPr>
            <a:lvl4pPr marL="1828800" marR="0" lvl="3"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4pPr>
            <a:lvl5pPr marL="2286000" marR="0" lvl="4"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5pPr>
            <a:lvl6pPr marL="2743200" marR="0" lvl="5"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6pPr>
            <a:lvl7pPr marL="3200400" marR="0" lvl="6"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7pPr>
            <a:lvl8pPr marL="3657600" marR="0" lvl="7"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8pPr>
            <a:lvl9pPr marL="4114800" marR="0" lvl="8"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9pPr>
          </a:lstStyle>
          <a:p>
            <a:pPr marL="0" indent="0" defTabSz="1219170">
              <a:spcBef>
                <a:spcPts val="0"/>
              </a:spcBef>
              <a:buClr>
                <a:srgbClr val="97ABBC"/>
              </a:buClr>
              <a:buNone/>
            </a:pPr>
            <a:r>
              <a:rPr lang="en-US" sz="5333" b="1" kern="0" dirty="0">
                <a:solidFill>
                  <a:srgbClr val="2185C5"/>
                </a:solidFill>
                <a:latin typeface="Raleway"/>
                <a:ea typeface="Raleway"/>
                <a:cs typeface="Raleway"/>
                <a:sym typeface="Raleway"/>
              </a:rPr>
              <a:t>Results: Figure 1</a:t>
            </a:r>
            <a:endParaRPr lang="en-US" sz="3733" i="1" kern="0" dirty="0">
              <a:solidFill>
                <a:srgbClr val="2185C5"/>
              </a:solidFill>
              <a:latin typeface="Raleway"/>
              <a:ea typeface="Raleway"/>
              <a:cs typeface="Raleway"/>
              <a:sym typeface="Raleway"/>
            </a:endParaRPr>
          </a:p>
        </p:txBody>
      </p:sp>
      <p:pic>
        <p:nvPicPr>
          <p:cNvPr id="3" name="Picture 2">
            <a:extLst>
              <a:ext uri="{FF2B5EF4-FFF2-40B4-BE49-F238E27FC236}">
                <a16:creationId xmlns:a16="http://schemas.microsoft.com/office/drawing/2014/main" id="{559FEAC2-C34B-0BFE-2894-9002D36EA180}"/>
              </a:ext>
            </a:extLst>
          </p:cNvPr>
          <p:cNvPicPr>
            <a:picLocks noChangeAspect="1"/>
          </p:cNvPicPr>
          <p:nvPr/>
        </p:nvPicPr>
        <p:blipFill>
          <a:blip r:embed="rId3"/>
          <a:stretch>
            <a:fillRect/>
          </a:stretch>
        </p:blipFill>
        <p:spPr>
          <a:xfrm>
            <a:off x="720437" y="1107902"/>
            <a:ext cx="9947564" cy="4642196"/>
          </a:xfrm>
          <a:prstGeom prst="rect">
            <a:avLst/>
          </a:prstGeom>
        </p:spPr>
      </p:pic>
      <p:sp>
        <p:nvSpPr>
          <p:cNvPr id="6" name="TextBox 5">
            <a:extLst>
              <a:ext uri="{FF2B5EF4-FFF2-40B4-BE49-F238E27FC236}">
                <a16:creationId xmlns:a16="http://schemas.microsoft.com/office/drawing/2014/main" id="{F8924166-5220-E4FD-1C8A-2690D1CAA6FE}"/>
              </a:ext>
            </a:extLst>
          </p:cNvPr>
          <p:cNvSpPr txBox="1"/>
          <p:nvPr/>
        </p:nvSpPr>
        <p:spPr>
          <a:xfrm>
            <a:off x="1338696" y="5750098"/>
            <a:ext cx="10955482" cy="369332"/>
          </a:xfrm>
          <a:prstGeom prst="rect">
            <a:avLst/>
          </a:prstGeom>
          <a:noFill/>
        </p:spPr>
        <p:txBody>
          <a:bodyPr wrap="square">
            <a:spAutoFit/>
          </a:bodyPr>
          <a:lstStyle/>
          <a:p>
            <a:r>
              <a:rPr lang="en-US" b="1"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Figure 1:</a:t>
            </a:r>
            <a:r>
              <a:rPr lang="en-US"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 Per‑step error (S=4) — periodic spikes due to skipped updates; average VM error ~4.45%.</a:t>
            </a:r>
          </a:p>
        </p:txBody>
      </p:sp>
    </p:spTree>
    <p:extLst>
      <p:ext uri="{BB962C8B-B14F-4D97-AF65-F5344CB8AC3E}">
        <p14:creationId xmlns:p14="http://schemas.microsoft.com/office/powerpoint/2010/main" val="359136169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4FA340A7-6C37-F1ED-B3AC-F8963A79175F}"/>
            </a:ext>
          </a:extLst>
        </p:cNvPr>
        <p:cNvGrpSpPr/>
        <p:nvPr/>
      </p:nvGrpSpPr>
      <p:grpSpPr>
        <a:xfrm>
          <a:off x="0" y="0"/>
          <a:ext cx="0" cy="0"/>
          <a:chOff x="0" y="0"/>
          <a:chExt cx="0" cy="0"/>
        </a:xfrm>
      </p:grpSpPr>
      <p:sp>
        <p:nvSpPr>
          <p:cNvPr id="4" name="Google Shape;157;p27">
            <a:extLst>
              <a:ext uri="{FF2B5EF4-FFF2-40B4-BE49-F238E27FC236}">
                <a16:creationId xmlns:a16="http://schemas.microsoft.com/office/drawing/2014/main" id="{AD92CB79-9F3C-6BEA-5457-3953A5D099AF}"/>
              </a:ext>
            </a:extLst>
          </p:cNvPr>
          <p:cNvSpPr txBox="1">
            <a:spLocks/>
          </p:cNvSpPr>
          <p:nvPr/>
        </p:nvSpPr>
        <p:spPr>
          <a:xfrm>
            <a:off x="0" y="0"/>
            <a:ext cx="12192000" cy="1051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chemeClr val="accent6"/>
              </a:buClr>
              <a:buSzPts val="2400"/>
              <a:buFont typeface="Lato"/>
              <a:buChar char="▷"/>
              <a:defRPr sz="2400" b="0" i="0" u="none" strike="noStrike" cap="none">
                <a:solidFill>
                  <a:schemeClr val="dk1"/>
                </a:solidFill>
                <a:latin typeface="Lato"/>
                <a:ea typeface="Lato"/>
                <a:cs typeface="Lato"/>
                <a:sym typeface="Lato"/>
              </a:defRPr>
            </a:lvl1pPr>
            <a:lvl2pPr marL="914400" marR="0" lvl="1"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2pPr>
            <a:lvl3pPr marL="1371600" marR="0" lvl="2"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3pPr>
            <a:lvl4pPr marL="1828800" marR="0" lvl="3"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4pPr>
            <a:lvl5pPr marL="2286000" marR="0" lvl="4"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5pPr>
            <a:lvl6pPr marL="2743200" marR="0" lvl="5"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6pPr>
            <a:lvl7pPr marL="3200400" marR="0" lvl="6"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7pPr>
            <a:lvl8pPr marL="3657600" marR="0" lvl="7"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8pPr>
            <a:lvl9pPr marL="4114800" marR="0" lvl="8"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9pPr>
          </a:lstStyle>
          <a:p>
            <a:pPr marL="0" indent="0" defTabSz="1219170">
              <a:spcBef>
                <a:spcPts val="0"/>
              </a:spcBef>
              <a:buClr>
                <a:srgbClr val="97ABBC"/>
              </a:buClr>
              <a:buNone/>
            </a:pPr>
            <a:r>
              <a:rPr lang="en-US" sz="5333" b="1" kern="0" dirty="0">
                <a:solidFill>
                  <a:srgbClr val="2185C5"/>
                </a:solidFill>
                <a:latin typeface="Raleway"/>
                <a:ea typeface="Raleway"/>
                <a:cs typeface="Raleway"/>
                <a:sym typeface="Raleway"/>
              </a:rPr>
              <a:t>Results: Figure 2</a:t>
            </a:r>
            <a:endParaRPr lang="en-US" sz="3733" i="1" kern="0" dirty="0">
              <a:solidFill>
                <a:srgbClr val="2185C5"/>
              </a:solidFill>
              <a:latin typeface="Raleway"/>
              <a:ea typeface="Raleway"/>
              <a:cs typeface="Raleway"/>
              <a:sym typeface="Raleway"/>
            </a:endParaRPr>
          </a:p>
        </p:txBody>
      </p:sp>
      <p:sp>
        <p:nvSpPr>
          <p:cNvPr id="6" name="TextBox 5">
            <a:extLst>
              <a:ext uri="{FF2B5EF4-FFF2-40B4-BE49-F238E27FC236}">
                <a16:creationId xmlns:a16="http://schemas.microsoft.com/office/drawing/2014/main" id="{42D75E7F-957E-9085-ED42-9979E878E07C}"/>
              </a:ext>
            </a:extLst>
          </p:cNvPr>
          <p:cNvSpPr txBox="1"/>
          <p:nvPr/>
        </p:nvSpPr>
        <p:spPr>
          <a:xfrm>
            <a:off x="1338696" y="5750098"/>
            <a:ext cx="10955482" cy="646331"/>
          </a:xfrm>
          <a:prstGeom prst="rect">
            <a:avLst/>
          </a:prstGeom>
          <a:noFill/>
        </p:spPr>
        <p:txBody>
          <a:bodyPr wrap="square">
            <a:spAutoFit/>
          </a:bodyPr>
          <a:lstStyle/>
          <a:p>
            <a:r>
              <a:rPr lang="en-US" b="1"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Figure 2:</a:t>
            </a:r>
            <a:r>
              <a:rPr lang="en-US"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 Tradeoff curve — error rises with stride; speedup increases (S=16 ~6000×); ROM shown as reference (~2% error, ~4500× speedup).</a:t>
            </a:r>
          </a:p>
        </p:txBody>
      </p:sp>
      <p:pic>
        <p:nvPicPr>
          <p:cNvPr id="5" name="Picture 4">
            <a:extLst>
              <a:ext uri="{FF2B5EF4-FFF2-40B4-BE49-F238E27FC236}">
                <a16:creationId xmlns:a16="http://schemas.microsoft.com/office/drawing/2014/main" id="{444365F8-FFF2-CF9E-DEB2-0A67F080E235}"/>
              </a:ext>
            </a:extLst>
          </p:cNvPr>
          <p:cNvPicPr>
            <a:picLocks noChangeAspect="1"/>
          </p:cNvPicPr>
          <p:nvPr/>
        </p:nvPicPr>
        <p:blipFill rotWithShape="1">
          <a:blip r:embed="rId3"/>
          <a:srcRect l="7490" r="3634"/>
          <a:stretch>
            <a:fillRect/>
          </a:stretch>
        </p:blipFill>
        <p:spPr bwMode="auto">
          <a:xfrm>
            <a:off x="1172440" y="1093165"/>
            <a:ext cx="9190759" cy="4825757"/>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A5D8D122-45F1-CFDF-77CC-BCE2EB37E480}"/>
                  </a:ext>
                </a:extLst>
              </p:cNvPr>
              <p:cNvSpPr txBox="1"/>
              <p:nvPr/>
            </p:nvSpPr>
            <p:spPr>
              <a:xfrm>
                <a:off x="9663546" y="180725"/>
                <a:ext cx="2357889" cy="56169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solidFill>
                                <a:schemeClr val="tx2">
                                  <a:lumMod val="10000"/>
                                </a:schemeClr>
                              </a:solidFill>
                              <a:latin typeface="Cambria Math" panose="02040503050406030204" pitchFamily="18" charset="0"/>
                            </a:rPr>
                          </m:ctrlPr>
                        </m:sSubPr>
                        <m:e>
                          <m:r>
                            <a:rPr lang="en-US" sz="1400" b="0" i="1" smtClean="0">
                              <a:solidFill>
                                <a:schemeClr val="tx2">
                                  <a:lumMod val="10000"/>
                                </a:schemeClr>
                              </a:solidFill>
                              <a:latin typeface="Cambria Math" panose="02040503050406030204" pitchFamily="18" charset="0"/>
                            </a:rPr>
                            <m:t>𝐸𝑟𝑟𝑜𝑟</m:t>
                          </m:r>
                        </m:e>
                        <m:sub>
                          <m:r>
                            <a:rPr lang="en-US" sz="1400" b="0" i="1" smtClean="0">
                              <a:solidFill>
                                <a:schemeClr val="tx2">
                                  <a:lumMod val="10000"/>
                                </a:schemeClr>
                              </a:solidFill>
                              <a:latin typeface="Cambria Math" panose="02040503050406030204" pitchFamily="18" charset="0"/>
                            </a:rPr>
                            <m:t>𝑖</m:t>
                          </m:r>
                        </m:sub>
                      </m:sSub>
                      <m:r>
                        <a:rPr lang="en-US" sz="1400" b="0" i="1" smtClean="0">
                          <a:solidFill>
                            <a:schemeClr val="tx2">
                              <a:lumMod val="10000"/>
                            </a:schemeClr>
                          </a:solidFill>
                          <a:latin typeface="Cambria Math" panose="02040503050406030204" pitchFamily="18" charset="0"/>
                        </a:rPr>
                        <m:t>=</m:t>
                      </m:r>
                      <m:f>
                        <m:fPr>
                          <m:ctrlPr>
                            <a:rPr lang="en-US" sz="1400" i="1" smtClean="0">
                              <a:solidFill>
                                <a:schemeClr val="tx2">
                                  <a:lumMod val="10000"/>
                                </a:schemeClr>
                              </a:solidFill>
                              <a:latin typeface="Cambria Math" panose="02040503050406030204" pitchFamily="18" charset="0"/>
                            </a:rPr>
                          </m:ctrlPr>
                        </m:fPr>
                        <m:num>
                          <m:d>
                            <m:dPr>
                              <m:begChr m:val="‖"/>
                              <m:endChr m:val="‖"/>
                              <m:ctrlPr>
                                <a:rPr lang="en-US" sz="1400" i="1" smtClean="0">
                                  <a:solidFill>
                                    <a:schemeClr val="tx2">
                                      <a:lumMod val="10000"/>
                                    </a:schemeClr>
                                  </a:solidFill>
                                  <a:latin typeface="Cambria Math" panose="02040503050406030204" pitchFamily="18" charset="0"/>
                                </a:rPr>
                              </m:ctrlPr>
                            </m:dPr>
                            <m:e>
                              <m:sSubSup>
                                <m:sSubSupPr>
                                  <m:ctrlPr>
                                    <a:rPr lang="en-US" sz="1400" i="1" smtClean="0">
                                      <a:solidFill>
                                        <a:schemeClr val="tx2">
                                          <a:lumMod val="10000"/>
                                        </a:schemeClr>
                                      </a:solidFill>
                                      <a:latin typeface="Cambria Math" panose="02040503050406030204" pitchFamily="18" charset="0"/>
                                    </a:rPr>
                                  </m:ctrlPr>
                                </m:sSubSupPr>
                                <m:e>
                                  <m:r>
                                    <a:rPr lang="en-US" sz="1400" i="1" smtClean="0">
                                      <a:solidFill>
                                        <a:schemeClr val="tx2">
                                          <a:lumMod val="10000"/>
                                        </a:schemeClr>
                                      </a:solidFill>
                                      <a:latin typeface="Cambria Math" panose="02040503050406030204" pitchFamily="18" charset="0"/>
                                      <a:ea typeface="Cambria Math" panose="02040503050406030204" pitchFamily="18" charset="0"/>
                                    </a:rPr>
                                    <m:t>𝜎</m:t>
                                  </m:r>
                                </m:e>
                                <m:sub>
                                  <m:r>
                                    <a:rPr lang="en-US" sz="1400" b="0" i="1" smtClean="0">
                                      <a:solidFill>
                                        <a:schemeClr val="tx2">
                                          <a:lumMod val="10000"/>
                                        </a:schemeClr>
                                      </a:solidFill>
                                      <a:latin typeface="Cambria Math" panose="02040503050406030204" pitchFamily="18" charset="0"/>
                                    </a:rPr>
                                    <m:t>𝑣𝑚</m:t>
                                  </m:r>
                                </m:sub>
                                <m:sup>
                                  <m:r>
                                    <a:rPr lang="en-US" sz="1400" b="0" i="1" smtClean="0">
                                      <a:solidFill>
                                        <a:schemeClr val="tx2">
                                          <a:lumMod val="10000"/>
                                        </a:schemeClr>
                                      </a:solidFill>
                                      <a:latin typeface="Cambria Math" panose="02040503050406030204" pitchFamily="18" charset="0"/>
                                    </a:rPr>
                                    <m:t>𝑓𝑢𝑙𝑙</m:t>
                                  </m:r>
                                </m:sup>
                              </m:sSubSup>
                              <m:r>
                                <a:rPr lang="en-US" sz="1400" b="0" i="1" smtClean="0">
                                  <a:solidFill>
                                    <a:schemeClr val="tx2">
                                      <a:lumMod val="10000"/>
                                    </a:schemeClr>
                                  </a:solidFill>
                                  <a:latin typeface="Cambria Math" panose="02040503050406030204" pitchFamily="18" charset="0"/>
                                </a:rPr>
                                <m:t>(</m:t>
                              </m:r>
                              <m:r>
                                <a:rPr lang="en-US" sz="1400" b="0" i="1" smtClean="0">
                                  <a:solidFill>
                                    <a:schemeClr val="tx2">
                                      <a:lumMod val="10000"/>
                                    </a:schemeClr>
                                  </a:solidFill>
                                  <a:latin typeface="Cambria Math" panose="02040503050406030204" pitchFamily="18" charset="0"/>
                                </a:rPr>
                                <m:t>𝑖</m:t>
                              </m:r>
                              <m:r>
                                <a:rPr lang="en-US" sz="1400" b="0" i="1" smtClean="0">
                                  <a:solidFill>
                                    <a:schemeClr val="tx2">
                                      <a:lumMod val="10000"/>
                                    </a:schemeClr>
                                  </a:solidFill>
                                  <a:latin typeface="Cambria Math" panose="02040503050406030204" pitchFamily="18" charset="0"/>
                                </a:rPr>
                                <m:t>)−</m:t>
                              </m:r>
                              <m:sSubSup>
                                <m:sSubSupPr>
                                  <m:ctrlPr>
                                    <a:rPr lang="en-US" sz="1400" i="1">
                                      <a:solidFill>
                                        <a:schemeClr val="tx2">
                                          <a:lumMod val="10000"/>
                                        </a:schemeClr>
                                      </a:solidFill>
                                      <a:latin typeface="Cambria Math" panose="02040503050406030204" pitchFamily="18" charset="0"/>
                                    </a:rPr>
                                  </m:ctrlPr>
                                </m:sSubSupPr>
                                <m:e>
                                  <m:r>
                                    <a:rPr lang="en-US" sz="1400" i="1">
                                      <a:solidFill>
                                        <a:schemeClr val="tx2">
                                          <a:lumMod val="10000"/>
                                        </a:schemeClr>
                                      </a:solidFill>
                                      <a:latin typeface="Cambria Math" panose="02040503050406030204" pitchFamily="18" charset="0"/>
                                      <a:ea typeface="Cambria Math" panose="02040503050406030204" pitchFamily="18" charset="0"/>
                                    </a:rPr>
                                    <m:t>𝜎</m:t>
                                  </m:r>
                                </m:e>
                                <m:sub>
                                  <m:r>
                                    <a:rPr lang="en-US" sz="1400" i="1">
                                      <a:solidFill>
                                        <a:schemeClr val="tx2">
                                          <a:lumMod val="10000"/>
                                        </a:schemeClr>
                                      </a:solidFill>
                                      <a:latin typeface="Cambria Math" panose="02040503050406030204" pitchFamily="18" charset="0"/>
                                    </a:rPr>
                                    <m:t>𝑣𝑚</m:t>
                                  </m:r>
                                </m:sub>
                                <m:sup>
                                  <m:r>
                                    <a:rPr lang="en-US" sz="1400" b="0" i="1" smtClean="0">
                                      <a:solidFill>
                                        <a:schemeClr val="tx2">
                                          <a:lumMod val="10000"/>
                                        </a:schemeClr>
                                      </a:solidFill>
                                      <a:latin typeface="Cambria Math" panose="02040503050406030204" pitchFamily="18" charset="0"/>
                                    </a:rPr>
                                    <m:t>𝑠𝑢𝑏</m:t>
                                  </m:r>
                                </m:sup>
                              </m:sSubSup>
                              <m:r>
                                <a:rPr lang="en-US" sz="1400" b="0" i="1" smtClean="0">
                                  <a:solidFill>
                                    <a:schemeClr val="tx2">
                                      <a:lumMod val="10000"/>
                                    </a:schemeClr>
                                  </a:solidFill>
                                  <a:latin typeface="Cambria Math" panose="02040503050406030204" pitchFamily="18" charset="0"/>
                                </a:rPr>
                                <m:t>(</m:t>
                              </m:r>
                              <m:r>
                                <a:rPr lang="en-US" sz="1400" b="0" i="1" smtClean="0">
                                  <a:solidFill>
                                    <a:schemeClr val="tx2">
                                      <a:lumMod val="10000"/>
                                    </a:schemeClr>
                                  </a:solidFill>
                                  <a:latin typeface="Cambria Math" panose="02040503050406030204" pitchFamily="18" charset="0"/>
                                </a:rPr>
                                <m:t>𝑖</m:t>
                              </m:r>
                              <m:r>
                                <a:rPr lang="en-US" sz="1400" b="0" i="1" smtClean="0">
                                  <a:solidFill>
                                    <a:schemeClr val="tx2">
                                      <a:lumMod val="10000"/>
                                    </a:schemeClr>
                                  </a:solidFill>
                                  <a:latin typeface="Cambria Math" panose="02040503050406030204" pitchFamily="18" charset="0"/>
                                </a:rPr>
                                <m:t>)</m:t>
                              </m:r>
                            </m:e>
                          </m:d>
                        </m:num>
                        <m:den>
                          <m:r>
                            <m:rPr>
                              <m:sty m:val="p"/>
                            </m:rPr>
                            <a:rPr lang="en-US" sz="1400" b="0" i="0" smtClean="0">
                              <a:solidFill>
                                <a:schemeClr val="tx2">
                                  <a:lumMod val="10000"/>
                                </a:schemeClr>
                              </a:solidFill>
                              <a:latin typeface="Cambria Math" panose="02040503050406030204" pitchFamily="18" charset="0"/>
                            </a:rPr>
                            <m:t>max</m:t>
                          </m:r>
                          <m:r>
                            <a:rPr lang="en-US" sz="1400" b="0" i="1" smtClean="0">
                              <a:solidFill>
                                <a:schemeClr val="tx2">
                                  <a:lumMod val="10000"/>
                                </a:schemeClr>
                              </a:solidFill>
                              <a:latin typeface="Cambria Math" panose="02040503050406030204" pitchFamily="18" charset="0"/>
                            </a:rPr>
                            <m:t>⁡(</m:t>
                          </m:r>
                          <m:d>
                            <m:dPr>
                              <m:begChr m:val="‖"/>
                              <m:endChr m:val="‖"/>
                              <m:ctrlPr>
                                <a:rPr lang="en-US" sz="1400" b="0" i="1" smtClean="0">
                                  <a:solidFill>
                                    <a:schemeClr val="tx2">
                                      <a:lumMod val="10000"/>
                                    </a:schemeClr>
                                  </a:solidFill>
                                  <a:latin typeface="Cambria Math" panose="02040503050406030204" pitchFamily="18" charset="0"/>
                                </a:rPr>
                              </m:ctrlPr>
                            </m:dPr>
                            <m:e>
                              <m:sSubSup>
                                <m:sSubSupPr>
                                  <m:ctrlPr>
                                    <a:rPr lang="en-US" sz="1400" i="1">
                                      <a:solidFill>
                                        <a:schemeClr val="tx2">
                                          <a:lumMod val="10000"/>
                                        </a:schemeClr>
                                      </a:solidFill>
                                      <a:latin typeface="Cambria Math" panose="02040503050406030204" pitchFamily="18" charset="0"/>
                                    </a:rPr>
                                  </m:ctrlPr>
                                </m:sSubSupPr>
                                <m:e>
                                  <m:r>
                                    <a:rPr lang="en-US" sz="1400" i="1">
                                      <a:solidFill>
                                        <a:schemeClr val="tx2">
                                          <a:lumMod val="10000"/>
                                        </a:schemeClr>
                                      </a:solidFill>
                                      <a:latin typeface="Cambria Math" panose="02040503050406030204" pitchFamily="18" charset="0"/>
                                      <a:ea typeface="Cambria Math" panose="02040503050406030204" pitchFamily="18" charset="0"/>
                                    </a:rPr>
                                    <m:t>𝜎</m:t>
                                  </m:r>
                                </m:e>
                                <m:sub>
                                  <m:r>
                                    <a:rPr lang="en-US" sz="1400" i="1">
                                      <a:solidFill>
                                        <a:schemeClr val="tx2">
                                          <a:lumMod val="10000"/>
                                        </a:schemeClr>
                                      </a:solidFill>
                                      <a:latin typeface="Cambria Math" panose="02040503050406030204" pitchFamily="18" charset="0"/>
                                    </a:rPr>
                                    <m:t>𝑣𝑚</m:t>
                                  </m:r>
                                </m:sub>
                                <m:sup>
                                  <m:r>
                                    <a:rPr lang="en-US" sz="1400" i="1">
                                      <a:solidFill>
                                        <a:schemeClr val="tx2">
                                          <a:lumMod val="10000"/>
                                        </a:schemeClr>
                                      </a:solidFill>
                                      <a:latin typeface="Cambria Math" panose="02040503050406030204" pitchFamily="18" charset="0"/>
                                    </a:rPr>
                                    <m:t>𝑓𝑢𝑙𝑙</m:t>
                                  </m:r>
                                </m:sup>
                              </m:sSubSup>
                              <m:d>
                                <m:dPr>
                                  <m:ctrlPr>
                                    <a:rPr lang="en-US" sz="1400" i="1">
                                      <a:solidFill>
                                        <a:schemeClr val="tx2">
                                          <a:lumMod val="10000"/>
                                        </a:schemeClr>
                                      </a:solidFill>
                                      <a:latin typeface="Cambria Math" panose="02040503050406030204" pitchFamily="18" charset="0"/>
                                    </a:rPr>
                                  </m:ctrlPr>
                                </m:dPr>
                                <m:e>
                                  <m:r>
                                    <a:rPr lang="en-US" sz="1400" i="1">
                                      <a:solidFill>
                                        <a:schemeClr val="tx2">
                                          <a:lumMod val="10000"/>
                                        </a:schemeClr>
                                      </a:solidFill>
                                      <a:latin typeface="Cambria Math" panose="02040503050406030204" pitchFamily="18" charset="0"/>
                                    </a:rPr>
                                    <m:t>𝑖</m:t>
                                  </m:r>
                                </m:e>
                              </m:d>
                            </m:e>
                          </m:d>
                          <m:r>
                            <a:rPr lang="en-US" sz="1400" b="0" i="1" smtClean="0">
                              <a:solidFill>
                                <a:schemeClr val="tx2">
                                  <a:lumMod val="10000"/>
                                </a:schemeClr>
                              </a:solidFill>
                              <a:latin typeface="Cambria Math" panose="02040503050406030204" pitchFamily="18" charset="0"/>
                            </a:rPr>
                            <m:t>−</m:t>
                          </m:r>
                          <m:r>
                            <a:rPr lang="en-US" sz="1400" b="0" i="1" smtClean="0">
                              <a:solidFill>
                                <a:schemeClr val="tx2">
                                  <a:lumMod val="10000"/>
                                </a:schemeClr>
                              </a:solidFill>
                              <a:latin typeface="Cambria Math" panose="02040503050406030204" pitchFamily="18" charset="0"/>
                              <a:ea typeface="Cambria Math" panose="02040503050406030204" pitchFamily="18" charset="0"/>
                            </a:rPr>
                            <m:t>𝜀</m:t>
                          </m:r>
                          <m:r>
                            <a:rPr lang="en-US" sz="1400" b="0" i="1" smtClean="0">
                              <a:solidFill>
                                <a:schemeClr val="tx2">
                                  <a:lumMod val="10000"/>
                                </a:schemeClr>
                              </a:solidFill>
                              <a:latin typeface="Cambria Math" panose="02040503050406030204" pitchFamily="18" charset="0"/>
                            </a:rPr>
                            <m:t>)</m:t>
                          </m:r>
                        </m:den>
                      </m:f>
                    </m:oMath>
                  </m:oMathPara>
                </a14:m>
                <a:endParaRPr lang="en-US" sz="1400" dirty="0">
                  <a:solidFill>
                    <a:schemeClr val="tx2">
                      <a:lumMod val="10000"/>
                    </a:schemeClr>
                  </a:solidFill>
                </a:endParaRPr>
              </a:p>
            </p:txBody>
          </p:sp>
        </mc:Choice>
        <mc:Fallback>
          <p:sp>
            <p:nvSpPr>
              <p:cNvPr id="7" name="TextBox 6">
                <a:extLst>
                  <a:ext uri="{FF2B5EF4-FFF2-40B4-BE49-F238E27FC236}">
                    <a16:creationId xmlns:a16="http://schemas.microsoft.com/office/drawing/2014/main" id="{A5D8D122-45F1-CFDF-77CC-BCE2EB37E480}"/>
                  </a:ext>
                </a:extLst>
              </p:cNvPr>
              <p:cNvSpPr txBox="1">
                <a:spLocks noRot="1" noChangeAspect="1" noMove="1" noResize="1" noEditPoints="1" noAdjustHandles="1" noChangeArrowheads="1" noChangeShapeType="1" noTextEdit="1"/>
              </p:cNvSpPr>
              <p:nvPr/>
            </p:nvSpPr>
            <p:spPr>
              <a:xfrm>
                <a:off x="9663546" y="180725"/>
                <a:ext cx="2357889" cy="561692"/>
              </a:xfrm>
              <a:prstGeom prst="rect">
                <a:avLst/>
              </a:prstGeom>
              <a:blipFill>
                <a:blip r:embed="rId4"/>
                <a:stretch>
                  <a:fillRect l="-1070" t="-2222" r="-1604" b="-11111"/>
                </a:stretch>
              </a:blipFill>
            </p:spPr>
            <p:txBody>
              <a:bodyPr/>
              <a:lstStyle/>
              <a:p>
                <a:r>
                  <a:rPr lang="en-US">
                    <a:noFill/>
                  </a:rPr>
                  <a:t> </a:t>
                </a:r>
              </a:p>
            </p:txBody>
          </p:sp>
        </mc:Fallback>
      </mc:AlternateContent>
    </p:spTree>
    <p:extLst>
      <p:ext uri="{BB962C8B-B14F-4D97-AF65-F5344CB8AC3E}">
        <p14:creationId xmlns:p14="http://schemas.microsoft.com/office/powerpoint/2010/main" val="275196690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4025C69F-B54B-9F25-315A-A4D1DC9AC3EB}"/>
            </a:ext>
          </a:extLst>
        </p:cNvPr>
        <p:cNvGrpSpPr/>
        <p:nvPr/>
      </p:nvGrpSpPr>
      <p:grpSpPr>
        <a:xfrm>
          <a:off x="0" y="0"/>
          <a:ext cx="0" cy="0"/>
          <a:chOff x="0" y="0"/>
          <a:chExt cx="0" cy="0"/>
        </a:xfrm>
      </p:grpSpPr>
      <p:sp>
        <p:nvSpPr>
          <p:cNvPr id="164" name="Google Shape;164;p28">
            <a:extLst>
              <a:ext uri="{FF2B5EF4-FFF2-40B4-BE49-F238E27FC236}">
                <a16:creationId xmlns:a16="http://schemas.microsoft.com/office/drawing/2014/main" id="{8791CB59-3C8E-4642-2F57-0CF11C38A13C}"/>
              </a:ext>
            </a:extLst>
          </p:cNvPr>
          <p:cNvSpPr txBox="1"/>
          <p:nvPr/>
        </p:nvSpPr>
        <p:spPr>
          <a:xfrm>
            <a:off x="609600" y="1051601"/>
            <a:ext cx="10972800" cy="1198236"/>
          </a:xfrm>
          <a:prstGeom prst="rect">
            <a:avLst/>
          </a:prstGeom>
          <a:noFill/>
          <a:ln>
            <a:noFill/>
          </a:ln>
        </p:spPr>
        <p:txBody>
          <a:bodyPr spcFirstLastPara="1" wrap="square" lIns="121900" tIns="121900" rIns="121900" bIns="121900" anchor="t" anchorCtr="0">
            <a:spAutoFit/>
          </a:bodyPr>
          <a:lstStyle/>
          <a:p>
            <a:pPr marL="609585" indent="-465655" defTabSz="1219170">
              <a:lnSpc>
                <a:spcPct val="115000"/>
              </a:lnSpc>
              <a:spcAft>
                <a:spcPts val="800"/>
              </a:spcAft>
              <a:buClr>
                <a:srgbClr val="434343"/>
              </a:buClr>
              <a:buSzPct val="100000"/>
              <a:buFont typeface="Lato"/>
              <a:buChar char="▷"/>
            </a:pPr>
            <a:r>
              <a:rPr lang="en-US" sz="240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Subsampling is a lightweight, high‑gain knob; ROM is more accurate for similar orders of magnitude speedup; LU caching is a safe optimization.</a:t>
            </a:r>
          </a:p>
        </p:txBody>
      </p:sp>
      <p:sp>
        <p:nvSpPr>
          <p:cNvPr id="4" name="Google Shape;157;p27">
            <a:extLst>
              <a:ext uri="{FF2B5EF4-FFF2-40B4-BE49-F238E27FC236}">
                <a16:creationId xmlns:a16="http://schemas.microsoft.com/office/drawing/2014/main" id="{846C095A-4DF2-0E68-FF62-2BA4CF4CBAAC}"/>
              </a:ext>
            </a:extLst>
          </p:cNvPr>
          <p:cNvSpPr txBox="1">
            <a:spLocks/>
          </p:cNvSpPr>
          <p:nvPr/>
        </p:nvSpPr>
        <p:spPr>
          <a:xfrm>
            <a:off x="0" y="0"/>
            <a:ext cx="12192000" cy="1051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chemeClr val="accent6"/>
              </a:buClr>
              <a:buSzPts val="2400"/>
              <a:buFont typeface="Lato"/>
              <a:buChar char="▷"/>
              <a:defRPr sz="2400" b="0" i="0" u="none" strike="noStrike" cap="none">
                <a:solidFill>
                  <a:schemeClr val="dk1"/>
                </a:solidFill>
                <a:latin typeface="Lato"/>
                <a:ea typeface="Lato"/>
                <a:cs typeface="Lato"/>
                <a:sym typeface="Lato"/>
              </a:defRPr>
            </a:lvl1pPr>
            <a:lvl2pPr marL="914400" marR="0" lvl="1"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2pPr>
            <a:lvl3pPr marL="1371600" marR="0" lvl="2"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3pPr>
            <a:lvl4pPr marL="1828800" marR="0" lvl="3"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4pPr>
            <a:lvl5pPr marL="2286000" marR="0" lvl="4"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5pPr>
            <a:lvl6pPr marL="2743200" marR="0" lvl="5"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6pPr>
            <a:lvl7pPr marL="3200400" marR="0" lvl="6"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7pPr>
            <a:lvl8pPr marL="3657600" marR="0" lvl="7"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8pPr>
            <a:lvl9pPr marL="4114800" marR="0" lvl="8"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9pPr>
          </a:lstStyle>
          <a:p>
            <a:pPr marL="0" indent="0" defTabSz="1219170">
              <a:spcBef>
                <a:spcPts val="0"/>
              </a:spcBef>
              <a:buClr>
                <a:srgbClr val="97ABBC"/>
              </a:buClr>
              <a:buNone/>
            </a:pPr>
            <a:r>
              <a:rPr lang="en-US" sz="5333" b="1" kern="0" dirty="0">
                <a:solidFill>
                  <a:srgbClr val="2185C5"/>
                </a:solidFill>
                <a:latin typeface="Raleway"/>
                <a:ea typeface="Raleway"/>
                <a:cs typeface="Raleway"/>
                <a:sym typeface="Raleway"/>
              </a:rPr>
              <a:t>Conclusion</a:t>
            </a:r>
            <a:endParaRPr lang="en-US" sz="3733" i="1" kern="0" dirty="0">
              <a:solidFill>
                <a:srgbClr val="2185C5"/>
              </a:solidFill>
              <a:latin typeface="Raleway"/>
              <a:ea typeface="Raleway"/>
              <a:cs typeface="Raleway"/>
              <a:sym typeface="Raleway"/>
            </a:endParaRPr>
          </a:p>
        </p:txBody>
      </p:sp>
    </p:spTree>
    <p:extLst>
      <p:ext uri="{BB962C8B-B14F-4D97-AF65-F5344CB8AC3E}">
        <p14:creationId xmlns:p14="http://schemas.microsoft.com/office/powerpoint/2010/main" val="285960923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86"/>
        <p:cNvGrpSpPr/>
        <p:nvPr/>
      </p:nvGrpSpPr>
      <p:grpSpPr>
        <a:xfrm>
          <a:off x="0" y="0"/>
          <a:ext cx="0" cy="0"/>
          <a:chOff x="0" y="0"/>
          <a:chExt cx="0" cy="0"/>
        </a:xfrm>
      </p:grpSpPr>
      <p:sp>
        <p:nvSpPr>
          <p:cNvPr id="587" name="Google Shape;587;p56"/>
          <p:cNvSpPr txBox="1">
            <a:spLocks noGrp="1"/>
          </p:cNvSpPr>
          <p:nvPr>
            <p:ph type="ctrTitle"/>
          </p:nvPr>
        </p:nvSpPr>
        <p:spPr>
          <a:xfrm>
            <a:off x="914400" y="485707"/>
            <a:ext cx="10363200" cy="1546400"/>
          </a:xfrm>
          <a:prstGeom prst="rect">
            <a:avLst/>
          </a:prstGeom>
        </p:spPr>
        <p:txBody>
          <a:bodyPr spcFirstLastPara="1" wrap="square" lIns="121900" tIns="121900" rIns="121900" bIns="121900" anchor="b" anchorCtr="0">
            <a:noAutofit/>
          </a:bodyPr>
          <a:lstStyle/>
          <a:p>
            <a:r>
              <a:rPr lang="en" sz="4800" b="1" dirty="0"/>
              <a:t>Acknowledgements</a:t>
            </a:r>
            <a:endParaRPr sz="6000" b="1" dirty="0"/>
          </a:p>
        </p:txBody>
      </p:sp>
      <p:sp>
        <p:nvSpPr>
          <p:cNvPr id="588" name="Google Shape;588;p56"/>
          <p:cNvSpPr txBox="1">
            <a:spLocks noGrp="1"/>
          </p:cNvSpPr>
          <p:nvPr>
            <p:ph type="subTitle" idx="1"/>
          </p:nvPr>
        </p:nvSpPr>
        <p:spPr>
          <a:xfrm>
            <a:off x="914400" y="1989764"/>
            <a:ext cx="10363200" cy="1696087"/>
          </a:xfrm>
          <a:prstGeom prst="rect">
            <a:avLst/>
          </a:prstGeom>
        </p:spPr>
        <p:txBody>
          <a:bodyPr spcFirstLastPara="1" wrap="square" lIns="121900" tIns="121900" rIns="121900" bIns="121900" anchor="t" anchorCtr="0">
            <a:noAutofit/>
          </a:bodyPr>
          <a:lstStyle/>
          <a:p>
            <a:pPr marL="0" indent="0">
              <a:lnSpc>
                <a:spcPct val="115000"/>
              </a:lnSpc>
            </a:pPr>
            <a:r>
              <a:rPr lang="en-US" sz="1600" b="0" dirty="0"/>
              <a:t>Dan Stanzione</a:t>
            </a:r>
          </a:p>
          <a:p>
            <a:pPr marL="0" indent="0">
              <a:lnSpc>
                <a:spcPct val="115000"/>
              </a:lnSpc>
            </a:pPr>
            <a:r>
              <a:rPr lang="en-US" sz="1600" b="0" dirty="0"/>
              <a:t>Lars </a:t>
            </a:r>
            <a:r>
              <a:rPr lang="en-US" sz="1600" b="0" dirty="0" err="1"/>
              <a:t>Koesterke</a:t>
            </a:r>
            <a:endParaRPr lang="en-US" sz="1600" b="0" dirty="0"/>
          </a:p>
          <a:p>
            <a:pPr marL="0" indent="0">
              <a:lnSpc>
                <a:spcPct val="115000"/>
              </a:lnSpc>
            </a:pPr>
            <a:r>
              <a:rPr lang="en-US" sz="1600" b="0" dirty="0"/>
              <a:t>Graham Pasch</a:t>
            </a:r>
          </a:p>
          <a:p>
            <a:pPr marL="0" indent="0">
              <a:lnSpc>
                <a:spcPct val="115000"/>
              </a:lnSpc>
            </a:pPr>
            <a:r>
              <a:rPr lang="en-US" sz="1600" b="0" dirty="0"/>
              <a:t>Chase Christenson</a:t>
            </a:r>
          </a:p>
          <a:p>
            <a:pPr marL="0" indent="0">
              <a:lnSpc>
                <a:spcPct val="115000"/>
              </a:lnSpc>
            </a:pPr>
            <a:r>
              <a:rPr lang="en-US" sz="1600" b="0" dirty="0"/>
              <a:t>Casey Stowers</a:t>
            </a:r>
            <a:endParaRPr sz="1600" b="0" dirty="0"/>
          </a:p>
        </p:txBody>
      </p:sp>
      <p:pic>
        <p:nvPicPr>
          <p:cNvPr id="589" name="Google Shape;589;p56"/>
          <p:cNvPicPr preferRelativeResize="0"/>
          <p:nvPr/>
        </p:nvPicPr>
        <p:blipFill>
          <a:blip r:embed="rId3">
            <a:alphaModFix/>
          </a:blip>
          <a:stretch>
            <a:fillRect/>
          </a:stretch>
        </p:blipFill>
        <p:spPr>
          <a:xfrm>
            <a:off x="542868" y="5449701"/>
            <a:ext cx="1376281" cy="1408300"/>
          </a:xfrm>
          <a:prstGeom prst="rect">
            <a:avLst/>
          </a:prstGeom>
          <a:noFill/>
          <a:ln>
            <a:noFill/>
          </a:ln>
        </p:spPr>
      </p:pic>
      <p:pic>
        <p:nvPicPr>
          <p:cNvPr id="590" name="Google Shape;590;p56"/>
          <p:cNvPicPr preferRelativeResize="0"/>
          <p:nvPr/>
        </p:nvPicPr>
        <p:blipFill rotWithShape="1">
          <a:blip r:embed="rId4">
            <a:alphaModFix/>
          </a:blip>
          <a:srcRect l="11292" t="19104" r="10288" b="21929"/>
          <a:stretch/>
        </p:blipFill>
        <p:spPr>
          <a:xfrm>
            <a:off x="7888134" y="5449701"/>
            <a:ext cx="3852501" cy="1408300"/>
          </a:xfrm>
          <a:prstGeom prst="rect">
            <a:avLst/>
          </a:prstGeom>
          <a:noFill/>
          <a:ln>
            <a:noFill/>
          </a:ln>
        </p:spPr>
      </p:pic>
      <p:pic>
        <p:nvPicPr>
          <p:cNvPr id="591" name="Google Shape;591;p56"/>
          <p:cNvPicPr preferRelativeResize="0"/>
          <p:nvPr/>
        </p:nvPicPr>
        <p:blipFill>
          <a:blip r:embed="rId5">
            <a:alphaModFix/>
          </a:blip>
          <a:stretch>
            <a:fillRect/>
          </a:stretch>
        </p:blipFill>
        <p:spPr>
          <a:xfrm>
            <a:off x="2853467" y="5567567"/>
            <a:ext cx="4289767" cy="1172567"/>
          </a:xfrm>
          <a:prstGeom prst="rect">
            <a:avLst/>
          </a:prstGeom>
          <a:noFill/>
          <a:ln>
            <a:noFill/>
          </a:ln>
        </p:spPr>
      </p:pic>
      <p:sp>
        <p:nvSpPr>
          <p:cNvPr id="592" name="Google Shape;592;p56"/>
          <p:cNvSpPr txBox="1"/>
          <p:nvPr/>
        </p:nvSpPr>
        <p:spPr>
          <a:xfrm>
            <a:off x="57267" y="4571503"/>
            <a:ext cx="11242800" cy="954067"/>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 b="1" kern="0" dirty="0">
                <a:solidFill>
                  <a:srgbClr val="FFFFFF"/>
                </a:solidFill>
                <a:latin typeface="Lato"/>
                <a:ea typeface="Lato"/>
                <a:cs typeface="Lato"/>
                <a:sym typeface="Lato"/>
              </a:rPr>
              <a:t>Funding</a:t>
            </a:r>
            <a:endParaRPr sz="1400" kern="0" dirty="0">
              <a:solidFill>
                <a:srgbClr val="FFFFFF"/>
              </a:solidFill>
              <a:latin typeface="Lato"/>
              <a:ea typeface="Lato"/>
              <a:cs typeface="Lato"/>
              <a:sym typeface="Lato"/>
            </a:endParaRPr>
          </a:p>
          <a:p>
            <a:pPr defTabSz="1219170">
              <a:buClr>
                <a:srgbClr val="000000"/>
              </a:buClr>
            </a:pPr>
            <a:r>
              <a:rPr lang="en-US" sz="1400" kern="0" dirty="0">
                <a:solidFill>
                  <a:srgbClr val="FFFFFF"/>
                </a:solidFill>
                <a:latin typeface="Lato"/>
                <a:ea typeface="Lato"/>
                <a:cs typeface="Lato"/>
                <a:sym typeface="Lato"/>
              </a:rPr>
              <a:t>CSEM Graduate Fellowship</a:t>
            </a:r>
            <a:endParaRPr sz="1400" kern="0" dirty="0">
              <a:solidFill>
                <a:srgbClr val="FFFFFF"/>
              </a:solidFill>
              <a:latin typeface="Lato"/>
              <a:ea typeface="Lato"/>
              <a:cs typeface="Lato"/>
              <a:sym typeface="Lato"/>
            </a:endParaRPr>
          </a:p>
          <a:p>
            <a:pPr defTabSz="1219170">
              <a:buClr>
                <a:srgbClr val="000000"/>
              </a:buClr>
            </a:pPr>
            <a:endParaRPr sz="1400" kern="0" dirty="0">
              <a:solidFill>
                <a:srgbClr val="FFFFFF"/>
              </a:solidFill>
              <a:latin typeface="Lato"/>
              <a:ea typeface="Lato"/>
              <a:cs typeface="Lato"/>
              <a:sym typeface="Lato"/>
            </a:endParaRPr>
          </a:p>
        </p:txBody>
      </p:sp>
    </p:spTree>
    <p:extLst>
      <p:ext uri="{BB962C8B-B14F-4D97-AF65-F5344CB8AC3E}">
        <p14:creationId xmlns:p14="http://schemas.microsoft.com/office/powerpoint/2010/main" val="41386829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D4CEF-C744-4FAD-0FDF-E82E68377F33}"/>
              </a:ext>
            </a:extLst>
          </p:cNvPr>
          <p:cNvSpPr>
            <a:spLocks noGrp="1"/>
          </p:cNvSpPr>
          <p:nvPr>
            <p:ph type="ctrTitle"/>
          </p:nvPr>
        </p:nvSpPr>
        <p:spPr/>
        <p:txBody>
          <a:bodyPr/>
          <a:lstStyle/>
          <a:p>
            <a:r>
              <a:rPr lang="en-US" b="1" dirty="0"/>
              <a:t>Supplementals</a:t>
            </a:r>
          </a:p>
        </p:txBody>
      </p:sp>
    </p:spTree>
    <p:extLst>
      <p:ext uri="{BB962C8B-B14F-4D97-AF65-F5344CB8AC3E}">
        <p14:creationId xmlns:p14="http://schemas.microsoft.com/office/powerpoint/2010/main" val="13414588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EC7FF282-5EFC-7ACA-3687-09DD58E905EE}"/>
            </a:ext>
          </a:extLst>
        </p:cNvPr>
        <p:cNvGrpSpPr/>
        <p:nvPr/>
      </p:nvGrpSpPr>
      <p:grpSpPr>
        <a:xfrm>
          <a:off x="0" y="0"/>
          <a:ext cx="0" cy="0"/>
          <a:chOff x="0" y="0"/>
          <a:chExt cx="0" cy="0"/>
        </a:xfrm>
      </p:grpSpPr>
      <p:sp>
        <p:nvSpPr>
          <p:cNvPr id="164" name="Google Shape;164;p28">
            <a:extLst>
              <a:ext uri="{FF2B5EF4-FFF2-40B4-BE49-F238E27FC236}">
                <a16:creationId xmlns:a16="http://schemas.microsoft.com/office/drawing/2014/main" id="{0FB65DB4-ACA3-587C-964B-7801307906D2}"/>
              </a:ext>
            </a:extLst>
          </p:cNvPr>
          <p:cNvSpPr txBox="1"/>
          <p:nvPr/>
        </p:nvSpPr>
        <p:spPr>
          <a:xfrm>
            <a:off x="609600" y="1051601"/>
            <a:ext cx="10972800" cy="2677616"/>
          </a:xfrm>
          <a:prstGeom prst="rect">
            <a:avLst/>
          </a:prstGeom>
          <a:noFill/>
          <a:ln>
            <a:noFill/>
          </a:ln>
        </p:spPr>
        <p:txBody>
          <a:bodyPr spcFirstLastPara="1" wrap="square" lIns="121900" tIns="121900" rIns="121900" bIns="121900" anchor="t" anchorCtr="0">
            <a:spAutoFit/>
          </a:bodyPr>
          <a:lstStyle/>
          <a:p>
            <a:pPr marL="609585" indent="-465655" defTabSz="1219170">
              <a:lnSpc>
                <a:spcPct val="115000"/>
              </a:lnSpc>
              <a:spcAft>
                <a:spcPts val="800"/>
              </a:spcAft>
              <a:buClr>
                <a:srgbClr val="434343"/>
              </a:buClr>
              <a:buSzPct val="100000"/>
              <a:buFont typeface="Lato"/>
              <a:buChar char="▷"/>
            </a:pPr>
            <a:r>
              <a:rPr lang="en-US" sz="2400" kern="0" dirty="0">
                <a:solidFill>
                  <a:schemeClr val="tx2">
                    <a:lumMod val="10000"/>
                  </a:schemeClr>
                </a:solidFill>
                <a:latin typeface="Lato"/>
                <a:ea typeface="Lato"/>
                <a:cs typeface="Lato"/>
                <a:sym typeface="Lato"/>
              </a:rPr>
              <a:t>Loaded patient dataset (Ex5_patient.mat).</a:t>
            </a:r>
          </a:p>
          <a:p>
            <a:pPr marL="609585" indent="-465655" defTabSz="1219170">
              <a:lnSpc>
                <a:spcPct val="115000"/>
              </a:lnSpc>
              <a:spcAft>
                <a:spcPts val="800"/>
              </a:spcAft>
              <a:buClr>
                <a:srgbClr val="434343"/>
              </a:buClr>
              <a:buSzPct val="100000"/>
              <a:buFont typeface="Lato"/>
              <a:buChar char="▷"/>
            </a:pPr>
            <a:r>
              <a:rPr lang="en-US" sz="2400" kern="0" dirty="0">
                <a:solidFill>
                  <a:schemeClr val="tx2">
                    <a:lumMod val="10000"/>
                  </a:schemeClr>
                </a:solidFill>
                <a:latin typeface="Lato"/>
                <a:ea typeface="Lato"/>
                <a:cs typeface="Lato"/>
                <a:sym typeface="Lato"/>
              </a:rPr>
              <a:t>Built mechanics matrices (mech_matrix_build_2D, </a:t>
            </a:r>
            <a:r>
              <a:rPr lang="en-US" sz="2400" kern="0" dirty="0" err="1">
                <a:solidFill>
                  <a:schemeClr val="tx2">
                    <a:lumMod val="10000"/>
                  </a:schemeClr>
                </a:solidFill>
                <a:latin typeface="Lato"/>
                <a:ea typeface="Lato"/>
                <a:cs typeface="Lato"/>
                <a:sym typeface="Lato"/>
              </a:rPr>
              <a:t>grad_matrix</a:t>
            </a:r>
            <a:r>
              <a:rPr lang="en-US" sz="2400" kern="0" dirty="0">
                <a:solidFill>
                  <a:schemeClr val="tx2">
                    <a:lumMod val="10000"/>
                  </a:schemeClr>
                </a:solidFill>
                <a:latin typeface="Lato"/>
                <a:ea typeface="Lato"/>
                <a:cs typeface="Lato"/>
                <a:sym typeface="Lato"/>
              </a:rPr>
              <a:t>, buildBoundaries_2D).</a:t>
            </a:r>
          </a:p>
          <a:p>
            <a:pPr marL="609585" indent="-465655" defTabSz="1219170">
              <a:lnSpc>
                <a:spcPct val="115000"/>
              </a:lnSpc>
              <a:spcAft>
                <a:spcPts val="800"/>
              </a:spcAft>
              <a:buClr>
                <a:srgbClr val="434343"/>
              </a:buClr>
              <a:buSzPct val="100000"/>
              <a:buFont typeface="Lato"/>
              <a:buChar char="▷"/>
            </a:pPr>
            <a:r>
              <a:rPr lang="en-US" sz="2400" kern="0" dirty="0">
                <a:solidFill>
                  <a:schemeClr val="tx2">
                    <a:lumMod val="10000"/>
                  </a:schemeClr>
                </a:solidFill>
                <a:latin typeface="Lato"/>
                <a:ea typeface="Lato"/>
                <a:cs typeface="Lato"/>
                <a:sym typeface="Lato"/>
              </a:rPr>
              <a:t>Ran full mechanics solver (getMechanicsMaps_2D in full mode) to generate displacement, strain, stress, and von Mises fields.</a:t>
            </a:r>
          </a:p>
        </p:txBody>
      </p:sp>
      <p:sp>
        <p:nvSpPr>
          <p:cNvPr id="4" name="Google Shape;157;p27">
            <a:extLst>
              <a:ext uri="{FF2B5EF4-FFF2-40B4-BE49-F238E27FC236}">
                <a16:creationId xmlns:a16="http://schemas.microsoft.com/office/drawing/2014/main" id="{86BD7E2E-DC2A-AF28-5AFE-1FFC02A8CE0E}"/>
              </a:ext>
            </a:extLst>
          </p:cNvPr>
          <p:cNvSpPr txBox="1">
            <a:spLocks/>
          </p:cNvSpPr>
          <p:nvPr/>
        </p:nvSpPr>
        <p:spPr>
          <a:xfrm>
            <a:off x="0" y="0"/>
            <a:ext cx="12192000" cy="1051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chemeClr val="accent6"/>
              </a:buClr>
              <a:buSzPts val="2400"/>
              <a:buFont typeface="Lato"/>
              <a:buChar char="▷"/>
              <a:defRPr sz="2400" b="0" i="0" u="none" strike="noStrike" cap="none">
                <a:solidFill>
                  <a:schemeClr val="dk1"/>
                </a:solidFill>
                <a:latin typeface="Lato"/>
                <a:ea typeface="Lato"/>
                <a:cs typeface="Lato"/>
                <a:sym typeface="Lato"/>
              </a:defRPr>
            </a:lvl1pPr>
            <a:lvl2pPr marL="914400" marR="0" lvl="1"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2pPr>
            <a:lvl3pPr marL="1371600" marR="0" lvl="2"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3pPr>
            <a:lvl4pPr marL="1828800" marR="0" lvl="3"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4pPr>
            <a:lvl5pPr marL="2286000" marR="0" lvl="4"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5pPr>
            <a:lvl6pPr marL="2743200" marR="0" lvl="5"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6pPr>
            <a:lvl7pPr marL="3200400" marR="0" lvl="6"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7pPr>
            <a:lvl8pPr marL="3657600" marR="0" lvl="7"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8pPr>
            <a:lvl9pPr marL="4114800" marR="0" lvl="8"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9pPr>
          </a:lstStyle>
          <a:p>
            <a:pPr marL="0" indent="0" defTabSz="1219170">
              <a:spcBef>
                <a:spcPts val="0"/>
              </a:spcBef>
              <a:buClr>
                <a:srgbClr val="97ABBC"/>
              </a:buClr>
              <a:buNone/>
            </a:pPr>
            <a:r>
              <a:rPr lang="en-US" sz="5333" b="1" kern="0" dirty="0">
                <a:solidFill>
                  <a:srgbClr val="2185C5"/>
                </a:solidFill>
                <a:latin typeface="Raleway"/>
                <a:ea typeface="Raleway"/>
                <a:cs typeface="Raleway"/>
                <a:sym typeface="Raleway"/>
              </a:rPr>
              <a:t>Baseline mechanics workflow</a:t>
            </a:r>
            <a:endParaRPr lang="en-US" sz="3733" i="1" kern="0" dirty="0">
              <a:solidFill>
                <a:srgbClr val="2185C5"/>
              </a:solidFill>
              <a:latin typeface="Raleway"/>
              <a:ea typeface="Raleway"/>
              <a:cs typeface="Raleway"/>
              <a:sym typeface="Raleway"/>
            </a:endParaRPr>
          </a:p>
        </p:txBody>
      </p:sp>
    </p:spTree>
    <p:extLst>
      <p:ext uri="{BB962C8B-B14F-4D97-AF65-F5344CB8AC3E}">
        <p14:creationId xmlns:p14="http://schemas.microsoft.com/office/powerpoint/2010/main" val="331754235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846BBA7A-8422-71A1-8648-090F32BD1C84}"/>
            </a:ext>
          </a:extLst>
        </p:cNvPr>
        <p:cNvGrpSpPr/>
        <p:nvPr/>
      </p:nvGrpSpPr>
      <p:grpSpPr>
        <a:xfrm>
          <a:off x="0" y="0"/>
          <a:ext cx="0" cy="0"/>
          <a:chOff x="0" y="0"/>
          <a:chExt cx="0" cy="0"/>
        </a:xfrm>
      </p:grpSpPr>
      <p:sp>
        <p:nvSpPr>
          <p:cNvPr id="164" name="Google Shape;164;p28">
            <a:extLst>
              <a:ext uri="{FF2B5EF4-FFF2-40B4-BE49-F238E27FC236}">
                <a16:creationId xmlns:a16="http://schemas.microsoft.com/office/drawing/2014/main" id="{D677C964-E9A8-733D-9577-924F70431A7A}"/>
              </a:ext>
            </a:extLst>
          </p:cNvPr>
          <p:cNvSpPr txBox="1"/>
          <p:nvPr/>
        </p:nvSpPr>
        <p:spPr>
          <a:xfrm>
            <a:off x="609600" y="1051601"/>
            <a:ext cx="10972800" cy="4054403"/>
          </a:xfrm>
          <a:prstGeom prst="rect">
            <a:avLst/>
          </a:prstGeom>
          <a:noFill/>
          <a:ln>
            <a:noFill/>
          </a:ln>
        </p:spPr>
        <p:txBody>
          <a:bodyPr spcFirstLastPara="1" wrap="square" lIns="121900" tIns="121900" rIns="121900" bIns="121900" anchor="t" anchorCtr="0">
            <a:spAutoFit/>
          </a:bodyPr>
          <a:lstStyle/>
          <a:p>
            <a:pPr marL="609585" indent="-465655" defTabSz="1219170">
              <a:lnSpc>
                <a:spcPct val="115000"/>
              </a:lnSpc>
              <a:spcAft>
                <a:spcPts val="800"/>
              </a:spcAft>
              <a:buClr>
                <a:srgbClr val="434343"/>
              </a:buClr>
              <a:buSzPct val="100000"/>
              <a:buFont typeface="Lato"/>
              <a:buChar char="▷"/>
            </a:pPr>
            <a:r>
              <a:rPr lang="en-US" sz="2400" kern="0" dirty="0">
                <a:solidFill>
                  <a:schemeClr val="tx2">
                    <a:lumMod val="10000"/>
                  </a:schemeClr>
                </a:solidFill>
                <a:latin typeface="Lato"/>
                <a:ea typeface="Lato"/>
                <a:cs typeface="Lato"/>
                <a:sym typeface="Lato"/>
              </a:rPr>
              <a:t>Built augmented snapshots (augmentCellMaps_2D).</a:t>
            </a:r>
          </a:p>
          <a:p>
            <a:pPr marL="609585" indent="-465655" defTabSz="1219170">
              <a:lnSpc>
                <a:spcPct val="115000"/>
              </a:lnSpc>
              <a:spcAft>
                <a:spcPts val="800"/>
              </a:spcAft>
              <a:buClr>
                <a:srgbClr val="434343"/>
              </a:buClr>
              <a:buSzPct val="100000"/>
              <a:buFont typeface="Lato"/>
              <a:buChar char="▷"/>
            </a:pPr>
            <a:r>
              <a:rPr lang="en-US" sz="2400" kern="0" dirty="0">
                <a:solidFill>
                  <a:schemeClr val="tx2">
                    <a:lumMod val="10000"/>
                  </a:schemeClr>
                </a:solidFill>
                <a:latin typeface="Lato"/>
                <a:ea typeface="Lato"/>
                <a:cs typeface="Lato"/>
                <a:sym typeface="Lato"/>
              </a:rPr>
              <a:t>Generated projection matrices (</a:t>
            </a:r>
            <a:r>
              <a:rPr lang="en-US" sz="2400" kern="0" dirty="0" err="1">
                <a:solidFill>
                  <a:schemeClr val="tx2">
                    <a:lumMod val="10000"/>
                  </a:schemeClr>
                </a:solidFill>
                <a:latin typeface="Lato"/>
                <a:ea typeface="Lato"/>
                <a:cs typeface="Lato"/>
                <a:sym typeface="Lato"/>
              </a:rPr>
              <a:t>getProjectionMatrix</a:t>
            </a:r>
            <a:r>
              <a:rPr lang="en-US" sz="2400" kern="0" dirty="0">
                <a:solidFill>
                  <a:schemeClr val="tx2">
                    <a:lumMod val="10000"/>
                  </a:schemeClr>
                </a:solidFill>
                <a:latin typeface="Lato"/>
                <a:ea typeface="Lato"/>
                <a:cs typeface="Lato"/>
                <a:sym typeface="Lato"/>
              </a:rPr>
              <a:t>, getDisplacementProjection_2D, getStrainProjection_2D, getStressProjection_2D).</a:t>
            </a:r>
          </a:p>
          <a:p>
            <a:pPr marL="609585" indent="-465655" defTabSz="1219170">
              <a:lnSpc>
                <a:spcPct val="115000"/>
              </a:lnSpc>
              <a:spcAft>
                <a:spcPts val="800"/>
              </a:spcAft>
              <a:buClr>
                <a:srgbClr val="434343"/>
              </a:buClr>
              <a:buSzPct val="100000"/>
              <a:buFont typeface="Lato"/>
              <a:buChar char="▷"/>
            </a:pPr>
            <a:r>
              <a:rPr lang="en-US" sz="2400" kern="0" dirty="0">
                <a:solidFill>
                  <a:schemeClr val="tx2">
                    <a:lumMod val="10000"/>
                  </a:schemeClr>
                </a:solidFill>
                <a:latin typeface="Lato"/>
                <a:ea typeface="Lato"/>
                <a:cs typeface="Lato"/>
                <a:sym typeface="Lato"/>
              </a:rPr>
              <a:t>Assembled reduced operators (</a:t>
            </a:r>
            <a:r>
              <a:rPr lang="en-US" sz="2400" kern="0" dirty="0" err="1">
                <a:solidFill>
                  <a:schemeClr val="tx2">
                    <a:lumMod val="10000"/>
                  </a:schemeClr>
                </a:solidFill>
                <a:latin typeface="Lato"/>
                <a:ea typeface="Lato"/>
                <a:cs typeface="Lato"/>
                <a:sym typeface="Lato"/>
              </a:rPr>
              <a:t>M_r</a:t>
            </a:r>
            <a:r>
              <a:rPr lang="en-US" sz="2400" kern="0" dirty="0">
                <a:solidFill>
                  <a:schemeClr val="tx2">
                    <a:lumMod val="10000"/>
                  </a:schemeClr>
                </a:solidFill>
                <a:latin typeface="Lato"/>
                <a:ea typeface="Lato"/>
                <a:cs typeface="Lato"/>
                <a:sym typeface="Lato"/>
              </a:rPr>
              <a:t>, </a:t>
            </a:r>
            <a:r>
              <a:rPr lang="en-US" sz="2400" kern="0" dirty="0" err="1">
                <a:solidFill>
                  <a:schemeClr val="tx2">
                    <a:lumMod val="10000"/>
                  </a:schemeClr>
                </a:solidFill>
                <a:latin typeface="Lato"/>
                <a:ea typeface="Lato"/>
                <a:cs typeface="Lato"/>
                <a:sym typeface="Lato"/>
              </a:rPr>
              <a:t>Vu_gradXY_V</a:t>
            </a:r>
            <a:r>
              <a:rPr lang="en-US" sz="2400" kern="0" dirty="0">
                <a:solidFill>
                  <a:schemeClr val="tx2">
                    <a:lumMod val="10000"/>
                  </a:schemeClr>
                </a:solidFill>
                <a:latin typeface="Lato"/>
                <a:ea typeface="Lato"/>
                <a:cs typeface="Lato"/>
                <a:sym typeface="Lato"/>
              </a:rPr>
              <a:t>, </a:t>
            </a:r>
            <a:r>
              <a:rPr lang="en-US" sz="2400" kern="0" dirty="0" err="1">
                <a:solidFill>
                  <a:schemeClr val="tx2">
                    <a:lumMod val="10000"/>
                  </a:schemeClr>
                </a:solidFill>
                <a:latin typeface="Lato"/>
                <a:ea typeface="Lato"/>
                <a:cs typeface="Lato"/>
                <a:sym typeface="Lato"/>
              </a:rPr>
              <a:t>Ve_gradXYY_Vu</a:t>
            </a:r>
            <a:r>
              <a:rPr lang="en-US" sz="2400" kern="0" dirty="0">
                <a:solidFill>
                  <a:schemeClr val="tx2">
                    <a:lumMod val="10000"/>
                  </a:schemeClr>
                </a:solidFill>
                <a:latin typeface="Lato"/>
                <a:ea typeface="Lato"/>
                <a:cs typeface="Lato"/>
                <a:sym typeface="Lato"/>
              </a:rPr>
              <a:t>, </a:t>
            </a:r>
            <a:r>
              <a:rPr lang="en-US" sz="2400" kern="0" dirty="0" err="1">
                <a:solidFill>
                  <a:schemeClr val="tx2">
                    <a:lumMod val="10000"/>
                  </a:schemeClr>
                </a:solidFill>
                <a:latin typeface="Lato"/>
                <a:ea typeface="Lato"/>
                <a:cs typeface="Lato"/>
                <a:sym typeface="Lato"/>
              </a:rPr>
              <a:t>Vs_SMAT_Ve</a:t>
            </a:r>
            <a:r>
              <a:rPr lang="en-US" sz="2400" kern="0" dirty="0">
                <a:solidFill>
                  <a:schemeClr val="tx2">
                    <a:lumMod val="10000"/>
                  </a:schemeClr>
                </a:solidFill>
                <a:latin typeface="Lato"/>
                <a:ea typeface="Lato"/>
                <a:cs typeface="Lato"/>
                <a:sym typeface="Lato"/>
              </a:rPr>
              <a:t>).</a:t>
            </a:r>
          </a:p>
          <a:p>
            <a:pPr marL="609585" indent="-465655" defTabSz="1219170">
              <a:lnSpc>
                <a:spcPct val="115000"/>
              </a:lnSpc>
              <a:spcAft>
                <a:spcPts val="800"/>
              </a:spcAft>
              <a:buClr>
                <a:srgbClr val="434343"/>
              </a:buClr>
              <a:buSzPct val="100000"/>
              <a:buFont typeface="Lato"/>
              <a:buChar char="▷"/>
            </a:pPr>
            <a:r>
              <a:rPr lang="en-US" sz="2400" kern="0" dirty="0">
                <a:solidFill>
                  <a:schemeClr val="tx2">
                    <a:lumMod val="10000"/>
                  </a:schemeClr>
                </a:solidFill>
                <a:latin typeface="Lato"/>
                <a:ea typeface="Lato"/>
                <a:cs typeface="Lato"/>
                <a:sym typeface="Lato"/>
              </a:rPr>
              <a:t>Ran reduced solver (</a:t>
            </a:r>
            <a:r>
              <a:rPr lang="en-US" sz="2400" kern="0" dirty="0" err="1">
                <a:solidFill>
                  <a:schemeClr val="tx2">
                    <a:lumMod val="10000"/>
                  </a:schemeClr>
                </a:solidFill>
                <a:latin typeface="Lato"/>
                <a:ea typeface="Lato"/>
                <a:cs typeface="Lato"/>
                <a:sym typeface="Lato"/>
              </a:rPr>
              <a:t>get_damper_reduced</a:t>
            </a:r>
            <a:r>
              <a:rPr lang="en-US" sz="2400" kern="0" dirty="0">
                <a:solidFill>
                  <a:schemeClr val="tx2">
                    <a:lumMod val="10000"/>
                  </a:schemeClr>
                </a:solidFill>
                <a:latin typeface="Lato"/>
                <a:ea typeface="Lato"/>
                <a:cs typeface="Lato"/>
                <a:sym typeface="Lato"/>
              </a:rPr>
              <a:t>) to compute ROM von Mises stress and timing.</a:t>
            </a:r>
          </a:p>
        </p:txBody>
      </p:sp>
      <p:sp>
        <p:nvSpPr>
          <p:cNvPr id="4" name="Google Shape;157;p27">
            <a:extLst>
              <a:ext uri="{FF2B5EF4-FFF2-40B4-BE49-F238E27FC236}">
                <a16:creationId xmlns:a16="http://schemas.microsoft.com/office/drawing/2014/main" id="{4566B706-5083-6A88-0DBB-6A9B1223BAD7}"/>
              </a:ext>
            </a:extLst>
          </p:cNvPr>
          <p:cNvSpPr txBox="1">
            <a:spLocks/>
          </p:cNvSpPr>
          <p:nvPr/>
        </p:nvSpPr>
        <p:spPr>
          <a:xfrm>
            <a:off x="0" y="0"/>
            <a:ext cx="12192000" cy="1051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chemeClr val="accent6"/>
              </a:buClr>
              <a:buSzPts val="2400"/>
              <a:buFont typeface="Lato"/>
              <a:buChar char="▷"/>
              <a:defRPr sz="2400" b="0" i="0" u="none" strike="noStrike" cap="none">
                <a:solidFill>
                  <a:schemeClr val="dk1"/>
                </a:solidFill>
                <a:latin typeface="Lato"/>
                <a:ea typeface="Lato"/>
                <a:cs typeface="Lato"/>
                <a:sym typeface="Lato"/>
              </a:defRPr>
            </a:lvl1pPr>
            <a:lvl2pPr marL="914400" marR="0" lvl="1"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2pPr>
            <a:lvl3pPr marL="1371600" marR="0" lvl="2"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3pPr>
            <a:lvl4pPr marL="1828800" marR="0" lvl="3"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4pPr>
            <a:lvl5pPr marL="2286000" marR="0" lvl="4"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5pPr>
            <a:lvl6pPr marL="2743200" marR="0" lvl="5"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6pPr>
            <a:lvl7pPr marL="3200400" marR="0" lvl="6"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7pPr>
            <a:lvl8pPr marL="3657600" marR="0" lvl="7"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8pPr>
            <a:lvl9pPr marL="4114800" marR="0" lvl="8"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9pPr>
          </a:lstStyle>
          <a:p>
            <a:pPr marL="0" indent="0" defTabSz="1219170">
              <a:spcBef>
                <a:spcPts val="0"/>
              </a:spcBef>
              <a:buClr>
                <a:srgbClr val="97ABBC"/>
              </a:buClr>
              <a:buNone/>
            </a:pPr>
            <a:r>
              <a:rPr lang="en-US" sz="5333" b="1" kern="0" dirty="0">
                <a:solidFill>
                  <a:srgbClr val="2185C5"/>
                </a:solidFill>
                <a:latin typeface="Raleway"/>
                <a:ea typeface="Raleway"/>
                <a:cs typeface="Raleway"/>
                <a:sym typeface="Raleway"/>
              </a:rPr>
              <a:t>ROM construction workflow</a:t>
            </a:r>
            <a:endParaRPr lang="en-US" sz="3733" i="1" kern="0" dirty="0">
              <a:solidFill>
                <a:srgbClr val="2185C5"/>
              </a:solidFill>
              <a:latin typeface="Raleway"/>
              <a:ea typeface="Raleway"/>
              <a:cs typeface="Raleway"/>
              <a:sym typeface="Raleway"/>
            </a:endParaRPr>
          </a:p>
        </p:txBody>
      </p:sp>
    </p:spTree>
    <p:extLst>
      <p:ext uri="{BB962C8B-B14F-4D97-AF65-F5344CB8AC3E}">
        <p14:creationId xmlns:p14="http://schemas.microsoft.com/office/powerpoint/2010/main" val="118192689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CD0D44FA-21AE-2100-E020-98242B7BA6B7}"/>
            </a:ext>
          </a:extLst>
        </p:cNvPr>
        <p:cNvGrpSpPr/>
        <p:nvPr/>
      </p:nvGrpSpPr>
      <p:grpSpPr>
        <a:xfrm>
          <a:off x="0" y="0"/>
          <a:ext cx="0" cy="0"/>
          <a:chOff x="0" y="0"/>
          <a:chExt cx="0" cy="0"/>
        </a:xfrm>
      </p:grpSpPr>
      <p:sp>
        <p:nvSpPr>
          <p:cNvPr id="164" name="Google Shape;164;p28">
            <a:extLst>
              <a:ext uri="{FF2B5EF4-FFF2-40B4-BE49-F238E27FC236}">
                <a16:creationId xmlns:a16="http://schemas.microsoft.com/office/drawing/2014/main" id="{DABF672C-2B0A-360F-59D0-4E34A935A075}"/>
              </a:ext>
            </a:extLst>
          </p:cNvPr>
          <p:cNvSpPr txBox="1"/>
          <p:nvPr/>
        </p:nvSpPr>
        <p:spPr>
          <a:xfrm>
            <a:off x="609600" y="1051601"/>
            <a:ext cx="10972800" cy="1828152"/>
          </a:xfrm>
          <a:prstGeom prst="rect">
            <a:avLst/>
          </a:prstGeom>
          <a:noFill/>
          <a:ln>
            <a:noFill/>
          </a:ln>
        </p:spPr>
        <p:txBody>
          <a:bodyPr spcFirstLastPara="1" wrap="square" lIns="121900" tIns="121900" rIns="121900" bIns="121900" anchor="t" anchorCtr="0">
            <a:spAutoFit/>
          </a:bodyPr>
          <a:lstStyle/>
          <a:p>
            <a:pPr marL="609585" indent="-465655" defTabSz="1219170">
              <a:lnSpc>
                <a:spcPct val="115000"/>
              </a:lnSpc>
              <a:spcAft>
                <a:spcPts val="800"/>
              </a:spcAft>
              <a:buClr>
                <a:srgbClr val="434343"/>
              </a:buClr>
              <a:buSzPct val="100000"/>
              <a:buFont typeface="+mj-lt"/>
              <a:buAutoNum type="arabicPeriod"/>
            </a:pPr>
            <a:r>
              <a:rPr lang="en-US" sz="2400" kern="0" dirty="0">
                <a:solidFill>
                  <a:schemeClr val="tx2">
                    <a:lumMod val="10000"/>
                  </a:schemeClr>
                </a:solidFill>
                <a:latin typeface="Lato"/>
                <a:ea typeface="Lato"/>
                <a:cs typeface="Lato"/>
                <a:sym typeface="Lato"/>
              </a:rPr>
              <a:t>Profiler: identified bottlenecks (</a:t>
            </a:r>
            <a:r>
              <a:rPr lang="en-US" sz="2400" kern="0" dirty="0" err="1">
                <a:solidFill>
                  <a:schemeClr val="tx2">
                    <a:lumMod val="10000"/>
                  </a:schemeClr>
                </a:solidFill>
                <a:latin typeface="Lato"/>
                <a:ea typeface="Lato"/>
                <a:cs typeface="Lato"/>
                <a:sym typeface="Lato"/>
              </a:rPr>
              <a:t>get_damper</a:t>
            </a:r>
            <a:r>
              <a:rPr lang="en-US" sz="2400" kern="0" dirty="0">
                <a:solidFill>
                  <a:schemeClr val="tx2">
                    <a:lumMod val="10000"/>
                  </a:schemeClr>
                </a:solidFill>
                <a:latin typeface="Lato"/>
                <a:ea typeface="Lato"/>
                <a:cs typeface="Lato"/>
                <a:sym typeface="Lato"/>
              </a:rPr>
              <a:t>, mech_matrix_build_2D).</a:t>
            </a:r>
          </a:p>
          <a:p>
            <a:pPr marL="1066785" lvl="1" indent="-465655" defTabSz="1219170">
              <a:lnSpc>
                <a:spcPct val="115000"/>
              </a:lnSpc>
              <a:spcAft>
                <a:spcPts val="800"/>
              </a:spcAft>
              <a:buClr>
                <a:srgbClr val="434343"/>
              </a:buClr>
              <a:buSzPct val="100000"/>
              <a:buFont typeface="+mj-lt"/>
              <a:buAutoNum type="arabicPeriod"/>
            </a:pPr>
            <a:r>
              <a:rPr lang="en-US" sz="2400" kern="0" dirty="0">
                <a:solidFill>
                  <a:schemeClr val="tx2">
                    <a:lumMod val="10000"/>
                  </a:schemeClr>
                </a:solidFill>
                <a:latin typeface="Lato"/>
                <a:ea typeface="Lato"/>
                <a:cs typeface="Lato"/>
                <a:sym typeface="Lato"/>
              </a:rPr>
              <a:t>Only build the mech matrix once … save time that way </a:t>
            </a:r>
          </a:p>
          <a:p>
            <a:pPr marL="1066785" lvl="1" indent="-465655" defTabSz="1219170">
              <a:lnSpc>
                <a:spcPct val="115000"/>
              </a:lnSpc>
              <a:spcAft>
                <a:spcPts val="800"/>
              </a:spcAft>
              <a:buClr>
                <a:srgbClr val="434343"/>
              </a:buClr>
              <a:buSzPct val="100000"/>
              <a:buFont typeface="+mj-lt"/>
              <a:buAutoNum type="arabicPeriod"/>
            </a:pPr>
            <a:r>
              <a:rPr lang="en-US" sz="2400" kern="0" dirty="0">
                <a:solidFill>
                  <a:schemeClr val="tx2">
                    <a:lumMod val="10000"/>
                  </a:schemeClr>
                </a:solidFill>
                <a:latin typeface="Lato"/>
                <a:ea typeface="Lato"/>
                <a:cs typeface="Lato"/>
                <a:sym typeface="Lato"/>
              </a:rPr>
              <a:t>What if we only call </a:t>
            </a:r>
            <a:r>
              <a:rPr lang="en-US" sz="2400" kern="0" dirty="0" err="1">
                <a:solidFill>
                  <a:schemeClr val="tx2">
                    <a:lumMod val="10000"/>
                  </a:schemeClr>
                </a:solidFill>
                <a:latin typeface="Lato"/>
                <a:ea typeface="Lato"/>
                <a:cs typeface="Lato"/>
                <a:sym typeface="Lato"/>
              </a:rPr>
              <a:t>get_damper</a:t>
            </a:r>
            <a:r>
              <a:rPr lang="en-US" sz="2400" kern="0" dirty="0">
                <a:solidFill>
                  <a:schemeClr val="tx2">
                    <a:lumMod val="10000"/>
                  </a:schemeClr>
                </a:solidFill>
                <a:latin typeface="Lato"/>
                <a:ea typeface="Lato"/>
                <a:cs typeface="Lato"/>
                <a:sym typeface="Lato"/>
              </a:rPr>
              <a:t> a few times? </a:t>
            </a:r>
          </a:p>
        </p:txBody>
      </p:sp>
      <p:sp>
        <p:nvSpPr>
          <p:cNvPr id="4" name="Google Shape;157;p27">
            <a:extLst>
              <a:ext uri="{FF2B5EF4-FFF2-40B4-BE49-F238E27FC236}">
                <a16:creationId xmlns:a16="http://schemas.microsoft.com/office/drawing/2014/main" id="{F6FD4D1F-ED3C-31FE-3D8D-B172459BA890}"/>
              </a:ext>
            </a:extLst>
          </p:cNvPr>
          <p:cNvSpPr txBox="1">
            <a:spLocks/>
          </p:cNvSpPr>
          <p:nvPr/>
        </p:nvSpPr>
        <p:spPr>
          <a:xfrm>
            <a:off x="0" y="0"/>
            <a:ext cx="12192000" cy="1051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chemeClr val="accent6"/>
              </a:buClr>
              <a:buSzPts val="2400"/>
              <a:buFont typeface="Lato"/>
              <a:buChar char="▷"/>
              <a:defRPr sz="2400" b="0" i="0" u="none" strike="noStrike" cap="none">
                <a:solidFill>
                  <a:schemeClr val="dk1"/>
                </a:solidFill>
                <a:latin typeface="Lato"/>
                <a:ea typeface="Lato"/>
                <a:cs typeface="Lato"/>
                <a:sym typeface="Lato"/>
              </a:defRPr>
            </a:lvl1pPr>
            <a:lvl2pPr marL="914400" marR="0" lvl="1"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2pPr>
            <a:lvl3pPr marL="1371600" marR="0" lvl="2"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3pPr>
            <a:lvl4pPr marL="1828800" marR="0" lvl="3"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4pPr>
            <a:lvl5pPr marL="2286000" marR="0" lvl="4"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5pPr>
            <a:lvl6pPr marL="2743200" marR="0" lvl="5"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6pPr>
            <a:lvl7pPr marL="3200400" marR="0" lvl="6"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7pPr>
            <a:lvl8pPr marL="3657600" marR="0" lvl="7"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8pPr>
            <a:lvl9pPr marL="4114800" marR="0" lvl="8"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9pPr>
          </a:lstStyle>
          <a:p>
            <a:pPr marL="0" indent="0" defTabSz="1219170">
              <a:spcBef>
                <a:spcPts val="0"/>
              </a:spcBef>
              <a:buClr>
                <a:srgbClr val="97ABBC"/>
              </a:buClr>
              <a:buNone/>
            </a:pPr>
            <a:r>
              <a:rPr lang="en-US" sz="5333" b="1" kern="0" dirty="0">
                <a:solidFill>
                  <a:srgbClr val="2185C5"/>
                </a:solidFill>
                <a:latin typeface="Raleway"/>
                <a:ea typeface="Raleway"/>
                <a:cs typeface="Raleway"/>
                <a:sym typeface="Raleway"/>
              </a:rPr>
              <a:t>Optimization techniques</a:t>
            </a:r>
            <a:endParaRPr lang="en-US" sz="3733" i="1" kern="0" dirty="0">
              <a:solidFill>
                <a:srgbClr val="2185C5"/>
              </a:solidFill>
              <a:latin typeface="Raleway"/>
              <a:ea typeface="Raleway"/>
              <a:cs typeface="Raleway"/>
              <a:sym typeface="Raleway"/>
            </a:endParaRPr>
          </a:p>
        </p:txBody>
      </p:sp>
      <p:pic>
        <p:nvPicPr>
          <p:cNvPr id="2" name="Picture 1">
            <a:extLst>
              <a:ext uri="{FF2B5EF4-FFF2-40B4-BE49-F238E27FC236}">
                <a16:creationId xmlns:a16="http://schemas.microsoft.com/office/drawing/2014/main" id="{36408D48-E1C2-4198-1615-A673A6072F59}"/>
              </a:ext>
            </a:extLst>
          </p:cNvPr>
          <p:cNvPicPr>
            <a:picLocks noChangeAspect="1"/>
          </p:cNvPicPr>
          <p:nvPr/>
        </p:nvPicPr>
        <p:blipFill>
          <a:blip r:embed="rId3"/>
          <a:stretch>
            <a:fillRect/>
          </a:stretch>
        </p:blipFill>
        <p:spPr>
          <a:xfrm>
            <a:off x="1946563" y="3017543"/>
            <a:ext cx="7772400" cy="2956514"/>
          </a:xfrm>
          <a:prstGeom prst="rect">
            <a:avLst/>
          </a:prstGeom>
        </p:spPr>
      </p:pic>
    </p:spTree>
    <p:extLst>
      <p:ext uri="{BB962C8B-B14F-4D97-AF65-F5344CB8AC3E}">
        <p14:creationId xmlns:p14="http://schemas.microsoft.com/office/powerpoint/2010/main" val="311843554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8F81A182-88F0-E3D4-525E-361F5D303336}"/>
            </a:ext>
          </a:extLst>
        </p:cNvPr>
        <p:cNvGrpSpPr/>
        <p:nvPr/>
      </p:nvGrpSpPr>
      <p:grpSpPr>
        <a:xfrm>
          <a:off x="0" y="0"/>
          <a:ext cx="0" cy="0"/>
          <a:chOff x="0" y="0"/>
          <a:chExt cx="0" cy="0"/>
        </a:xfrm>
      </p:grpSpPr>
      <p:sp>
        <p:nvSpPr>
          <p:cNvPr id="164" name="Google Shape;164;p28">
            <a:extLst>
              <a:ext uri="{FF2B5EF4-FFF2-40B4-BE49-F238E27FC236}">
                <a16:creationId xmlns:a16="http://schemas.microsoft.com/office/drawing/2014/main" id="{3452B3F5-83C4-B75F-5587-CC31BB7D023C}"/>
              </a:ext>
            </a:extLst>
          </p:cNvPr>
          <p:cNvSpPr txBox="1"/>
          <p:nvPr/>
        </p:nvSpPr>
        <p:spPr>
          <a:xfrm>
            <a:off x="609600" y="1051601"/>
            <a:ext cx="10972800" cy="2677616"/>
          </a:xfrm>
          <a:prstGeom prst="rect">
            <a:avLst/>
          </a:prstGeom>
          <a:noFill/>
          <a:ln>
            <a:noFill/>
          </a:ln>
        </p:spPr>
        <p:txBody>
          <a:bodyPr spcFirstLastPara="1" wrap="square" lIns="121900" tIns="121900" rIns="121900" bIns="121900" anchor="t" anchorCtr="0">
            <a:spAutoFit/>
          </a:bodyPr>
          <a:lstStyle/>
          <a:p>
            <a:pPr marL="609585" indent="-465655" defTabSz="1219170">
              <a:lnSpc>
                <a:spcPct val="115000"/>
              </a:lnSpc>
              <a:spcAft>
                <a:spcPts val="800"/>
              </a:spcAft>
              <a:buClr>
                <a:srgbClr val="434343"/>
              </a:buClr>
              <a:buSzPct val="100000"/>
              <a:buFont typeface="Lato"/>
              <a:buChar char="▷"/>
            </a:pPr>
            <a:r>
              <a:rPr lang="en-US" sz="2400" kern="0" dirty="0" err="1">
                <a:solidFill>
                  <a:schemeClr val="tx2">
                    <a:lumMod val="10000"/>
                  </a:schemeClr>
                </a:solidFill>
                <a:latin typeface="Lato"/>
                <a:ea typeface="Lato"/>
                <a:cs typeface="Lato"/>
                <a:sym typeface="Lato"/>
              </a:rPr>
              <a:t>get_damper</a:t>
            </a:r>
            <a:r>
              <a:rPr lang="en-US" sz="2400" kern="0" dirty="0">
                <a:solidFill>
                  <a:schemeClr val="tx2">
                    <a:lumMod val="10000"/>
                  </a:schemeClr>
                </a:solidFill>
                <a:latin typeface="Lato"/>
                <a:ea typeface="Lato"/>
                <a:cs typeface="Lato"/>
                <a:sym typeface="Lato"/>
              </a:rPr>
              <a:t> is the function that solves the mechanical equilibrium equations for the tumor tissue.</a:t>
            </a:r>
          </a:p>
          <a:p>
            <a:pPr marL="609585" indent="-465655" defTabSz="1219170">
              <a:lnSpc>
                <a:spcPct val="115000"/>
              </a:lnSpc>
              <a:spcAft>
                <a:spcPts val="800"/>
              </a:spcAft>
              <a:buClr>
                <a:srgbClr val="434343"/>
              </a:buClr>
              <a:buSzPct val="100000"/>
              <a:buFont typeface="Lato"/>
              <a:buChar char="▷"/>
            </a:pPr>
            <a:r>
              <a:rPr lang="en-US" sz="2400" kern="0" dirty="0">
                <a:solidFill>
                  <a:schemeClr val="tx2">
                    <a:lumMod val="10000"/>
                  </a:schemeClr>
                </a:solidFill>
                <a:latin typeface="Lato"/>
                <a:ea typeface="Lato"/>
                <a:cs typeface="Lato"/>
                <a:sym typeface="Lato"/>
              </a:rPr>
              <a:t>Output: von mises stress </a:t>
            </a:r>
          </a:p>
          <a:p>
            <a:pPr marL="609585" indent="-465655" defTabSz="1219170">
              <a:lnSpc>
                <a:spcPct val="115000"/>
              </a:lnSpc>
              <a:spcAft>
                <a:spcPts val="800"/>
              </a:spcAft>
              <a:buClr>
                <a:srgbClr val="434343"/>
              </a:buClr>
              <a:buSzPct val="100000"/>
              <a:buFont typeface="Lato"/>
              <a:buChar char="▷"/>
            </a:pPr>
            <a:r>
              <a:rPr lang="en-US" sz="2400" kern="0" dirty="0">
                <a:solidFill>
                  <a:schemeClr val="tx2">
                    <a:lumMod val="10000"/>
                  </a:schemeClr>
                </a:solidFill>
                <a:latin typeface="Lato"/>
                <a:ea typeface="Lato"/>
                <a:cs typeface="Lato"/>
                <a:sym typeface="Lato"/>
              </a:rPr>
              <a:t>In the model, tissue is assumed to behave like a linear elastic solid, and tumor growth causes mechanical stress by pushing outward.</a:t>
            </a:r>
          </a:p>
        </p:txBody>
      </p:sp>
      <p:sp>
        <p:nvSpPr>
          <p:cNvPr id="4" name="Google Shape;157;p27">
            <a:extLst>
              <a:ext uri="{FF2B5EF4-FFF2-40B4-BE49-F238E27FC236}">
                <a16:creationId xmlns:a16="http://schemas.microsoft.com/office/drawing/2014/main" id="{962A93BC-088E-B667-8C4B-99C0BC7508E2}"/>
              </a:ext>
            </a:extLst>
          </p:cNvPr>
          <p:cNvSpPr txBox="1">
            <a:spLocks/>
          </p:cNvSpPr>
          <p:nvPr/>
        </p:nvSpPr>
        <p:spPr>
          <a:xfrm>
            <a:off x="0" y="0"/>
            <a:ext cx="12192000" cy="1051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chemeClr val="accent6"/>
              </a:buClr>
              <a:buSzPts val="2400"/>
              <a:buFont typeface="Lato"/>
              <a:buChar char="▷"/>
              <a:defRPr sz="2400" b="0" i="0" u="none" strike="noStrike" cap="none">
                <a:solidFill>
                  <a:schemeClr val="dk1"/>
                </a:solidFill>
                <a:latin typeface="Lato"/>
                <a:ea typeface="Lato"/>
                <a:cs typeface="Lato"/>
                <a:sym typeface="Lato"/>
              </a:defRPr>
            </a:lvl1pPr>
            <a:lvl2pPr marL="914400" marR="0" lvl="1"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2pPr>
            <a:lvl3pPr marL="1371600" marR="0" lvl="2"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3pPr>
            <a:lvl4pPr marL="1828800" marR="0" lvl="3"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4pPr>
            <a:lvl5pPr marL="2286000" marR="0" lvl="4"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5pPr>
            <a:lvl6pPr marL="2743200" marR="0" lvl="5"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6pPr>
            <a:lvl7pPr marL="3200400" marR="0" lvl="6"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7pPr>
            <a:lvl8pPr marL="3657600" marR="0" lvl="7"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8pPr>
            <a:lvl9pPr marL="4114800" marR="0" lvl="8"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9pPr>
          </a:lstStyle>
          <a:p>
            <a:pPr marL="0" indent="0" defTabSz="1219170">
              <a:spcBef>
                <a:spcPts val="0"/>
              </a:spcBef>
              <a:buClr>
                <a:srgbClr val="97ABBC"/>
              </a:buClr>
              <a:buNone/>
            </a:pPr>
            <a:r>
              <a:rPr lang="en-US" sz="5333" b="1" kern="0" dirty="0" err="1">
                <a:solidFill>
                  <a:srgbClr val="2185C5"/>
                </a:solidFill>
                <a:latin typeface="Raleway"/>
                <a:ea typeface="Raleway"/>
                <a:cs typeface="Raleway"/>
                <a:sym typeface="Raleway"/>
              </a:rPr>
              <a:t>Get_damper</a:t>
            </a:r>
            <a:r>
              <a:rPr lang="en-US" sz="5333" b="1" kern="0" dirty="0">
                <a:solidFill>
                  <a:srgbClr val="2185C5"/>
                </a:solidFill>
                <a:latin typeface="Raleway"/>
                <a:ea typeface="Raleway"/>
                <a:cs typeface="Raleway"/>
                <a:sym typeface="Raleway"/>
              </a:rPr>
              <a:t>()</a:t>
            </a:r>
            <a:endParaRPr lang="en-US" sz="3733" i="1" kern="0" dirty="0">
              <a:solidFill>
                <a:srgbClr val="2185C5"/>
              </a:solidFill>
              <a:latin typeface="Raleway"/>
              <a:ea typeface="Raleway"/>
              <a:cs typeface="Raleway"/>
              <a:sym typeface="Raleway"/>
            </a:endParaRPr>
          </a:p>
        </p:txBody>
      </p:sp>
      <p:pic>
        <p:nvPicPr>
          <p:cNvPr id="2" name="Picture 1">
            <a:extLst>
              <a:ext uri="{FF2B5EF4-FFF2-40B4-BE49-F238E27FC236}">
                <a16:creationId xmlns:a16="http://schemas.microsoft.com/office/drawing/2014/main" id="{D1E107C9-B4BE-B5B4-8A1B-2138FE89D997}"/>
              </a:ext>
            </a:extLst>
          </p:cNvPr>
          <p:cNvPicPr>
            <a:picLocks noChangeAspect="1"/>
          </p:cNvPicPr>
          <p:nvPr/>
        </p:nvPicPr>
        <p:blipFill>
          <a:blip r:embed="rId3"/>
          <a:stretch>
            <a:fillRect/>
          </a:stretch>
        </p:blipFill>
        <p:spPr>
          <a:xfrm>
            <a:off x="680749" y="3930733"/>
            <a:ext cx="5473700" cy="2463800"/>
          </a:xfrm>
          <a:prstGeom prst="rect">
            <a:avLst/>
          </a:prstGeom>
        </p:spPr>
      </p:pic>
      <p:pic>
        <p:nvPicPr>
          <p:cNvPr id="3" name="Picture 2">
            <a:extLst>
              <a:ext uri="{FF2B5EF4-FFF2-40B4-BE49-F238E27FC236}">
                <a16:creationId xmlns:a16="http://schemas.microsoft.com/office/drawing/2014/main" id="{EF532A4A-12AF-63F6-EFD1-E26F8DDB7F3E}"/>
              </a:ext>
            </a:extLst>
          </p:cNvPr>
          <p:cNvPicPr>
            <a:picLocks noChangeAspect="1"/>
          </p:cNvPicPr>
          <p:nvPr/>
        </p:nvPicPr>
        <p:blipFill>
          <a:blip r:embed="rId4"/>
          <a:stretch>
            <a:fillRect/>
          </a:stretch>
        </p:blipFill>
        <p:spPr>
          <a:xfrm>
            <a:off x="6709641" y="3716916"/>
            <a:ext cx="4317567" cy="2677617"/>
          </a:xfrm>
          <a:prstGeom prst="rect">
            <a:avLst/>
          </a:prstGeom>
        </p:spPr>
      </p:pic>
    </p:spTree>
    <p:extLst>
      <p:ext uri="{BB962C8B-B14F-4D97-AF65-F5344CB8AC3E}">
        <p14:creationId xmlns:p14="http://schemas.microsoft.com/office/powerpoint/2010/main" val="201027597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6">
          <a:extLst>
            <a:ext uri="{FF2B5EF4-FFF2-40B4-BE49-F238E27FC236}">
              <a16:creationId xmlns:a16="http://schemas.microsoft.com/office/drawing/2014/main" id="{0F7C128B-FC76-0868-E7FC-EF660C4904C3}"/>
            </a:ext>
          </a:extLst>
        </p:cNvPr>
        <p:cNvGrpSpPr/>
        <p:nvPr/>
      </p:nvGrpSpPr>
      <p:grpSpPr>
        <a:xfrm>
          <a:off x="0" y="0"/>
          <a:ext cx="0" cy="0"/>
          <a:chOff x="0" y="0"/>
          <a:chExt cx="0" cy="0"/>
        </a:xfrm>
      </p:grpSpPr>
      <p:sp>
        <p:nvSpPr>
          <p:cNvPr id="157" name="Google Shape;157;p27">
            <a:extLst>
              <a:ext uri="{FF2B5EF4-FFF2-40B4-BE49-F238E27FC236}">
                <a16:creationId xmlns:a16="http://schemas.microsoft.com/office/drawing/2014/main" id="{AE2B818B-7F90-FCAA-76BA-58640792E677}"/>
              </a:ext>
            </a:extLst>
          </p:cNvPr>
          <p:cNvSpPr txBox="1">
            <a:spLocks noGrp="1"/>
          </p:cNvSpPr>
          <p:nvPr>
            <p:ph type="subTitle" idx="4294967295"/>
          </p:nvPr>
        </p:nvSpPr>
        <p:spPr>
          <a:xfrm>
            <a:off x="0" y="0"/>
            <a:ext cx="12192000" cy="1051600"/>
          </a:xfrm>
          <a:prstGeom prst="rect">
            <a:avLst/>
          </a:prstGeom>
        </p:spPr>
        <p:txBody>
          <a:bodyPr spcFirstLastPara="1" wrap="square" lIns="121900" tIns="121900" rIns="121900" bIns="121900" anchor="t" anchorCtr="0">
            <a:noAutofit/>
          </a:bodyPr>
          <a:lstStyle/>
          <a:p>
            <a:pPr marL="0" indent="0">
              <a:spcBef>
                <a:spcPts val="0"/>
              </a:spcBef>
              <a:buNone/>
            </a:pPr>
            <a:r>
              <a:rPr lang="en-US" sz="5333" b="1" dirty="0">
                <a:solidFill>
                  <a:schemeClr val="lt1"/>
                </a:solidFill>
                <a:latin typeface="Raleway"/>
                <a:ea typeface="Raleway"/>
                <a:cs typeface="Raleway"/>
                <a:sym typeface="Raleway"/>
              </a:rPr>
              <a:t>Profiler runs (</a:t>
            </a:r>
            <a:r>
              <a:rPr lang="en-US" sz="5333" b="1" dirty="0" err="1">
                <a:solidFill>
                  <a:schemeClr val="lt1"/>
                </a:solidFill>
                <a:latin typeface="Raleway"/>
                <a:ea typeface="Raleway"/>
                <a:cs typeface="Raleway"/>
                <a:sym typeface="Raleway"/>
              </a:rPr>
              <a:t>get_damper</a:t>
            </a:r>
            <a:r>
              <a:rPr lang="en-US" sz="5333" b="1" dirty="0">
                <a:solidFill>
                  <a:schemeClr val="lt1"/>
                </a:solidFill>
                <a:latin typeface="Raleway"/>
                <a:ea typeface="Raleway"/>
                <a:cs typeface="Raleway"/>
                <a:sym typeface="Raleway"/>
              </a:rPr>
              <a:t>)</a:t>
            </a:r>
            <a:endParaRPr sz="3733" i="1" dirty="0">
              <a:solidFill>
                <a:schemeClr val="lt1"/>
              </a:solidFill>
              <a:latin typeface="Raleway"/>
              <a:ea typeface="Raleway"/>
              <a:cs typeface="Raleway"/>
              <a:sym typeface="Raleway"/>
            </a:endParaRPr>
          </a:p>
        </p:txBody>
      </p:sp>
      <p:sp>
        <p:nvSpPr>
          <p:cNvPr id="158" name="Google Shape;158;p27">
            <a:extLst>
              <a:ext uri="{FF2B5EF4-FFF2-40B4-BE49-F238E27FC236}">
                <a16:creationId xmlns:a16="http://schemas.microsoft.com/office/drawing/2014/main" id="{6B452FEA-7306-50D6-1B4F-474E24051622}"/>
              </a:ext>
            </a:extLst>
          </p:cNvPr>
          <p:cNvSpPr txBox="1">
            <a:spLocks noGrp="1"/>
          </p:cNvSpPr>
          <p:nvPr>
            <p:ph type="body" idx="4294967295"/>
          </p:nvPr>
        </p:nvSpPr>
        <p:spPr>
          <a:xfrm>
            <a:off x="609600" y="892774"/>
            <a:ext cx="10533321" cy="5486400"/>
          </a:xfrm>
          <a:prstGeom prst="rect">
            <a:avLst/>
          </a:prstGeom>
        </p:spPr>
        <p:txBody>
          <a:bodyPr spcFirstLastPara="1" wrap="square" lIns="121900" tIns="121900" rIns="121900" bIns="121900" anchor="t" anchorCtr="0">
            <a:noAutofit/>
          </a:bodyPr>
          <a:lstStyle/>
          <a:p>
            <a:pPr>
              <a:buClr>
                <a:schemeClr val="bg1"/>
              </a:buClr>
            </a:pPr>
            <a:r>
              <a:rPr lang="en-US" dirty="0">
                <a:solidFill>
                  <a:schemeClr val="bg1"/>
                </a:solidFill>
              </a:rPr>
              <a:t>Ran MATLAB’s profile on … profile viewer around the main script.</a:t>
            </a:r>
          </a:p>
          <a:p>
            <a:pPr>
              <a:buClr>
                <a:schemeClr val="bg1"/>
              </a:buClr>
            </a:pPr>
            <a:r>
              <a:rPr lang="en-US" dirty="0">
                <a:solidFill>
                  <a:schemeClr val="bg1"/>
                </a:solidFill>
              </a:rPr>
              <a:t>Identified that </a:t>
            </a:r>
            <a:r>
              <a:rPr lang="en-US" dirty="0" err="1">
                <a:solidFill>
                  <a:schemeClr val="bg1"/>
                </a:solidFill>
              </a:rPr>
              <a:t>get_damper</a:t>
            </a:r>
            <a:r>
              <a:rPr lang="en-US" dirty="0">
                <a:solidFill>
                  <a:schemeClr val="bg1"/>
                </a:solidFill>
              </a:rPr>
              <a:t> and mech_matrix_build_2D consumed most of the runtime.</a:t>
            </a:r>
          </a:p>
          <a:p>
            <a:pPr>
              <a:buClr>
                <a:schemeClr val="bg1"/>
              </a:buClr>
            </a:pPr>
            <a:r>
              <a:rPr lang="en-US" dirty="0">
                <a:solidFill>
                  <a:schemeClr val="bg1"/>
                </a:solidFill>
              </a:rPr>
              <a:t>Used this evidence to target optimization efforts rather than guessing.</a:t>
            </a:r>
          </a:p>
          <a:p>
            <a:pPr>
              <a:buClr>
                <a:schemeClr val="bg1"/>
              </a:buClr>
            </a:pPr>
            <a:endParaRPr lang="en-US" dirty="0">
              <a:solidFill>
                <a:schemeClr val="bg1"/>
              </a:solidFill>
            </a:endParaRPr>
          </a:p>
          <a:p>
            <a:pPr>
              <a:buClr>
                <a:schemeClr val="bg1"/>
              </a:buClr>
            </a:pPr>
            <a:endParaRPr lang="en-US" dirty="0">
              <a:solidFill>
                <a:schemeClr val="bg1"/>
              </a:solidFill>
            </a:endParaRPr>
          </a:p>
          <a:p>
            <a:pPr>
              <a:buClr>
                <a:schemeClr val="bg1"/>
              </a:buClr>
            </a:pPr>
            <a:r>
              <a:rPr lang="en-US" dirty="0">
                <a:solidFill>
                  <a:schemeClr val="lt1"/>
                </a:solidFill>
              </a:rPr>
              <a:t>Implementation (subsampling)</a:t>
            </a:r>
          </a:p>
          <a:p>
            <a:pPr lvl="1">
              <a:buClr>
                <a:schemeClr val="bg1"/>
              </a:buClr>
            </a:pPr>
            <a:r>
              <a:rPr lang="en-US" dirty="0">
                <a:solidFill>
                  <a:schemeClr val="lt1"/>
                </a:solidFill>
              </a:rPr>
              <a:t>Key line: “This simple stride check let me skip most calls to </a:t>
            </a:r>
            <a:r>
              <a:rPr lang="en-US" dirty="0" err="1">
                <a:solidFill>
                  <a:schemeClr val="lt1"/>
                </a:solidFill>
              </a:rPr>
              <a:t>get_damper</a:t>
            </a:r>
            <a:r>
              <a:rPr lang="en-US" dirty="0">
                <a:solidFill>
                  <a:schemeClr val="lt1"/>
                </a:solidFill>
              </a:rPr>
              <a:t>.”</a:t>
            </a:r>
          </a:p>
          <a:p>
            <a:pPr lvl="1">
              <a:buClr>
                <a:schemeClr val="bg1"/>
              </a:buClr>
            </a:pPr>
            <a:endParaRPr lang="en-US" dirty="0">
              <a:solidFill>
                <a:schemeClr val="lt1"/>
              </a:solidFill>
            </a:endParaRPr>
          </a:p>
          <a:p>
            <a:pPr indent="0">
              <a:lnSpc>
                <a:spcPct val="115000"/>
              </a:lnSpc>
              <a:spcBef>
                <a:spcPts val="0"/>
              </a:spcBef>
              <a:buClr>
                <a:schemeClr val="bg1"/>
              </a:buClr>
              <a:buNone/>
            </a:pPr>
            <a:endParaRPr dirty="0">
              <a:solidFill>
                <a:schemeClr val="lt1"/>
              </a:solidFill>
            </a:endParaRPr>
          </a:p>
          <a:p>
            <a:pPr marL="0" indent="0">
              <a:buClr>
                <a:schemeClr val="bg1"/>
              </a:buClr>
              <a:buNone/>
            </a:pPr>
            <a:endParaRPr dirty="0">
              <a:solidFill>
                <a:schemeClr val="lt1"/>
              </a:solidFill>
            </a:endParaRPr>
          </a:p>
        </p:txBody>
      </p:sp>
    </p:spTree>
    <p:extLst>
      <p:ext uri="{BB962C8B-B14F-4D97-AF65-F5344CB8AC3E}">
        <p14:creationId xmlns:p14="http://schemas.microsoft.com/office/powerpoint/2010/main" val="161035967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8">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6">
          <a:extLst>
            <a:ext uri="{FF2B5EF4-FFF2-40B4-BE49-F238E27FC236}">
              <a16:creationId xmlns:a16="http://schemas.microsoft.com/office/drawing/2014/main" id="{27F93162-96EB-0F94-286F-95AF0CCCA0F5}"/>
            </a:ext>
          </a:extLst>
        </p:cNvPr>
        <p:cNvGrpSpPr/>
        <p:nvPr/>
      </p:nvGrpSpPr>
      <p:grpSpPr>
        <a:xfrm>
          <a:off x="0" y="0"/>
          <a:ext cx="0" cy="0"/>
          <a:chOff x="0" y="0"/>
          <a:chExt cx="0" cy="0"/>
        </a:xfrm>
      </p:grpSpPr>
      <p:sp>
        <p:nvSpPr>
          <p:cNvPr id="157" name="Google Shape;157;p27">
            <a:extLst>
              <a:ext uri="{FF2B5EF4-FFF2-40B4-BE49-F238E27FC236}">
                <a16:creationId xmlns:a16="http://schemas.microsoft.com/office/drawing/2014/main" id="{6C792AA5-3B05-51AA-191E-095629F3BF41}"/>
              </a:ext>
            </a:extLst>
          </p:cNvPr>
          <p:cNvSpPr txBox="1">
            <a:spLocks noGrp="1"/>
          </p:cNvSpPr>
          <p:nvPr>
            <p:ph type="subTitle" idx="4294967295"/>
          </p:nvPr>
        </p:nvSpPr>
        <p:spPr>
          <a:xfrm>
            <a:off x="0" y="0"/>
            <a:ext cx="12192000" cy="1051600"/>
          </a:xfrm>
          <a:prstGeom prst="rect">
            <a:avLst/>
          </a:prstGeom>
        </p:spPr>
        <p:txBody>
          <a:bodyPr spcFirstLastPara="1" wrap="square" lIns="121900" tIns="121900" rIns="121900" bIns="121900" anchor="t" anchorCtr="0">
            <a:noAutofit/>
          </a:bodyPr>
          <a:lstStyle/>
          <a:p>
            <a:pPr marL="0" indent="0">
              <a:spcBef>
                <a:spcPts val="0"/>
              </a:spcBef>
              <a:buNone/>
            </a:pPr>
            <a:r>
              <a:rPr lang="en-US" sz="5333" b="1" dirty="0">
                <a:solidFill>
                  <a:schemeClr val="lt1"/>
                </a:solidFill>
                <a:latin typeface="Raleway"/>
                <a:ea typeface="Raleway"/>
                <a:cs typeface="Raleway"/>
                <a:sym typeface="Raleway"/>
              </a:rPr>
              <a:t>(</a:t>
            </a:r>
            <a:r>
              <a:rPr lang="en-US" sz="5333" b="1" dirty="0" err="1">
                <a:solidFill>
                  <a:schemeClr val="lt1"/>
                </a:solidFill>
                <a:latin typeface="Raleway"/>
                <a:ea typeface="Raleway"/>
                <a:cs typeface="Raleway"/>
                <a:sym typeface="Raleway"/>
              </a:rPr>
              <a:t>get_damper</a:t>
            </a:r>
            <a:r>
              <a:rPr lang="en-US" sz="5333" b="1" dirty="0">
                <a:solidFill>
                  <a:schemeClr val="lt1"/>
                </a:solidFill>
                <a:latin typeface="Raleway"/>
                <a:ea typeface="Raleway"/>
                <a:cs typeface="Raleway"/>
                <a:sym typeface="Raleway"/>
              </a:rPr>
              <a:t>) (1): results</a:t>
            </a:r>
            <a:endParaRPr sz="3733" i="1" dirty="0">
              <a:solidFill>
                <a:schemeClr val="lt1"/>
              </a:solidFill>
              <a:latin typeface="Raleway"/>
              <a:ea typeface="Raleway"/>
              <a:cs typeface="Raleway"/>
              <a:sym typeface="Raleway"/>
            </a:endParaRPr>
          </a:p>
        </p:txBody>
      </p:sp>
      <p:sp>
        <p:nvSpPr>
          <p:cNvPr id="158" name="Google Shape;158;p27">
            <a:extLst>
              <a:ext uri="{FF2B5EF4-FFF2-40B4-BE49-F238E27FC236}">
                <a16:creationId xmlns:a16="http://schemas.microsoft.com/office/drawing/2014/main" id="{F612831C-80FE-62FB-E73B-F96878255784}"/>
              </a:ext>
            </a:extLst>
          </p:cNvPr>
          <p:cNvSpPr txBox="1">
            <a:spLocks noGrp="1"/>
          </p:cNvSpPr>
          <p:nvPr>
            <p:ph type="body" idx="4294967295"/>
          </p:nvPr>
        </p:nvSpPr>
        <p:spPr>
          <a:xfrm>
            <a:off x="609600" y="892774"/>
            <a:ext cx="10533321" cy="5486400"/>
          </a:xfrm>
          <a:prstGeom prst="rect">
            <a:avLst/>
          </a:prstGeom>
        </p:spPr>
        <p:txBody>
          <a:bodyPr spcFirstLastPara="1" wrap="square" lIns="121900" tIns="121900" rIns="121900" bIns="121900" anchor="t" anchorCtr="0">
            <a:noAutofit/>
          </a:bodyPr>
          <a:lstStyle/>
          <a:p>
            <a:pPr>
              <a:buClr>
                <a:schemeClr val="bg1"/>
              </a:buClr>
            </a:pPr>
            <a:r>
              <a:rPr lang="en-US" dirty="0">
                <a:solidFill>
                  <a:schemeClr val="bg1"/>
                </a:solidFill>
              </a:rPr>
              <a:t>Show the tradeoff plot (error vs speedup).</a:t>
            </a:r>
          </a:p>
          <a:p>
            <a:pPr>
              <a:buClr>
                <a:schemeClr val="bg1"/>
              </a:buClr>
            </a:pPr>
            <a:r>
              <a:rPr lang="en-US" dirty="0">
                <a:solidFill>
                  <a:schemeClr val="bg1"/>
                </a:solidFill>
              </a:rPr>
              <a:t>You introduced stride logic (compute every 2, 4, … timesteps instead of every step).</a:t>
            </a:r>
          </a:p>
          <a:p>
            <a:pPr>
              <a:buClr>
                <a:schemeClr val="bg1"/>
              </a:buClr>
            </a:pPr>
            <a:r>
              <a:rPr lang="en-US" dirty="0">
                <a:solidFill>
                  <a:schemeClr val="bg1"/>
                </a:solidFill>
              </a:rPr>
              <a:t>Result: huge speedups (up to ~2800×) but error grows with stride.</a:t>
            </a:r>
          </a:p>
          <a:p>
            <a:pPr>
              <a:buClr>
                <a:schemeClr val="bg1"/>
              </a:buClr>
            </a:pPr>
            <a:r>
              <a:rPr lang="en-US" dirty="0">
                <a:solidFill>
                  <a:schemeClr val="bg1"/>
                </a:solidFill>
              </a:rPr>
              <a:t>Key line: “The profiler guided me to the bottleneck, subsampling gave me huge speedups, and the error analysis justified that the approximation was acceptable.”</a:t>
            </a:r>
          </a:p>
          <a:p>
            <a:pPr>
              <a:buClr>
                <a:schemeClr val="bg1"/>
              </a:buClr>
            </a:pPr>
            <a:endParaRPr lang="en-US" dirty="0">
              <a:solidFill>
                <a:schemeClr val="bg1"/>
              </a:solidFill>
            </a:endParaRPr>
          </a:p>
          <a:p>
            <a:pPr>
              <a:buClr>
                <a:schemeClr val="bg1"/>
              </a:buClr>
            </a:pPr>
            <a:r>
              <a:rPr lang="en-US" dirty="0">
                <a:solidFill>
                  <a:schemeClr val="bg1"/>
                </a:solidFill>
              </a:rPr>
              <a:t>But how does subsampling compare to ROM implementation?</a:t>
            </a:r>
          </a:p>
          <a:p>
            <a:pPr lvl="1">
              <a:buClr>
                <a:schemeClr val="bg1"/>
              </a:buClr>
            </a:pPr>
            <a:r>
              <a:rPr lang="en-US" dirty="0">
                <a:solidFill>
                  <a:schemeClr val="bg1"/>
                </a:solidFill>
              </a:rPr>
              <a:t>ROM: builds a reduced basis offline, then solves a smaller system online.</a:t>
            </a:r>
          </a:p>
          <a:p>
            <a:pPr lvl="1">
              <a:buClr>
                <a:schemeClr val="bg1"/>
              </a:buClr>
            </a:pPr>
            <a:endParaRPr lang="en-US" dirty="0">
              <a:solidFill>
                <a:schemeClr val="bg1"/>
              </a:solidFill>
            </a:endParaRPr>
          </a:p>
          <a:p>
            <a:pPr lvl="1">
              <a:buClr>
                <a:schemeClr val="bg1"/>
              </a:buClr>
            </a:pPr>
            <a:endParaRPr lang="en-US" dirty="0">
              <a:solidFill>
                <a:schemeClr val="bg1"/>
              </a:solidFill>
            </a:endParaRPr>
          </a:p>
        </p:txBody>
      </p:sp>
    </p:spTree>
    <p:extLst>
      <p:ext uri="{BB962C8B-B14F-4D97-AF65-F5344CB8AC3E}">
        <p14:creationId xmlns:p14="http://schemas.microsoft.com/office/powerpoint/2010/main" val="158757757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8">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8">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8">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6">
          <a:extLst>
            <a:ext uri="{FF2B5EF4-FFF2-40B4-BE49-F238E27FC236}">
              <a16:creationId xmlns:a16="http://schemas.microsoft.com/office/drawing/2014/main" id="{062EFC7F-EC13-C06C-2562-F070E0E00563}"/>
            </a:ext>
          </a:extLst>
        </p:cNvPr>
        <p:cNvGrpSpPr/>
        <p:nvPr/>
      </p:nvGrpSpPr>
      <p:grpSpPr>
        <a:xfrm>
          <a:off x="0" y="0"/>
          <a:ext cx="0" cy="0"/>
          <a:chOff x="0" y="0"/>
          <a:chExt cx="0" cy="0"/>
        </a:xfrm>
      </p:grpSpPr>
      <p:sp>
        <p:nvSpPr>
          <p:cNvPr id="157" name="Google Shape;157;p27">
            <a:extLst>
              <a:ext uri="{FF2B5EF4-FFF2-40B4-BE49-F238E27FC236}">
                <a16:creationId xmlns:a16="http://schemas.microsoft.com/office/drawing/2014/main" id="{D00055DB-6A18-C1F0-C8E8-DF5D3A961D9C}"/>
              </a:ext>
            </a:extLst>
          </p:cNvPr>
          <p:cNvSpPr txBox="1">
            <a:spLocks noGrp="1"/>
          </p:cNvSpPr>
          <p:nvPr>
            <p:ph type="subTitle" idx="4294967295"/>
          </p:nvPr>
        </p:nvSpPr>
        <p:spPr>
          <a:xfrm>
            <a:off x="0" y="0"/>
            <a:ext cx="12192000" cy="1051600"/>
          </a:xfrm>
          <a:prstGeom prst="rect">
            <a:avLst/>
          </a:prstGeom>
        </p:spPr>
        <p:txBody>
          <a:bodyPr spcFirstLastPara="1" wrap="square" lIns="121900" tIns="121900" rIns="121900" bIns="121900" anchor="t" anchorCtr="0">
            <a:noAutofit/>
          </a:bodyPr>
          <a:lstStyle/>
          <a:p>
            <a:pPr marL="0" indent="0">
              <a:spcBef>
                <a:spcPts val="0"/>
              </a:spcBef>
              <a:buNone/>
            </a:pPr>
            <a:r>
              <a:rPr lang="en-US" sz="5333" b="1" dirty="0">
                <a:solidFill>
                  <a:schemeClr val="lt1"/>
                </a:solidFill>
                <a:latin typeface="Raleway"/>
                <a:ea typeface="Raleway"/>
                <a:cs typeface="Raleway"/>
                <a:sym typeface="Raleway"/>
              </a:rPr>
              <a:t>(</a:t>
            </a:r>
            <a:r>
              <a:rPr lang="en-US" sz="5333" b="1" dirty="0" err="1">
                <a:solidFill>
                  <a:schemeClr val="lt1"/>
                </a:solidFill>
                <a:latin typeface="Raleway"/>
                <a:ea typeface="Raleway"/>
                <a:cs typeface="Raleway"/>
                <a:sym typeface="Raleway"/>
              </a:rPr>
              <a:t>get_damper</a:t>
            </a:r>
            <a:r>
              <a:rPr lang="en-US" sz="5333" b="1" dirty="0">
                <a:solidFill>
                  <a:schemeClr val="lt1"/>
                </a:solidFill>
                <a:latin typeface="Raleway"/>
                <a:ea typeface="Raleway"/>
                <a:cs typeface="Raleway"/>
                <a:sym typeface="Raleway"/>
              </a:rPr>
              <a:t>) (2): results</a:t>
            </a:r>
            <a:endParaRPr lang="en-US" sz="3733" i="1" dirty="0">
              <a:solidFill>
                <a:schemeClr val="lt1"/>
              </a:solidFill>
              <a:latin typeface="Raleway"/>
              <a:ea typeface="Raleway"/>
              <a:cs typeface="Raleway"/>
              <a:sym typeface="Raleway"/>
            </a:endParaRPr>
          </a:p>
        </p:txBody>
      </p:sp>
      <p:sp>
        <p:nvSpPr>
          <p:cNvPr id="158" name="Google Shape;158;p27">
            <a:extLst>
              <a:ext uri="{FF2B5EF4-FFF2-40B4-BE49-F238E27FC236}">
                <a16:creationId xmlns:a16="http://schemas.microsoft.com/office/drawing/2014/main" id="{89B088FC-8E77-36D9-D8D0-F3619DE16E1A}"/>
              </a:ext>
            </a:extLst>
          </p:cNvPr>
          <p:cNvSpPr txBox="1">
            <a:spLocks noGrp="1"/>
          </p:cNvSpPr>
          <p:nvPr>
            <p:ph type="body" idx="4294967295"/>
          </p:nvPr>
        </p:nvSpPr>
        <p:spPr>
          <a:xfrm>
            <a:off x="609600" y="892774"/>
            <a:ext cx="10533321" cy="5486400"/>
          </a:xfrm>
          <a:prstGeom prst="rect">
            <a:avLst/>
          </a:prstGeom>
        </p:spPr>
        <p:txBody>
          <a:bodyPr spcFirstLastPara="1" wrap="square" lIns="121900" tIns="121900" rIns="121900" bIns="121900" anchor="t" anchorCtr="0">
            <a:noAutofit/>
          </a:bodyPr>
          <a:lstStyle/>
          <a:p>
            <a:pPr>
              <a:buClr>
                <a:schemeClr val="bg1"/>
              </a:buClr>
            </a:pPr>
            <a:r>
              <a:rPr lang="en-US" dirty="0">
                <a:solidFill>
                  <a:schemeClr val="bg1"/>
                </a:solidFill>
              </a:rPr>
              <a:t>Observation:</a:t>
            </a:r>
          </a:p>
          <a:p>
            <a:pPr lvl="1">
              <a:buClr>
                <a:schemeClr val="bg1"/>
              </a:buClr>
            </a:pPr>
            <a:r>
              <a:rPr lang="en-US" dirty="0">
                <a:solidFill>
                  <a:schemeClr val="bg1"/>
                </a:solidFill>
              </a:rPr>
              <a:t>Subsampling gave massive speedups but error climbed quickly (e.g. 4.5% at stride=4, 23% at stride=16).</a:t>
            </a:r>
          </a:p>
          <a:p>
            <a:pPr lvl="1">
              <a:buClr>
                <a:schemeClr val="bg1"/>
              </a:buClr>
            </a:pPr>
            <a:r>
              <a:rPr lang="en-US" dirty="0">
                <a:solidFill>
                  <a:schemeClr val="bg1"/>
                </a:solidFill>
              </a:rPr>
              <a:t>ROM gave moderate speedup (418×) but much lower error (~1.3%).</a:t>
            </a:r>
          </a:p>
          <a:p>
            <a:pPr>
              <a:buClr>
                <a:schemeClr val="bg1"/>
              </a:buClr>
            </a:pPr>
            <a:r>
              <a:rPr lang="en-US" dirty="0">
                <a:solidFill>
                  <a:schemeClr val="bg1"/>
                </a:solidFill>
              </a:rPr>
              <a:t>This shows a tradeoff:</a:t>
            </a:r>
          </a:p>
          <a:p>
            <a:pPr lvl="1">
              <a:buClr>
                <a:schemeClr val="bg1"/>
              </a:buClr>
            </a:pPr>
            <a:r>
              <a:rPr lang="en-US" dirty="0">
                <a:solidFill>
                  <a:schemeClr val="bg1"/>
                </a:solidFill>
              </a:rPr>
              <a:t>Subsampling = fastest, less accurate.</a:t>
            </a:r>
          </a:p>
          <a:p>
            <a:pPr lvl="1">
              <a:buClr>
                <a:schemeClr val="bg1"/>
              </a:buClr>
            </a:pPr>
            <a:r>
              <a:rPr lang="en-US" dirty="0">
                <a:solidFill>
                  <a:schemeClr val="bg1"/>
                </a:solidFill>
              </a:rPr>
              <a:t>ROM = slower, but more accurate.</a:t>
            </a:r>
          </a:p>
          <a:p>
            <a:pPr>
              <a:buClr>
                <a:schemeClr val="bg1"/>
              </a:buClr>
            </a:pPr>
            <a:r>
              <a:rPr lang="en-US" dirty="0">
                <a:solidFill>
                  <a:schemeClr val="bg1"/>
                </a:solidFill>
              </a:rPr>
              <a:t>The interesting point: both methods target the same bottleneck (</a:t>
            </a:r>
            <a:r>
              <a:rPr lang="en-US" dirty="0" err="1">
                <a:solidFill>
                  <a:schemeClr val="bg1"/>
                </a:solidFill>
              </a:rPr>
              <a:t>get_damper</a:t>
            </a:r>
            <a:r>
              <a:rPr lang="en-US" dirty="0">
                <a:solidFill>
                  <a:schemeClr val="bg1"/>
                </a:solidFill>
              </a:rPr>
              <a:t>), but in different ways — one skips calls, the other compresses the system.</a:t>
            </a:r>
          </a:p>
        </p:txBody>
      </p:sp>
    </p:spTree>
    <p:extLst>
      <p:ext uri="{BB962C8B-B14F-4D97-AF65-F5344CB8AC3E}">
        <p14:creationId xmlns:p14="http://schemas.microsoft.com/office/powerpoint/2010/main" val="365391950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1A1691B5-983D-6049-5027-0302C729D14F}"/>
            </a:ext>
          </a:extLst>
        </p:cNvPr>
        <p:cNvGrpSpPr/>
        <p:nvPr/>
      </p:nvGrpSpPr>
      <p:grpSpPr>
        <a:xfrm>
          <a:off x="0" y="0"/>
          <a:ext cx="0" cy="0"/>
          <a:chOff x="0" y="0"/>
          <a:chExt cx="0" cy="0"/>
        </a:xfrm>
      </p:grpSpPr>
      <p:sp>
        <p:nvSpPr>
          <p:cNvPr id="164" name="Google Shape;164;p28">
            <a:extLst>
              <a:ext uri="{FF2B5EF4-FFF2-40B4-BE49-F238E27FC236}">
                <a16:creationId xmlns:a16="http://schemas.microsoft.com/office/drawing/2014/main" id="{0AD4D510-4BB0-3EEE-AD25-2A5EEFCC6F53}"/>
              </a:ext>
            </a:extLst>
          </p:cNvPr>
          <p:cNvSpPr txBox="1"/>
          <p:nvPr/>
        </p:nvSpPr>
        <p:spPr>
          <a:xfrm>
            <a:off x="609600" y="1051601"/>
            <a:ext cx="10972800" cy="3102347"/>
          </a:xfrm>
          <a:prstGeom prst="rect">
            <a:avLst/>
          </a:prstGeom>
          <a:noFill/>
          <a:ln>
            <a:noFill/>
          </a:ln>
        </p:spPr>
        <p:txBody>
          <a:bodyPr spcFirstLastPara="1" wrap="square" lIns="121900" tIns="121900" rIns="121900" bIns="121900" anchor="t" anchorCtr="0">
            <a:spAutoFit/>
          </a:bodyPr>
          <a:lstStyle/>
          <a:p>
            <a:pPr marL="609585" indent="-465655" defTabSz="1219170">
              <a:lnSpc>
                <a:spcPct val="115000"/>
              </a:lnSpc>
              <a:spcAft>
                <a:spcPts val="800"/>
              </a:spcAft>
              <a:buClr>
                <a:srgbClr val="434343"/>
              </a:buClr>
              <a:buSzPct val="100000"/>
              <a:buFont typeface="+mj-lt"/>
              <a:buAutoNum type="arabicPeriod"/>
            </a:pPr>
            <a:r>
              <a:rPr lang="en-US" sz="2400" kern="0" dirty="0">
                <a:solidFill>
                  <a:schemeClr val="tx2">
                    <a:lumMod val="10000"/>
                  </a:schemeClr>
                </a:solidFill>
                <a:latin typeface="Lato"/>
                <a:ea typeface="Lato"/>
                <a:cs typeface="Lato"/>
                <a:sym typeface="Lato"/>
              </a:rPr>
              <a:t>Profiler: identified bottlenecks (</a:t>
            </a:r>
            <a:r>
              <a:rPr lang="en-US" sz="2400" kern="0" dirty="0" err="1">
                <a:solidFill>
                  <a:schemeClr val="tx2">
                    <a:lumMod val="10000"/>
                  </a:schemeClr>
                </a:solidFill>
                <a:latin typeface="Lato"/>
                <a:ea typeface="Lato"/>
                <a:cs typeface="Lato"/>
                <a:sym typeface="Lato"/>
              </a:rPr>
              <a:t>get_damper</a:t>
            </a:r>
            <a:r>
              <a:rPr lang="en-US" sz="2400" kern="0" dirty="0">
                <a:solidFill>
                  <a:schemeClr val="tx2">
                    <a:lumMod val="10000"/>
                  </a:schemeClr>
                </a:solidFill>
                <a:latin typeface="Lato"/>
                <a:ea typeface="Lato"/>
                <a:cs typeface="Lato"/>
                <a:sym typeface="Lato"/>
              </a:rPr>
              <a:t>, mech_matrix_build_2D)</a:t>
            </a:r>
          </a:p>
          <a:p>
            <a:pPr marL="1066785" lvl="1" indent="-465655" defTabSz="1219170">
              <a:lnSpc>
                <a:spcPct val="115000"/>
              </a:lnSpc>
              <a:spcAft>
                <a:spcPts val="800"/>
              </a:spcAft>
              <a:buClr>
                <a:srgbClr val="434343"/>
              </a:buClr>
              <a:buSzPct val="100000"/>
              <a:buFont typeface="+mj-lt"/>
              <a:buAutoNum type="arabicPeriod"/>
            </a:pPr>
            <a:r>
              <a:rPr lang="en-US" sz="2400" kern="0" dirty="0">
                <a:solidFill>
                  <a:schemeClr val="tx2">
                    <a:lumMod val="10000"/>
                  </a:schemeClr>
                </a:solidFill>
                <a:latin typeface="Lato"/>
                <a:ea typeface="Lato"/>
                <a:cs typeface="Lato"/>
                <a:sym typeface="Lato"/>
              </a:rPr>
              <a:t>I already implemented </a:t>
            </a:r>
            <a:r>
              <a:rPr lang="en-US" sz="2400" b="1" kern="0" dirty="0">
                <a:solidFill>
                  <a:schemeClr val="tx2">
                    <a:lumMod val="10000"/>
                  </a:schemeClr>
                </a:solidFill>
                <a:latin typeface="Lato"/>
                <a:ea typeface="Lato"/>
                <a:cs typeface="Lato"/>
                <a:sym typeface="Lato"/>
              </a:rPr>
              <a:t>subsampling</a:t>
            </a:r>
            <a:r>
              <a:rPr lang="en-US" sz="2400" kern="0" dirty="0">
                <a:solidFill>
                  <a:schemeClr val="tx2">
                    <a:lumMod val="10000"/>
                  </a:schemeClr>
                </a:solidFill>
                <a:latin typeface="Lato"/>
                <a:ea typeface="Lato"/>
                <a:cs typeface="Lato"/>
                <a:sym typeface="Lato"/>
              </a:rPr>
              <a:t> as the </a:t>
            </a:r>
            <a:r>
              <a:rPr lang="en-US" sz="2400" b="1" kern="0" dirty="0">
                <a:solidFill>
                  <a:schemeClr val="tx2">
                    <a:lumMod val="10000"/>
                  </a:schemeClr>
                </a:solidFill>
                <a:latin typeface="Lato"/>
                <a:ea typeface="Lato"/>
                <a:cs typeface="Lato"/>
                <a:sym typeface="Lato"/>
              </a:rPr>
              <a:t>first optimization method</a:t>
            </a:r>
            <a:r>
              <a:rPr lang="en-US" sz="2400" kern="0" dirty="0">
                <a:solidFill>
                  <a:schemeClr val="tx2">
                    <a:lumMod val="10000"/>
                  </a:schemeClr>
                </a:solidFill>
                <a:latin typeface="Lato"/>
                <a:ea typeface="Lato"/>
                <a:cs typeface="Lato"/>
                <a:sym typeface="Lato"/>
              </a:rPr>
              <a:t>. The updated profiler confirms that the bottleneck (</a:t>
            </a:r>
            <a:r>
              <a:rPr lang="en-US" sz="2400" kern="0" dirty="0" err="1">
                <a:solidFill>
                  <a:schemeClr val="tx2">
                    <a:lumMod val="10000"/>
                  </a:schemeClr>
                </a:solidFill>
                <a:latin typeface="Lato"/>
                <a:ea typeface="Lato"/>
                <a:cs typeface="Lato"/>
                <a:sym typeface="Lato"/>
              </a:rPr>
              <a:t>get_damper</a:t>
            </a:r>
            <a:r>
              <a:rPr lang="en-US" sz="2400" kern="0" dirty="0">
                <a:solidFill>
                  <a:schemeClr val="tx2">
                    <a:lumMod val="10000"/>
                  </a:schemeClr>
                </a:solidFill>
                <a:latin typeface="Lato"/>
                <a:ea typeface="Lato"/>
                <a:cs typeface="Lato"/>
                <a:sym typeface="Lato"/>
              </a:rPr>
              <a:t>) is still dominating runtime </a:t>
            </a:r>
            <a:r>
              <a:rPr lang="en-US" sz="2400" kern="0" dirty="0">
                <a:solidFill>
                  <a:schemeClr val="tx2">
                    <a:lumMod val="10000"/>
                  </a:schemeClr>
                </a:solidFill>
                <a:latin typeface="Lato"/>
                <a:ea typeface="Lato"/>
                <a:cs typeface="Lato"/>
                <a:sym typeface="Wingdings" pitchFamily="2" charset="2"/>
              </a:rPr>
              <a:t> </a:t>
            </a:r>
            <a:r>
              <a:rPr lang="en-US" sz="2400" kern="0" dirty="0">
                <a:solidFill>
                  <a:schemeClr val="tx2">
                    <a:lumMod val="10000"/>
                  </a:schemeClr>
                </a:solidFill>
                <a:latin typeface="Lato"/>
                <a:ea typeface="Lato"/>
                <a:cs typeface="Lato"/>
                <a:sym typeface="Lato"/>
              </a:rPr>
              <a:t>the next optimization method should target how </a:t>
            </a:r>
            <a:r>
              <a:rPr lang="en-US" sz="2400" kern="0" dirty="0" err="1">
                <a:solidFill>
                  <a:schemeClr val="tx2">
                    <a:lumMod val="10000"/>
                  </a:schemeClr>
                </a:solidFill>
                <a:latin typeface="Lato"/>
                <a:ea typeface="Lato"/>
                <a:cs typeface="Lato"/>
                <a:sym typeface="Lato"/>
              </a:rPr>
              <a:t>get_damper</a:t>
            </a:r>
            <a:r>
              <a:rPr lang="en-US" sz="2400" kern="0" dirty="0">
                <a:solidFill>
                  <a:schemeClr val="tx2">
                    <a:lumMod val="10000"/>
                  </a:schemeClr>
                </a:solidFill>
                <a:latin typeface="Lato"/>
                <a:ea typeface="Lato"/>
                <a:cs typeface="Lato"/>
                <a:sym typeface="Lato"/>
              </a:rPr>
              <a:t> itself is </a:t>
            </a:r>
            <a:r>
              <a:rPr lang="en-US" sz="2400" b="1" kern="0" dirty="0">
                <a:solidFill>
                  <a:schemeClr val="tx2">
                    <a:lumMod val="10000"/>
                  </a:schemeClr>
                </a:solidFill>
                <a:latin typeface="Lato"/>
                <a:ea typeface="Lato"/>
                <a:cs typeface="Lato"/>
                <a:sym typeface="Lato"/>
              </a:rPr>
              <a:t>executed</a:t>
            </a:r>
            <a:r>
              <a:rPr lang="en-US" sz="2400" kern="0" dirty="0">
                <a:solidFill>
                  <a:schemeClr val="tx2">
                    <a:lumMod val="10000"/>
                  </a:schemeClr>
                </a:solidFill>
                <a:latin typeface="Lato"/>
                <a:ea typeface="Lato"/>
                <a:cs typeface="Lato"/>
                <a:sym typeface="Lato"/>
              </a:rPr>
              <a:t>, </a:t>
            </a:r>
            <a:r>
              <a:rPr lang="en-US" sz="2400" i="1" kern="0" dirty="0">
                <a:solidFill>
                  <a:schemeClr val="tx2">
                    <a:lumMod val="10000"/>
                  </a:schemeClr>
                </a:solidFill>
                <a:latin typeface="Lato"/>
                <a:ea typeface="Lato"/>
                <a:cs typeface="Lato"/>
                <a:sym typeface="Lato"/>
              </a:rPr>
              <a:t>not just how often</a:t>
            </a:r>
            <a:r>
              <a:rPr lang="en-US" sz="2400" kern="0" dirty="0">
                <a:solidFill>
                  <a:schemeClr val="tx2">
                    <a:lumMod val="10000"/>
                  </a:schemeClr>
                </a:solidFill>
                <a:latin typeface="Lato"/>
                <a:ea typeface="Lato"/>
                <a:cs typeface="Lato"/>
                <a:sym typeface="Lato"/>
              </a:rPr>
              <a:t>.</a:t>
            </a:r>
          </a:p>
          <a:p>
            <a:pPr marL="609585" indent="-465655" defTabSz="1219170">
              <a:lnSpc>
                <a:spcPct val="115000"/>
              </a:lnSpc>
              <a:spcAft>
                <a:spcPts val="800"/>
              </a:spcAft>
              <a:buClr>
                <a:srgbClr val="434343"/>
              </a:buClr>
              <a:buSzPct val="100000"/>
              <a:buFont typeface="+mj-lt"/>
              <a:buAutoNum type="arabicPeriod"/>
            </a:pPr>
            <a:endParaRPr lang="en-US" sz="2400" kern="0" dirty="0">
              <a:solidFill>
                <a:schemeClr val="tx2">
                  <a:lumMod val="10000"/>
                </a:schemeClr>
              </a:solidFill>
              <a:latin typeface="Lato"/>
              <a:ea typeface="Lato"/>
              <a:cs typeface="Lato"/>
              <a:sym typeface="Lato"/>
            </a:endParaRPr>
          </a:p>
        </p:txBody>
      </p:sp>
      <p:sp>
        <p:nvSpPr>
          <p:cNvPr id="4" name="Google Shape;157;p27">
            <a:extLst>
              <a:ext uri="{FF2B5EF4-FFF2-40B4-BE49-F238E27FC236}">
                <a16:creationId xmlns:a16="http://schemas.microsoft.com/office/drawing/2014/main" id="{63E5A34B-BD4F-3772-CDBD-5D3CFB0A69CC}"/>
              </a:ext>
            </a:extLst>
          </p:cNvPr>
          <p:cNvSpPr txBox="1">
            <a:spLocks/>
          </p:cNvSpPr>
          <p:nvPr/>
        </p:nvSpPr>
        <p:spPr>
          <a:xfrm>
            <a:off x="0" y="0"/>
            <a:ext cx="12192000" cy="1051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chemeClr val="accent6"/>
              </a:buClr>
              <a:buSzPts val="2400"/>
              <a:buFont typeface="Lato"/>
              <a:buChar char="▷"/>
              <a:defRPr sz="2400" b="0" i="0" u="none" strike="noStrike" cap="none">
                <a:solidFill>
                  <a:schemeClr val="dk1"/>
                </a:solidFill>
                <a:latin typeface="Lato"/>
                <a:ea typeface="Lato"/>
                <a:cs typeface="Lato"/>
                <a:sym typeface="Lato"/>
              </a:defRPr>
            </a:lvl1pPr>
            <a:lvl2pPr marL="914400" marR="0" lvl="1"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2pPr>
            <a:lvl3pPr marL="1371600" marR="0" lvl="2"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3pPr>
            <a:lvl4pPr marL="1828800" marR="0" lvl="3"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4pPr>
            <a:lvl5pPr marL="2286000" marR="0" lvl="4"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5pPr>
            <a:lvl6pPr marL="2743200" marR="0" lvl="5"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6pPr>
            <a:lvl7pPr marL="3200400" marR="0" lvl="6"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7pPr>
            <a:lvl8pPr marL="3657600" marR="0" lvl="7"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8pPr>
            <a:lvl9pPr marL="4114800" marR="0" lvl="8"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9pPr>
          </a:lstStyle>
          <a:p>
            <a:pPr marL="0" indent="0" defTabSz="1219170">
              <a:spcBef>
                <a:spcPts val="0"/>
              </a:spcBef>
              <a:buClr>
                <a:srgbClr val="97ABBC"/>
              </a:buClr>
              <a:buNone/>
            </a:pPr>
            <a:r>
              <a:rPr lang="en-US" sz="5333" b="1" kern="0" dirty="0">
                <a:solidFill>
                  <a:srgbClr val="2185C5"/>
                </a:solidFill>
                <a:latin typeface="Raleway"/>
                <a:ea typeface="Raleway"/>
                <a:cs typeface="Raleway"/>
                <a:sym typeface="Raleway"/>
              </a:rPr>
              <a:t>Optimization techniques</a:t>
            </a:r>
            <a:endParaRPr lang="en-US" sz="3733" i="1" kern="0" dirty="0">
              <a:solidFill>
                <a:srgbClr val="2185C5"/>
              </a:solidFill>
              <a:latin typeface="Raleway"/>
              <a:ea typeface="Raleway"/>
              <a:cs typeface="Raleway"/>
              <a:sym typeface="Raleway"/>
            </a:endParaRPr>
          </a:p>
        </p:txBody>
      </p:sp>
      <p:pic>
        <p:nvPicPr>
          <p:cNvPr id="2" name="Picture 1">
            <a:extLst>
              <a:ext uri="{FF2B5EF4-FFF2-40B4-BE49-F238E27FC236}">
                <a16:creationId xmlns:a16="http://schemas.microsoft.com/office/drawing/2014/main" id="{FBF9EE51-8648-CD1D-828C-67D5B55D0DC7}"/>
              </a:ext>
            </a:extLst>
          </p:cNvPr>
          <p:cNvPicPr>
            <a:picLocks noChangeAspect="1"/>
          </p:cNvPicPr>
          <p:nvPr/>
        </p:nvPicPr>
        <p:blipFill>
          <a:blip r:embed="rId3"/>
          <a:stretch>
            <a:fillRect/>
          </a:stretch>
        </p:blipFill>
        <p:spPr>
          <a:xfrm>
            <a:off x="1877291" y="3651567"/>
            <a:ext cx="7772400" cy="2676125"/>
          </a:xfrm>
          <a:prstGeom prst="rect">
            <a:avLst/>
          </a:prstGeom>
        </p:spPr>
      </p:pic>
      <p:sp>
        <p:nvSpPr>
          <p:cNvPr id="3" name="TextBox 2">
            <a:extLst>
              <a:ext uri="{FF2B5EF4-FFF2-40B4-BE49-F238E27FC236}">
                <a16:creationId xmlns:a16="http://schemas.microsoft.com/office/drawing/2014/main" id="{BBDFCEF5-ECE6-8841-FEAA-0AC80BB750FF}"/>
              </a:ext>
            </a:extLst>
          </p:cNvPr>
          <p:cNvSpPr txBox="1"/>
          <p:nvPr/>
        </p:nvSpPr>
        <p:spPr>
          <a:xfrm>
            <a:off x="7024255" y="3282235"/>
            <a:ext cx="4391010" cy="369332"/>
          </a:xfrm>
          <a:prstGeom prst="rect">
            <a:avLst/>
          </a:prstGeom>
          <a:noFill/>
        </p:spPr>
        <p:txBody>
          <a:bodyPr wrap="none" rtlCol="0">
            <a:spAutoFit/>
          </a:bodyPr>
          <a:lstStyle/>
          <a:p>
            <a:r>
              <a:rPr lang="en-US" b="1" dirty="0"/>
              <a:t>reduce the cost per call of </a:t>
            </a:r>
            <a:r>
              <a:rPr lang="en-US" dirty="0" err="1"/>
              <a:t>get_damper</a:t>
            </a:r>
            <a:r>
              <a:rPr lang="en-US" dirty="0"/>
              <a:t>.</a:t>
            </a:r>
          </a:p>
        </p:txBody>
      </p:sp>
    </p:spTree>
    <p:extLst>
      <p:ext uri="{BB962C8B-B14F-4D97-AF65-F5344CB8AC3E}">
        <p14:creationId xmlns:p14="http://schemas.microsoft.com/office/powerpoint/2010/main" val="101433932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47684416-E608-262C-5F0F-1838F3331145}"/>
            </a:ext>
          </a:extLst>
        </p:cNvPr>
        <p:cNvGrpSpPr/>
        <p:nvPr/>
      </p:nvGrpSpPr>
      <p:grpSpPr>
        <a:xfrm>
          <a:off x="0" y="0"/>
          <a:ext cx="0" cy="0"/>
          <a:chOff x="0" y="0"/>
          <a:chExt cx="0" cy="0"/>
        </a:xfrm>
      </p:grpSpPr>
      <p:sp>
        <p:nvSpPr>
          <p:cNvPr id="164" name="Google Shape;164;p28">
            <a:extLst>
              <a:ext uri="{FF2B5EF4-FFF2-40B4-BE49-F238E27FC236}">
                <a16:creationId xmlns:a16="http://schemas.microsoft.com/office/drawing/2014/main" id="{384041E8-4526-67D8-32D4-B06C5241F9AA}"/>
              </a:ext>
            </a:extLst>
          </p:cNvPr>
          <p:cNvSpPr txBox="1"/>
          <p:nvPr/>
        </p:nvSpPr>
        <p:spPr>
          <a:xfrm>
            <a:off x="609600" y="1051601"/>
            <a:ext cx="10972800" cy="4637126"/>
          </a:xfrm>
          <a:prstGeom prst="rect">
            <a:avLst/>
          </a:prstGeom>
          <a:noFill/>
          <a:ln>
            <a:noFill/>
          </a:ln>
        </p:spPr>
        <p:txBody>
          <a:bodyPr spcFirstLastPara="1" wrap="square" lIns="121900" tIns="121900" rIns="121900" bIns="121900" anchor="t" anchorCtr="0">
            <a:spAutoFit/>
          </a:bodyPr>
          <a:lstStyle/>
          <a:p>
            <a:pPr marL="609585" indent="-465655" defTabSz="1219170">
              <a:lnSpc>
                <a:spcPct val="150000"/>
              </a:lnSpc>
              <a:spcAft>
                <a:spcPts val="800"/>
              </a:spcAft>
              <a:buClr>
                <a:srgbClr val="434343"/>
              </a:buClr>
              <a:buSzPct val="100000"/>
              <a:buFont typeface="+mj-lt"/>
              <a:buAutoNum type="arabicPeriod"/>
            </a:pPr>
            <a:r>
              <a:rPr lang="en-US" sz="2400" u="sng" kern="0" dirty="0">
                <a:solidFill>
                  <a:schemeClr val="tx2">
                    <a:lumMod val="10000"/>
                  </a:schemeClr>
                </a:solidFill>
                <a:latin typeface="Lato"/>
                <a:ea typeface="Lato"/>
                <a:cs typeface="Lato"/>
                <a:sym typeface="Lato"/>
              </a:rPr>
              <a:t>Profiler:</a:t>
            </a:r>
            <a:r>
              <a:rPr lang="en-US" sz="2400" kern="0" dirty="0">
                <a:solidFill>
                  <a:schemeClr val="tx2">
                    <a:lumMod val="10000"/>
                  </a:schemeClr>
                </a:solidFill>
                <a:latin typeface="Lato"/>
                <a:ea typeface="Lato"/>
                <a:cs typeface="Lato"/>
                <a:sym typeface="Lato"/>
              </a:rPr>
              <a:t> Identify bottlenecks (</a:t>
            </a:r>
            <a:r>
              <a:rPr lang="en-US" sz="2400" kern="0" dirty="0" err="1">
                <a:solidFill>
                  <a:srgbClr val="00B050"/>
                </a:solidFill>
                <a:latin typeface="Lato"/>
                <a:ea typeface="Lato"/>
                <a:cs typeface="Lato"/>
                <a:sym typeface="Lato"/>
              </a:rPr>
              <a:t>get_damper</a:t>
            </a:r>
            <a:r>
              <a:rPr lang="en-US" sz="2400" kern="0" dirty="0">
                <a:solidFill>
                  <a:schemeClr val="tx2">
                    <a:lumMod val="10000"/>
                  </a:schemeClr>
                </a:solidFill>
                <a:latin typeface="Lato"/>
                <a:ea typeface="Lato"/>
                <a:cs typeface="Lato"/>
                <a:sym typeface="Lato"/>
              </a:rPr>
              <a:t>, </a:t>
            </a:r>
            <a:r>
              <a:rPr lang="en-US" sz="2400" kern="0" dirty="0">
                <a:solidFill>
                  <a:srgbClr val="00B050"/>
                </a:solidFill>
                <a:latin typeface="Lato"/>
                <a:ea typeface="Lato"/>
                <a:cs typeface="Lato"/>
                <a:sym typeface="Lato"/>
              </a:rPr>
              <a:t>mech_matrix_build_2D</a:t>
            </a:r>
            <a:r>
              <a:rPr lang="en-US" sz="2400" kern="0" dirty="0">
                <a:solidFill>
                  <a:schemeClr val="tx2">
                    <a:lumMod val="10000"/>
                  </a:schemeClr>
                </a:solidFill>
                <a:latin typeface="Lato"/>
                <a:ea typeface="Lato"/>
                <a:cs typeface="Lato"/>
                <a:sym typeface="Lato"/>
              </a:rPr>
              <a:t>)</a:t>
            </a:r>
          </a:p>
          <a:p>
            <a:pPr marL="609585" indent="-465655" defTabSz="1219170">
              <a:lnSpc>
                <a:spcPct val="150000"/>
              </a:lnSpc>
              <a:spcAft>
                <a:spcPts val="800"/>
              </a:spcAft>
              <a:buClr>
                <a:srgbClr val="434343"/>
              </a:buClr>
              <a:buSzPct val="100000"/>
              <a:buFont typeface="+mj-lt"/>
              <a:buAutoNum type="arabicPeriod"/>
            </a:pPr>
            <a:r>
              <a:rPr lang="en-US" sz="2400" u="sng" kern="0" dirty="0">
                <a:solidFill>
                  <a:schemeClr val="tx2">
                    <a:lumMod val="10000"/>
                  </a:schemeClr>
                </a:solidFill>
                <a:latin typeface="Lato"/>
                <a:ea typeface="Lato"/>
                <a:cs typeface="Lato"/>
                <a:sym typeface="Lato"/>
              </a:rPr>
              <a:t>Optimization method 1:</a:t>
            </a:r>
            <a:r>
              <a:rPr lang="en-US" sz="2400" kern="0" dirty="0">
                <a:solidFill>
                  <a:schemeClr val="tx2">
                    <a:lumMod val="10000"/>
                  </a:schemeClr>
                </a:solidFill>
                <a:latin typeface="Lato"/>
                <a:ea typeface="Lato"/>
                <a:cs typeface="Lato"/>
                <a:sym typeface="Lato"/>
              </a:rPr>
              <a:t> Reduce number of calls if possible</a:t>
            </a:r>
          </a:p>
          <a:p>
            <a:pPr marL="1066785" lvl="1" indent="-465655" defTabSz="1219170">
              <a:lnSpc>
                <a:spcPct val="150000"/>
              </a:lnSpc>
              <a:spcAft>
                <a:spcPts val="800"/>
              </a:spcAft>
              <a:buClr>
                <a:srgbClr val="434343"/>
              </a:buClr>
              <a:buSzPct val="100000"/>
              <a:buFont typeface="+mj-lt"/>
              <a:buAutoNum type="arabicPeriod"/>
            </a:pPr>
            <a:r>
              <a:rPr lang="en-US" sz="2400" kern="0" dirty="0">
                <a:solidFill>
                  <a:schemeClr val="tx2">
                    <a:lumMod val="10000"/>
                  </a:schemeClr>
                </a:solidFill>
                <a:latin typeface="Lato"/>
                <a:ea typeface="Lato"/>
                <a:cs typeface="Lato"/>
                <a:sym typeface="Lato"/>
              </a:rPr>
              <a:t>Only build the mechanical matrix once  </a:t>
            </a:r>
          </a:p>
          <a:p>
            <a:pPr marL="1066785" lvl="1" indent="-465655" defTabSz="1219170">
              <a:lnSpc>
                <a:spcPct val="150000"/>
              </a:lnSpc>
              <a:spcAft>
                <a:spcPts val="800"/>
              </a:spcAft>
              <a:buClr>
                <a:srgbClr val="434343"/>
              </a:buClr>
              <a:buSzPct val="100000"/>
              <a:buFont typeface="+mj-lt"/>
              <a:buAutoNum type="arabicPeriod"/>
            </a:pPr>
            <a:r>
              <a:rPr lang="en-US" sz="2400" kern="0" dirty="0">
                <a:solidFill>
                  <a:schemeClr val="tx2">
                    <a:lumMod val="10000"/>
                  </a:schemeClr>
                </a:solidFill>
                <a:latin typeface="Lato"/>
                <a:ea typeface="Lato"/>
                <a:cs typeface="Lato"/>
                <a:sym typeface="Lato"/>
              </a:rPr>
              <a:t>Subsampling (stride logic) – choose stride of 4 (beyond that, error grows quickly)</a:t>
            </a:r>
          </a:p>
          <a:p>
            <a:pPr marL="609585" indent="-465655" defTabSz="1219170">
              <a:lnSpc>
                <a:spcPct val="150000"/>
              </a:lnSpc>
              <a:spcAft>
                <a:spcPts val="800"/>
              </a:spcAft>
              <a:buClr>
                <a:srgbClr val="434343"/>
              </a:buClr>
              <a:buSzPct val="100000"/>
              <a:buFont typeface="+mj-lt"/>
              <a:buAutoNum type="arabicPeriod"/>
            </a:pPr>
            <a:r>
              <a:rPr lang="en-US" sz="2400" u="sng" kern="0" dirty="0">
                <a:solidFill>
                  <a:schemeClr val="tx2">
                    <a:lumMod val="10000"/>
                  </a:schemeClr>
                </a:solidFill>
                <a:latin typeface="Lato"/>
                <a:ea typeface="Lato"/>
                <a:cs typeface="Lato"/>
                <a:sym typeface="Lato"/>
              </a:rPr>
              <a:t>Optimization method 2:</a:t>
            </a:r>
            <a:r>
              <a:rPr lang="en-US" sz="2400" kern="0" dirty="0">
                <a:solidFill>
                  <a:schemeClr val="tx2">
                    <a:lumMod val="10000"/>
                  </a:schemeClr>
                </a:solidFill>
                <a:latin typeface="Lato"/>
                <a:ea typeface="Lato"/>
                <a:cs typeface="Lato"/>
                <a:sym typeface="Lato"/>
              </a:rPr>
              <a:t> Reduce </a:t>
            </a:r>
            <a:r>
              <a:rPr lang="en-US" sz="2400" b="1" kern="0" dirty="0">
                <a:solidFill>
                  <a:schemeClr val="tx2">
                    <a:lumMod val="10000"/>
                  </a:schemeClr>
                </a:solidFill>
                <a:latin typeface="Lato"/>
                <a:ea typeface="Lato"/>
                <a:cs typeface="Lato"/>
                <a:sym typeface="Lato"/>
              </a:rPr>
              <a:t>reduce the cost per call </a:t>
            </a:r>
            <a:r>
              <a:rPr lang="en-US" sz="2400" kern="0" dirty="0">
                <a:solidFill>
                  <a:schemeClr val="tx2">
                    <a:lumMod val="10000"/>
                  </a:schemeClr>
                </a:solidFill>
                <a:latin typeface="Lato"/>
                <a:ea typeface="Lato"/>
                <a:cs typeface="Lato"/>
                <a:sym typeface="Lato"/>
              </a:rPr>
              <a:t>of </a:t>
            </a:r>
            <a:r>
              <a:rPr lang="en-US" sz="2400" kern="0" dirty="0" err="1">
                <a:solidFill>
                  <a:srgbClr val="00B050"/>
                </a:solidFill>
                <a:latin typeface="Lato"/>
                <a:ea typeface="Lato"/>
                <a:cs typeface="Lato"/>
                <a:sym typeface="Lato"/>
              </a:rPr>
              <a:t>get_damper</a:t>
            </a:r>
            <a:r>
              <a:rPr lang="en-US" sz="2400" kern="0" dirty="0">
                <a:solidFill>
                  <a:srgbClr val="00B050"/>
                </a:solidFill>
                <a:latin typeface="Lato"/>
                <a:ea typeface="Lato"/>
                <a:cs typeface="Lato"/>
                <a:sym typeface="Lato"/>
              </a:rPr>
              <a:t> </a:t>
            </a:r>
            <a:r>
              <a:rPr lang="en-US" sz="2400" kern="0" dirty="0">
                <a:solidFill>
                  <a:schemeClr val="tx2">
                    <a:lumMod val="10000"/>
                  </a:schemeClr>
                </a:solidFill>
                <a:latin typeface="Lato"/>
                <a:ea typeface="Lato"/>
                <a:cs typeface="Lato"/>
                <a:sym typeface="Lato"/>
              </a:rPr>
              <a:t>(vectorization, batching, or parallelization).</a:t>
            </a:r>
          </a:p>
        </p:txBody>
      </p:sp>
      <p:sp>
        <p:nvSpPr>
          <p:cNvPr id="4" name="Google Shape;157;p27">
            <a:extLst>
              <a:ext uri="{FF2B5EF4-FFF2-40B4-BE49-F238E27FC236}">
                <a16:creationId xmlns:a16="http://schemas.microsoft.com/office/drawing/2014/main" id="{DFF2295D-32DE-51C1-E6B6-875D369F6756}"/>
              </a:ext>
            </a:extLst>
          </p:cNvPr>
          <p:cNvSpPr txBox="1">
            <a:spLocks/>
          </p:cNvSpPr>
          <p:nvPr/>
        </p:nvSpPr>
        <p:spPr>
          <a:xfrm>
            <a:off x="0" y="0"/>
            <a:ext cx="12192000" cy="1051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chemeClr val="accent6"/>
              </a:buClr>
              <a:buSzPts val="2400"/>
              <a:buFont typeface="Lato"/>
              <a:buChar char="▷"/>
              <a:defRPr sz="2400" b="0" i="0" u="none" strike="noStrike" cap="none">
                <a:solidFill>
                  <a:schemeClr val="dk1"/>
                </a:solidFill>
                <a:latin typeface="Lato"/>
                <a:ea typeface="Lato"/>
                <a:cs typeface="Lato"/>
                <a:sym typeface="Lato"/>
              </a:defRPr>
            </a:lvl1pPr>
            <a:lvl2pPr marL="914400" marR="0" lvl="1"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2pPr>
            <a:lvl3pPr marL="1371600" marR="0" lvl="2"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3pPr>
            <a:lvl4pPr marL="1828800" marR="0" lvl="3"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4pPr>
            <a:lvl5pPr marL="2286000" marR="0" lvl="4"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5pPr>
            <a:lvl6pPr marL="2743200" marR="0" lvl="5"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6pPr>
            <a:lvl7pPr marL="3200400" marR="0" lvl="6"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7pPr>
            <a:lvl8pPr marL="3657600" marR="0" lvl="7"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8pPr>
            <a:lvl9pPr marL="4114800" marR="0" lvl="8"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9pPr>
          </a:lstStyle>
          <a:p>
            <a:pPr marL="0" indent="0" defTabSz="1219170">
              <a:spcBef>
                <a:spcPts val="0"/>
              </a:spcBef>
              <a:buClr>
                <a:srgbClr val="97ABBC"/>
              </a:buClr>
              <a:buNone/>
            </a:pPr>
            <a:r>
              <a:rPr lang="en-US" sz="5333" b="1" kern="0" dirty="0">
                <a:solidFill>
                  <a:srgbClr val="2185C5"/>
                </a:solidFill>
                <a:latin typeface="Raleway"/>
                <a:ea typeface="Raleway"/>
                <a:cs typeface="Raleway"/>
                <a:sym typeface="Raleway"/>
              </a:rPr>
              <a:t>Optimization techniques</a:t>
            </a:r>
            <a:endParaRPr lang="en-US" sz="3733" i="1" kern="0" dirty="0">
              <a:solidFill>
                <a:srgbClr val="2185C5"/>
              </a:solidFill>
              <a:latin typeface="Raleway"/>
              <a:ea typeface="Raleway"/>
              <a:cs typeface="Raleway"/>
              <a:sym typeface="Raleway"/>
            </a:endParaRPr>
          </a:p>
        </p:txBody>
      </p:sp>
    </p:spTree>
    <p:extLst>
      <p:ext uri="{BB962C8B-B14F-4D97-AF65-F5344CB8AC3E}">
        <p14:creationId xmlns:p14="http://schemas.microsoft.com/office/powerpoint/2010/main" val="105032372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56">
          <a:extLst>
            <a:ext uri="{FF2B5EF4-FFF2-40B4-BE49-F238E27FC236}">
              <a16:creationId xmlns:a16="http://schemas.microsoft.com/office/drawing/2014/main" id="{5087A882-6B5B-2DEF-F0C0-C04FBE024A16}"/>
            </a:ext>
          </a:extLst>
        </p:cNvPr>
        <p:cNvGrpSpPr/>
        <p:nvPr/>
      </p:nvGrpSpPr>
      <p:grpSpPr>
        <a:xfrm>
          <a:off x="0" y="0"/>
          <a:ext cx="0" cy="0"/>
          <a:chOff x="0" y="0"/>
          <a:chExt cx="0" cy="0"/>
        </a:xfrm>
      </p:grpSpPr>
      <p:sp>
        <p:nvSpPr>
          <p:cNvPr id="157" name="Google Shape;157;p27">
            <a:extLst>
              <a:ext uri="{FF2B5EF4-FFF2-40B4-BE49-F238E27FC236}">
                <a16:creationId xmlns:a16="http://schemas.microsoft.com/office/drawing/2014/main" id="{3CAC9707-5303-22EB-23C0-45599DCBABE5}"/>
              </a:ext>
            </a:extLst>
          </p:cNvPr>
          <p:cNvSpPr txBox="1">
            <a:spLocks noGrp="1"/>
          </p:cNvSpPr>
          <p:nvPr>
            <p:ph type="subTitle" idx="4294967295"/>
          </p:nvPr>
        </p:nvSpPr>
        <p:spPr>
          <a:xfrm>
            <a:off x="0" y="0"/>
            <a:ext cx="12192000" cy="1051600"/>
          </a:xfrm>
          <a:prstGeom prst="rect">
            <a:avLst/>
          </a:prstGeom>
        </p:spPr>
        <p:txBody>
          <a:bodyPr spcFirstLastPara="1" wrap="square" lIns="121900" tIns="121900" rIns="121900" bIns="121900" anchor="t" anchorCtr="0">
            <a:noAutofit/>
          </a:bodyPr>
          <a:lstStyle/>
          <a:p>
            <a:pPr marL="0" indent="0">
              <a:spcBef>
                <a:spcPts val="0"/>
              </a:spcBef>
              <a:buNone/>
            </a:pPr>
            <a:r>
              <a:rPr lang="en-US" sz="5333" b="1" dirty="0">
                <a:solidFill>
                  <a:schemeClr val="lt1"/>
                </a:solidFill>
                <a:latin typeface="Raleway"/>
                <a:ea typeface="Raleway"/>
                <a:cs typeface="Raleway"/>
                <a:sym typeface="Raleway"/>
              </a:rPr>
              <a:t>(</a:t>
            </a:r>
            <a:r>
              <a:rPr lang="en-US" sz="5333" b="1" dirty="0" err="1">
                <a:solidFill>
                  <a:schemeClr val="lt1"/>
                </a:solidFill>
                <a:latin typeface="Raleway"/>
                <a:ea typeface="Raleway"/>
                <a:cs typeface="Raleway"/>
                <a:sym typeface="Raleway"/>
              </a:rPr>
              <a:t>get_damper</a:t>
            </a:r>
            <a:r>
              <a:rPr lang="en-US" sz="5333" b="1" dirty="0">
                <a:solidFill>
                  <a:schemeClr val="lt1"/>
                </a:solidFill>
                <a:latin typeface="Raleway"/>
                <a:ea typeface="Raleway"/>
                <a:cs typeface="Raleway"/>
                <a:sym typeface="Raleway"/>
              </a:rPr>
              <a:t>) (3)</a:t>
            </a:r>
            <a:endParaRPr sz="3733" i="1" dirty="0">
              <a:solidFill>
                <a:schemeClr val="lt1"/>
              </a:solidFill>
              <a:latin typeface="Raleway"/>
              <a:ea typeface="Raleway"/>
              <a:cs typeface="Raleway"/>
              <a:sym typeface="Raleway"/>
            </a:endParaRPr>
          </a:p>
        </p:txBody>
      </p:sp>
      <p:sp>
        <p:nvSpPr>
          <p:cNvPr id="158" name="Google Shape;158;p27">
            <a:extLst>
              <a:ext uri="{FF2B5EF4-FFF2-40B4-BE49-F238E27FC236}">
                <a16:creationId xmlns:a16="http://schemas.microsoft.com/office/drawing/2014/main" id="{C8063DA1-C7DD-DBE9-D406-4235A41FF941}"/>
              </a:ext>
            </a:extLst>
          </p:cNvPr>
          <p:cNvSpPr txBox="1">
            <a:spLocks noGrp="1"/>
          </p:cNvSpPr>
          <p:nvPr>
            <p:ph type="body" idx="4294967295"/>
          </p:nvPr>
        </p:nvSpPr>
        <p:spPr>
          <a:xfrm>
            <a:off x="609600" y="892774"/>
            <a:ext cx="10533321" cy="5486400"/>
          </a:xfrm>
          <a:prstGeom prst="rect">
            <a:avLst/>
          </a:prstGeom>
        </p:spPr>
        <p:txBody>
          <a:bodyPr spcFirstLastPara="1" wrap="square" lIns="121900" tIns="121900" rIns="121900" bIns="121900" anchor="t" anchorCtr="0">
            <a:noAutofit/>
          </a:bodyPr>
          <a:lstStyle/>
          <a:p>
            <a:pPr>
              <a:buClr>
                <a:schemeClr val="bg1"/>
              </a:buClr>
            </a:pPr>
            <a:r>
              <a:rPr lang="en-US" dirty="0">
                <a:solidFill>
                  <a:schemeClr val="bg1"/>
                </a:solidFill>
              </a:rPr>
              <a:t>When you solve M \ </a:t>
            </a:r>
            <a:r>
              <a:rPr lang="en-US" dirty="0" err="1">
                <a:solidFill>
                  <a:schemeClr val="bg1"/>
                </a:solidFill>
              </a:rPr>
              <a:t>rhs</a:t>
            </a:r>
            <a:r>
              <a:rPr lang="en-US" dirty="0">
                <a:solidFill>
                  <a:schemeClr val="bg1"/>
                </a:solidFill>
              </a:rPr>
              <a:t> in MATLAB, it does two steps:</a:t>
            </a:r>
          </a:p>
          <a:p>
            <a:pPr marL="990600" lvl="1" indent="-457200">
              <a:buClr>
                <a:schemeClr val="bg1"/>
              </a:buClr>
              <a:buFont typeface="+mj-lt"/>
              <a:buAutoNum type="arabicPeriod"/>
            </a:pPr>
            <a:r>
              <a:rPr lang="en-US" dirty="0">
                <a:solidFill>
                  <a:schemeClr val="bg1"/>
                </a:solidFill>
              </a:rPr>
              <a:t>Factorize M (the heavy part: break the matrix into LU pieces).</a:t>
            </a:r>
          </a:p>
          <a:p>
            <a:pPr marL="990600" lvl="1" indent="-457200">
              <a:buClr>
                <a:schemeClr val="bg1"/>
              </a:buClr>
              <a:buFont typeface="+mj-lt"/>
              <a:buAutoNum type="arabicPeriod"/>
            </a:pPr>
            <a:r>
              <a:rPr lang="en-US" dirty="0">
                <a:solidFill>
                  <a:schemeClr val="bg1"/>
                </a:solidFill>
              </a:rPr>
              <a:t>Solve using those factors (the light part: forward/back substitution).</a:t>
            </a:r>
          </a:p>
          <a:p>
            <a:pPr>
              <a:buClr>
                <a:schemeClr val="bg1"/>
              </a:buClr>
            </a:pPr>
            <a:r>
              <a:rPr lang="en-US" dirty="0">
                <a:solidFill>
                  <a:schemeClr val="bg1"/>
                </a:solidFill>
              </a:rPr>
              <a:t>Where the cost is: The linear solve M \ (...) dominates. Every timestep, MATLAB is solving a big system from scratch.</a:t>
            </a:r>
          </a:p>
          <a:p>
            <a:pPr>
              <a:buClr>
                <a:schemeClr val="bg1"/>
              </a:buClr>
            </a:pPr>
            <a:r>
              <a:rPr lang="en-US" dirty="0">
                <a:solidFill>
                  <a:schemeClr val="bg1"/>
                </a:solidFill>
              </a:rPr>
              <a:t>MATLAB has to factorize the big matrix M (break it into pieces so it can solve the system). Factorization is expensive. Doing it hundreds of times is why </a:t>
            </a:r>
            <a:r>
              <a:rPr lang="en-US" dirty="0" err="1">
                <a:solidFill>
                  <a:schemeClr val="bg1"/>
                </a:solidFill>
              </a:rPr>
              <a:t>get_damper</a:t>
            </a:r>
            <a:r>
              <a:rPr lang="en-US" dirty="0">
                <a:solidFill>
                  <a:schemeClr val="bg1"/>
                </a:solidFill>
              </a:rPr>
              <a:t> eats so much time.</a:t>
            </a:r>
          </a:p>
          <a:p>
            <a:pPr>
              <a:buClr>
                <a:schemeClr val="bg1"/>
              </a:buClr>
            </a:pPr>
            <a:r>
              <a:rPr lang="en-US" dirty="0">
                <a:solidFill>
                  <a:schemeClr val="bg1"/>
                </a:solidFill>
              </a:rPr>
              <a:t>Right now, every call to </a:t>
            </a:r>
            <a:r>
              <a:rPr lang="en-US" dirty="0" err="1">
                <a:solidFill>
                  <a:schemeClr val="bg1"/>
                </a:solidFill>
              </a:rPr>
              <a:t>get_damper</a:t>
            </a:r>
            <a:r>
              <a:rPr lang="en-US" dirty="0">
                <a:solidFill>
                  <a:schemeClr val="bg1"/>
                </a:solidFill>
              </a:rPr>
              <a:t> repeats step 1 and step 2.</a:t>
            </a:r>
          </a:p>
          <a:p>
            <a:pPr>
              <a:buClr>
                <a:schemeClr val="bg1"/>
              </a:buClr>
            </a:pPr>
            <a:r>
              <a:rPr lang="en-US" dirty="0">
                <a:solidFill>
                  <a:schemeClr val="bg1"/>
                </a:solidFill>
              </a:rPr>
              <a:t>To optimize, let’s do step 1 once, store the LU factors, and reuse them for every timestep.</a:t>
            </a:r>
          </a:p>
          <a:p>
            <a:pPr>
              <a:buClr>
                <a:schemeClr val="bg1"/>
              </a:buClr>
            </a:pPr>
            <a:endParaRPr lang="en-US" dirty="0">
              <a:solidFill>
                <a:schemeClr val="bg1"/>
              </a:solidFill>
            </a:endParaRPr>
          </a:p>
          <a:p>
            <a:pPr>
              <a:buClr>
                <a:schemeClr val="bg1"/>
              </a:buClr>
            </a:pPr>
            <a:endParaRPr lang="en-US" dirty="0">
              <a:solidFill>
                <a:schemeClr val="bg1"/>
              </a:solidFill>
            </a:endParaRPr>
          </a:p>
          <a:p>
            <a:pPr lvl="1">
              <a:buClr>
                <a:schemeClr val="bg1"/>
              </a:buClr>
            </a:pPr>
            <a:endParaRPr lang="en-US" dirty="0">
              <a:solidFill>
                <a:schemeClr val="bg1"/>
              </a:solidFill>
            </a:endParaRPr>
          </a:p>
          <a:p>
            <a:pPr lvl="1">
              <a:buClr>
                <a:schemeClr val="bg1"/>
              </a:buClr>
            </a:pPr>
            <a:endParaRPr lang="en-US" dirty="0">
              <a:solidFill>
                <a:schemeClr val="bg1"/>
              </a:solidFill>
            </a:endParaRPr>
          </a:p>
        </p:txBody>
      </p:sp>
      <p:sp>
        <p:nvSpPr>
          <p:cNvPr id="3" name="TextBox 2">
            <a:extLst>
              <a:ext uri="{FF2B5EF4-FFF2-40B4-BE49-F238E27FC236}">
                <a16:creationId xmlns:a16="http://schemas.microsoft.com/office/drawing/2014/main" id="{E32D535D-E37A-3A3E-F5CC-6A5D2F467B24}"/>
              </a:ext>
            </a:extLst>
          </p:cNvPr>
          <p:cNvSpPr txBox="1"/>
          <p:nvPr/>
        </p:nvSpPr>
        <p:spPr>
          <a:xfrm>
            <a:off x="8094518" y="278771"/>
            <a:ext cx="4485409" cy="400110"/>
          </a:xfrm>
          <a:prstGeom prst="rect">
            <a:avLst/>
          </a:prstGeom>
          <a:noFill/>
        </p:spPr>
        <p:txBody>
          <a:bodyPr wrap="square">
            <a:spAutoFit/>
          </a:bodyPr>
          <a:lstStyle/>
          <a:p>
            <a:r>
              <a:rPr lang="en-US" sz="2000" b="0" i="0" dirty="0" err="1">
                <a:solidFill>
                  <a:srgbClr val="92D050"/>
                </a:solidFill>
                <a:effectLst/>
                <a:latin typeface="Menlo" panose="020B0609030804020204" pitchFamily="49" charset="0"/>
              </a:rPr>
              <a:t>Uv</a:t>
            </a:r>
            <a:r>
              <a:rPr lang="en-US" sz="2000" b="0" i="0" dirty="0">
                <a:solidFill>
                  <a:srgbClr val="92D050"/>
                </a:solidFill>
                <a:effectLst/>
                <a:latin typeface="Menlo" panose="020B0609030804020204" pitchFamily="49" charset="0"/>
              </a:rPr>
              <a:t> = M\(lambda1*</a:t>
            </a:r>
            <a:r>
              <a:rPr lang="en-US" sz="2000" b="0" i="0" dirty="0" err="1">
                <a:solidFill>
                  <a:srgbClr val="92D050"/>
                </a:solidFill>
                <a:effectLst/>
                <a:latin typeface="Menlo" panose="020B0609030804020204" pitchFamily="49" charset="0"/>
              </a:rPr>
              <a:t>grad_N</a:t>
            </a:r>
            <a:r>
              <a:rPr lang="en-US" sz="2000" b="0" i="0" dirty="0">
                <a:solidFill>
                  <a:srgbClr val="92D050"/>
                </a:solidFill>
                <a:effectLst/>
                <a:latin typeface="Menlo" panose="020B0609030804020204" pitchFamily="49" charset="0"/>
              </a:rPr>
              <a:t>);</a:t>
            </a:r>
          </a:p>
        </p:txBody>
      </p:sp>
    </p:spTree>
    <p:extLst>
      <p:ext uri="{BB962C8B-B14F-4D97-AF65-F5344CB8AC3E}">
        <p14:creationId xmlns:p14="http://schemas.microsoft.com/office/powerpoint/2010/main" val="153911648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56">
          <a:extLst>
            <a:ext uri="{FF2B5EF4-FFF2-40B4-BE49-F238E27FC236}">
              <a16:creationId xmlns:a16="http://schemas.microsoft.com/office/drawing/2014/main" id="{FFE40CAD-8438-2388-692B-1968526ABC0B}"/>
            </a:ext>
          </a:extLst>
        </p:cNvPr>
        <p:cNvGrpSpPr/>
        <p:nvPr/>
      </p:nvGrpSpPr>
      <p:grpSpPr>
        <a:xfrm>
          <a:off x="0" y="0"/>
          <a:ext cx="0" cy="0"/>
          <a:chOff x="0" y="0"/>
          <a:chExt cx="0" cy="0"/>
        </a:xfrm>
      </p:grpSpPr>
      <p:sp>
        <p:nvSpPr>
          <p:cNvPr id="157" name="Google Shape;157;p27">
            <a:extLst>
              <a:ext uri="{FF2B5EF4-FFF2-40B4-BE49-F238E27FC236}">
                <a16:creationId xmlns:a16="http://schemas.microsoft.com/office/drawing/2014/main" id="{9E3FD78C-D393-39A6-816B-5AC579AA8642}"/>
              </a:ext>
            </a:extLst>
          </p:cNvPr>
          <p:cNvSpPr txBox="1">
            <a:spLocks noGrp="1"/>
          </p:cNvSpPr>
          <p:nvPr>
            <p:ph type="subTitle" idx="4294967295"/>
          </p:nvPr>
        </p:nvSpPr>
        <p:spPr>
          <a:xfrm>
            <a:off x="0" y="0"/>
            <a:ext cx="12192000" cy="1051600"/>
          </a:xfrm>
          <a:prstGeom prst="rect">
            <a:avLst/>
          </a:prstGeom>
        </p:spPr>
        <p:txBody>
          <a:bodyPr spcFirstLastPara="1" wrap="square" lIns="121900" tIns="121900" rIns="121900" bIns="121900" anchor="t" anchorCtr="0">
            <a:noAutofit/>
          </a:bodyPr>
          <a:lstStyle/>
          <a:p>
            <a:pPr marL="0" indent="0">
              <a:spcBef>
                <a:spcPts val="0"/>
              </a:spcBef>
              <a:buNone/>
            </a:pPr>
            <a:r>
              <a:rPr lang="en-US" sz="5333" b="1" dirty="0">
                <a:solidFill>
                  <a:schemeClr val="lt1"/>
                </a:solidFill>
                <a:latin typeface="Raleway"/>
                <a:ea typeface="Raleway"/>
                <a:cs typeface="Raleway"/>
                <a:sym typeface="Raleway"/>
              </a:rPr>
              <a:t>(</a:t>
            </a:r>
            <a:r>
              <a:rPr lang="en-US" sz="5333" b="1" dirty="0" err="1">
                <a:solidFill>
                  <a:schemeClr val="lt1"/>
                </a:solidFill>
                <a:latin typeface="Raleway"/>
                <a:ea typeface="Raleway"/>
                <a:cs typeface="Raleway"/>
                <a:sym typeface="Raleway"/>
              </a:rPr>
              <a:t>get_damper</a:t>
            </a:r>
            <a:r>
              <a:rPr lang="en-US" sz="5333" b="1" dirty="0">
                <a:solidFill>
                  <a:schemeClr val="lt1"/>
                </a:solidFill>
                <a:latin typeface="Raleway"/>
                <a:ea typeface="Raleway"/>
                <a:cs typeface="Raleway"/>
                <a:sym typeface="Raleway"/>
              </a:rPr>
              <a:t>) (3)</a:t>
            </a:r>
            <a:endParaRPr sz="3733" i="1" dirty="0">
              <a:solidFill>
                <a:schemeClr val="lt1"/>
              </a:solidFill>
              <a:latin typeface="Raleway"/>
              <a:ea typeface="Raleway"/>
              <a:cs typeface="Raleway"/>
              <a:sym typeface="Raleway"/>
            </a:endParaRPr>
          </a:p>
        </p:txBody>
      </p:sp>
      <p:sp>
        <p:nvSpPr>
          <p:cNvPr id="158" name="Google Shape;158;p27">
            <a:extLst>
              <a:ext uri="{FF2B5EF4-FFF2-40B4-BE49-F238E27FC236}">
                <a16:creationId xmlns:a16="http://schemas.microsoft.com/office/drawing/2014/main" id="{388CD0DD-C2CF-4E05-0A4B-B335D9FDC435}"/>
              </a:ext>
            </a:extLst>
          </p:cNvPr>
          <p:cNvSpPr txBox="1">
            <a:spLocks noGrp="1"/>
          </p:cNvSpPr>
          <p:nvPr>
            <p:ph type="body" idx="4294967295"/>
          </p:nvPr>
        </p:nvSpPr>
        <p:spPr>
          <a:xfrm>
            <a:off x="609600" y="892774"/>
            <a:ext cx="10533321" cy="5486400"/>
          </a:xfrm>
          <a:prstGeom prst="rect">
            <a:avLst/>
          </a:prstGeom>
        </p:spPr>
        <p:txBody>
          <a:bodyPr spcFirstLastPara="1" wrap="square" lIns="121900" tIns="121900" rIns="121900" bIns="121900" anchor="t" anchorCtr="0">
            <a:noAutofit/>
          </a:bodyPr>
          <a:lstStyle/>
          <a:p>
            <a:pPr>
              <a:buClr>
                <a:schemeClr val="bg1"/>
              </a:buClr>
            </a:pPr>
            <a:r>
              <a:rPr lang="en-US" dirty="0">
                <a:solidFill>
                  <a:schemeClr val="bg1"/>
                </a:solidFill>
              </a:rPr>
              <a:t>Section 1 (original </a:t>
            </a:r>
            <a:r>
              <a:rPr lang="en-US" dirty="0" err="1">
                <a:solidFill>
                  <a:schemeClr val="bg1"/>
                </a:solidFill>
              </a:rPr>
              <a:t>get_damper</a:t>
            </a:r>
            <a:r>
              <a:rPr lang="en-US" dirty="0">
                <a:solidFill>
                  <a:schemeClr val="bg1"/>
                </a:solidFill>
              </a:rPr>
              <a:t>, stride=4) runtime: 0.000181 s</a:t>
            </a:r>
          </a:p>
          <a:p>
            <a:pPr>
              <a:buClr>
                <a:schemeClr val="bg1"/>
              </a:buClr>
            </a:pPr>
            <a:r>
              <a:rPr lang="en-US" dirty="0">
                <a:solidFill>
                  <a:schemeClr val="bg1"/>
                </a:solidFill>
              </a:rPr>
              <a:t>Section 2 (cached LU </a:t>
            </a:r>
            <a:r>
              <a:rPr lang="en-US" dirty="0" err="1">
                <a:solidFill>
                  <a:schemeClr val="bg1"/>
                </a:solidFill>
              </a:rPr>
              <a:t>get_damper</a:t>
            </a:r>
            <a:r>
              <a:rPr lang="en-US" dirty="0">
                <a:solidFill>
                  <a:schemeClr val="bg1"/>
                </a:solidFill>
              </a:rPr>
              <a:t>, stride=4) runtime: 0.000063 s</a:t>
            </a:r>
          </a:p>
          <a:p>
            <a:pPr>
              <a:buClr>
                <a:schemeClr val="bg1"/>
              </a:buClr>
            </a:pPr>
            <a:r>
              <a:rPr lang="en-US" dirty="0">
                <a:solidFill>
                  <a:schemeClr val="bg1"/>
                </a:solidFill>
              </a:rPr>
              <a:t>Speedup factor: 2.86</a:t>
            </a:r>
          </a:p>
        </p:txBody>
      </p:sp>
      <p:sp>
        <p:nvSpPr>
          <p:cNvPr id="3" name="TextBox 2">
            <a:extLst>
              <a:ext uri="{FF2B5EF4-FFF2-40B4-BE49-F238E27FC236}">
                <a16:creationId xmlns:a16="http://schemas.microsoft.com/office/drawing/2014/main" id="{66FC83A3-CC5B-FF98-4D0F-41D0B0C2BB5C}"/>
              </a:ext>
            </a:extLst>
          </p:cNvPr>
          <p:cNvSpPr txBox="1"/>
          <p:nvPr/>
        </p:nvSpPr>
        <p:spPr>
          <a:xfrm>
            <a:off x="8094518" y="278771"/>
            <a:ext cx="4485409" cy="400110"/>
          </a:xfrm>
          <a:prstGeom prst="rect">
            <a:avLst/>
          </a:prstGeom>
          <a:noFill/>
        </p:spPr>
        <p:txBody>
          <a:bodyPr wrap="square">
            <a:spAutoFit/>
          </a:bodyPr>
          <a:lstStyle/>
          <a:p>
            <a:r>
              <a:rPr lang="en-US" sz="2000" b="0" i="0" dirty="0" err="1">
                <a:solidFill>
                  <a:srgbClr val="92D050"/>
                </a:solidFill>
                <a:effectLst/>
                <a:latin typeface="Menlo" panose="020B0609030804020204" pitchFamily="49" charset="0"/>
              </a:rPr>
              <a:t>Uv</a:t>
            </a:r>
            <a:r>
              <a:rPr lang="en-US" sz="2000" b="0" i="0" dirty="0">
                <a:solidFill>
                  <a:srgbClr val="92D050"/>
                </a:solidFill>
                <a:effectLst/>
                <a:latin typeface="Menlo" panose="020B0609030804020204" pitchFamily="49" charset="0"/>
              </a:rPr>
              <a:t> = M\(lambda1*</a:t>
            </a:r>
            <a:r>
              <a:rPr lang="en-US" sz="2000" b="0" i="0" dirty="0" err="1">
                <a:solidFill>
                  <a:srgbClr val="92D050"/>
                </a:solidFill>
                <a:effectLst/>
                <a:latin typeface="Menlo" panose="020B0609030804020204" pitchFamily="49" charset="0"/>
              </a:rPr>
              <a:t>grad_N</a:t>
            </a:r>
            <a:r>
              <a:rPr lang="en-US" sz="2000" b="0" i="0" dirty="0">
                <a:solidFill>
                  <a:srgbClr val="92D050"/>
                </a:solidFill>
                <a:effectLst/>
                <a:latin typeface="Menlo" panose="020B0609030804020204" pitchFamily="49" charset="0"/>
              </a:rPr>
              <a:t>);</a:t>
            </a:r>
          </a:p>
        </p:txBody>
      </p:sp>
      <p:graphicFrame>
        <p:nvGraphicFramePr>
          <p:cNvPr id="5" name="Table 4">
            <a:extLst>
              <a:ext uri="{FF2B5EF4-FFF2-40B4-BE49-F238E27FC236}">
                <a16:creationId xmlns:a16="http://schemas.microsoft.com/office/drawing/2014/main" id="{D80FFF9F-13DD-33DF-C465-FF745AB0F604}"/>
              </a:ext>
            </a:extLst>
          </p:cNvPr>
          <p:cNvGraphicFramePr>
            <a:graphicFrameLocks noGrp="1"/>
          </p:cNvGraphicFramePr>
          <p:nvPr>
            <p:extLst>
              <p:ext uri="{D42A27DB-BD31-4B8C-83A1-F6EECF244321}">
                <p14:modId xmlns:p14="http://schemas.microsoft.com/office/powerpoint/2010/main" val="835131660"/>
              </p:ext>
            </p:extLst>
          </p:nvPr>
        </p:nvGraphicFramePr>
        <p:xfrm>
          <a:off x="886691" y="3074939"/>
          <a:ext cx="10256232" cy="2286000"/>
        </p:xfrm>
        <a:graphic>
          <a:graphicData uri="http://schemas.openxmlformats.org/drawingml/2006/table">
            <a:tbl>
              <a:tblPr firstRow="1" bandRow="1">
                <a:tableStyleId>{5C22544A-7EE6-4342-B048-85BDC9FD1C3A}</a:tableStyleId>
              </a:tblPr>
              <a:tblGrid>
                <a:gridCol w="2564058">
                  <a:extLst>
                    <a:ext uri="{9D8B030D-6E8A-4147-A177-3AD203B41FA5}">
                      <a16:colId xmlns:a16="http://schemas.microsoft.com/office/drawing/2014/main" val="4169085564"/>
                    </a:ext>
                  </a:extLst>
                </a:gridCol>
                <a:gridCol w="2564058">
                  <a:extLst>
                    <a:ext uri="{9D8B030D-6E8A-4147-A177-3AD203B41FA5}">
                      <a16:colId xmlns:a16="http://schemas.microsoft.com/office/drawing/2014/main" val="3168342762"/>
                    </a:ext>
                  </a:extLst>
                </a:gridCol>
                <a:gridCol w="2564058">
                  <a:extLst>
                    <a:ext uri="{9D8B030D-6E8A-4147-A177-3AD203B41FA5}">
                      <a16:colId xmlns:a16="http://schemas.microsoft.com/office/drawing/2014/main" val="935280108"/>
                    </a:ext>
                  </a:extLst>
                </a:gridCol>
                <a:gridCol w="2564058">
                  <a:extLst>
                    <a:ext uri="{9D8B030D-6E8A-4147-A177-3AD203B41FA5}">
                      <a16:colId xmlns:a16="http://schemas.microsoft.com/office/drawing/2014/main" val="3019292082"/>
                    </a:ext>
                  </a:extLst>
                </a:gridCol>
              </a:tblGrid>
              <a:tr h="38279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latin typeface="Lato" panose="020F0502020204030203" pitchFamily="34" charset="0"/>
                          <a:ea typeface="Lato" panose="020F0502020204030203" pitchFamily="34" charset="0"/>
                          <a:cs typeface="Lato" panose="020F0502020204030203" pitchFamily="34" charset="0"/>
                        </a:rPr>
                        <a:t>Method</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latin typeface="Lato" panose="020F0502020204030203" pitchFamily="34" charset="0"/>
                          <a:ea typeface="Lato" panose="020F0502020204030203" pitchFamily="34" charset="0"/>
                          <a:cs typeface="Lato" panose="020F0502020204030203" pitchFamily="34" charset="0"/>
                        </a:rPr>
                        <a:t>Runtime (s)</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latin typeface="Lato" panose="020F0502020204030203" pitchFamily="34" charset="0"/>
                          <a:ea typeface="Lato" panose="020F0502020204030203" pitchFamily="34" charset="0"/>
                          <a:cs typeface="Lato" panose="020F0502020204030203" pitchFamily="34" charset="0"/>
                        </a:rPr>
                        <a:t>Speedup</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latin typeface="Lato" panose="020F0502020204030203" pitchFamily="34" charset="0"/>
                          <a:ea typeface="Lato" panose="020F0502020204030203" pitchFamily="34" charset="0"/>
                          <a:cs typeface="Lato" panose="020F0502020204030203" pitchFamily="34" charset="0"/>
                        </a:rPr>
                        <a:t>VM Error (%)</a:t>
                      </a:r>
                    </a:p>
                  </a:txBody>
                  <a:tcPr/>
                </a:tc>
                <a:extLst>
                  <a:ext uri="{0D108BD9-81ED-4DB2-BD59-A6C34878D82A}">
                    <a16:rowId xmlns:a16="http://schemas.microsoft.com/office/drawing/2014/main" val="387442658"/>
                  </a:ext>
                </a:extLst>
              </a:tr>
              <a:tr h="38279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FOM full (stride=1)</a:t>
                      </a:r>
                    </a:p>
                  </a:txBody>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324.000</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1×</a:t>
                      </a:r>
                    </a:p>
                  </a:txBody>
                  <a:tcPr/>
                </a:tc>
                <a:tc>
                  <a:txBody>
                    <a:bodyPr/>
                    <a:lstStyle/>
                    <a:p>
                      <a:pPr algn="ctr"/>
                      <a:r>
                        <a:rPr lang="en-US" sz="200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0</a:t>
                      </a:r>
                    </a:p>
                  </a:txBody>
                  <a:tcPr/>
                </a:tc>
                <a:extLst>
                  <a:ext uri="{0D108BD9-81ED-4DB2-BD59-A6C34878D82A}">
                    <a16:rowId xmlns:a16="http://schemas.microsoft.com/office/drawing/2014/main" val="2426267710"/>
                  </a:ext>
                </a:extLst>
              </a:tr>
              <a:tr h="38279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FOM (stride=4)</a:t>
                      </a:r>
                    </a:p>
                  </a:txBody>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0.114</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2850×</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4.5</a:t>
                      </a:r>
                    </a:p>
                  </a:txBody>
                  <a:tcPr/>
                </a:tc>
                <a:extLst>
                  <a:ext uri="{0D108BD9-81ED-4DB2-BD59-A6C34878D82A}">
                    <a16:rowId xmlns:a16="http://schemas.microsoft.com/office/drawing/2014/main" val="431925841"/>
                  </a:ext>
                </a:extLst>
              </a:tr>
              <a:tr h="672484">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FOM </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(stride=4 + LU once)</a:t>
                      </a:r>
                    </a:p>
                  </a:txBody>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0.040</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8100×</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4.5</a:t>
                      </a:r>
                    </a:p>
                  </a:txBody>
                  <a:tcPr/>
                </a:tc>
                <a:extLst>
                  <a:ext uri="{0D108BD9-81ED-4DB2-BD59-A6C34878D82A}">
                    <a16:rowId xmlns:a16="http://schemas.microsoft.com/office/drawing/2014/main" val="613647436"/>
                  </a:ext>
                </a:extLst>
              </a:tr>
              <a:tr h="38279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ROM baseline</a:t>
                      </a:r>
                    </a:p>
                  </a:txBody>
                  <a:tcPr/>
                </a:tc>
                <a:tc>
                  <a:txBody>
                    <a:bodyPr/>
                    <a:lstStyle/>
                    <a:p>
                      <a:pPr algn="ctr"/>
                      <a:r>
                        <a:rPr lang="en-US" sz="200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0.774</a:t>
                      </a:r>
                      <a:endParaRPr lang="en-US" sz="200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418×</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1.3</a:t>
                      </a:r>
                    </a:p>
                  </a:txBody>
                  <a:tcPr/>
                </a:tc>
                <a:extLst>
                  <a:ext uri="{0D108BD9-81ED-4DB2-BD59-A6C34878D82A}">
                    <a16:rowId xmlns:a16="http://schemas.microsoft.com/office/drawing/2014/main" val="4189995435"/>
                  </a:ext>
                </a:extLst>
              </a:tr>
            </a:tbl>
          </a:graphicData>
        </a:graphic>
      </p:graphicFrame>
    </p:spTree>
    <p:extLst>
      <p:ext uri="{BB962C8B-B14F-4D97-AF65-F5344CB8AC3E}">
        <p14:creationId xmlns:p14="http://schemas.microsoft.com/office/powerpoint/2010/main" val="338134844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D560D031-B047-24E1-8124-5C1D6A2BAA1B}"/>
            </a:ext>
          </a:extLst>
        </p:cNvPr>
        <p:cNvGrpSpPr/>
        <p:nvPr/>
      </p:nvGrpSpPr>
      <p:grpSpPr>
        <a:xfrm>
          <a:off x="0" y="0"/>
          <a:ext cx="0" cy="0"/>
          <a:chOff x="0" y="0"/>
          <a:chExt cx="0" cy="0"/>
        </a:xfrm>
      </p:grpSpPr>
      <p:sp>
        <p:nvSpPr>
          <p:cNvPr id="164" name="Google Shape;164;p28">
            <a:extLst>
              <a:ext uri="{FF2B5EF4-FFF2-40B4-BE49-F238E27FC236}">
                <a16:creationId xmlns:a16="http://schemas.microsoft.com/office/drawing/2014/main" id="{90513C8B-9F8F-5ECF-C8A9-4C6A7F22DB15}"/>
              </a:ext>
            </a:extLst>
          </p:cNvPr>
          <p:cNvSpPr txBox="1"/>
          <p:nvPr/>
        </p:nvSpPr>
        <p:spPr>
          <a:xfrm>
            <a:off x="609600" y="1051601"/>
            <a:ext cx="10972800" cy="5088532"/>
          </a:xfrm>
          <a:prstGeom prst="rect">
            <a:avLst/>
          </a:prstGeom>
          <a:noFill/>
          <a:ln>
            <a:noFill/>
          </a:ln>
        </p:spPr>
        <p:txBody>
          <a:bodyPr spcFirstLastPara="1" wrap="square" lIns="121900" tIns="121900" rIns="121900" bIns="121900" anchor="t" anchorCtr="0">
            <a:spAutoFit/>
          </a:bodyPr>
          <a:lstStyle/>
          <a:p>
            <a:pPr marL="609585" indent="-465655" defTabSz="1219170">
              <a:lnSpc>
                <a:spcPct val="150000"/>
              </a:lnSpc>
              <a:spcAft>
                <a:spcPts val="800"/>
              </a:spcAft>
              <a:buClr>
                <a:srgbClr val="434343"/>
              </a:buClr>
              <a:buSzPct val="100000"/>
              <a:buFont typeface="+mj-lt"/>
              <a:buAutoNum type="arabicPeriod"/>
            </a:pPr>
            <a:r>
              <a:rPr lang="en-US" sz="2400" u="sng" kern="0" dirty="0">
                <a:solidFill>
                  <a:schemeClr val="tx2">
                    <a:lumMod val="10000"/>
                  </a:schemeClr>
                </a:solidFill>
                <a:latin typeface="Lato"/>
                <a:ea typeface="Lato"/>
                <a:cs typeface="Lato"/>
                <a:sym typeface="Lato"/>
              </a:rPr>
              <a:t>Profiler:</a:t>
            </a:r>
            <a:r>
              <a:rPr lang="en-US" sz="2400" kern="0" dirty="0">
                <a:solidFill>
                  <a:schemeClr val="tx2">
                    <a:lumMod val="10000"/>
                  </a:schemeClr>
                </a:solidFill>
                <a:latin typeface="Lato"/>
                <a:ea typeface="Lato"/>
                <a:cs typeface="Lato"/>
                <a:sym typeface="Lato"/>
              </a:rPr>
              <a:t> Identify bottlenecks (</a:t>
            </a:r>
            <a:r>
              <a:rPr lang="en-US" sz="2400" kern="0" dirty="0" err="1">
                <a:solidFill>
                  <a:srgbClr val="00B050"/>
                </a:solidFill>
                <a:latin typeface="Lato"/>
                <a:ea typeface="Lato"/>
                <a:cs typeface="Lato"/>
                <a:sym typeface="Lato"/>
              </a:rPr>
              <a:t>get_damper</a:t>
            </a:r>
            <a:r>
              <a:rPr lang="en-US" sz="2400" kern="0" dirty="0">
                <a:solidFill>
                  <a:schemeClr val="tx2">
                    <a:lumMod val="10000"/>
                  </a:schemeClr>
                </a:solidFill>
                <a:latin typeface="Lato"/>
                <a:ea typeface="Lato"/>
                <a:cs typeface="Lato"/>
                <a:sym typeface="Lato"/>
              </a:rPr>
              <a:t>, </a:t>
            </a:r>
            <a:r>
              <a:rPr lang="en-US" sz="2400" kern="0" dirty="0">
                <a:solidFill>
                  <a:srgbClr val="00B050"/>
                </a:solidFill>
                <a:latin typeface="Lato"/>
                <a:ea typeface="Lato"/>
                <a:cs typeface="Lato"/>
                <a:sym typeface="Lato"/>
              </a:rPr>
              <a:t>mech_matrix_build_2D</a:t>
            </a:r>
            <a:r>
              <a:rPr lang="en-US" sz="2400" kern="0" dirty="0">
                <a:solidFill>
                  <a:schemeClr val="tx2">
                    <a:lumMod val="10000"/>
                  </a:schemeClr>
                </a:solidFill>
                <a:latin typeface="Lato"/>
                <a:ea typeface="Lato"/>
                <a:cs typeface="Lato"/>
                <a:sym typeface="Lato"/>
              </a:rPr>
              <a:t>)</a:t>
            </a:r>
          </a:p>
          <a:p>
            <a:pPr marL="609585" indent="-465655" defTabSz="1219170">
              <a:lnSpc>
                <a:spcPct val="150000"/>
              </a:lnSpc>
              <a:spcAft>
                <a:spcPts val="800"/>
              </a:spcAft>
              <a:buClr>
                <a:srgbClr val="434343"/>
              </a:buClr>
              <a:buSzPct val="100000"/>
              <a:buFont typeface="+mj-lt"/>
              <a:buAutoNum type="arabicPeriod"/>
            </a:pPr>
            <a:r>
              <a:rPr lang="en-US" sz="2400" u="sng" kern="0" dirty="0">
                <a:solidFill>
                  <a:schemeClr val="tx2">
                    <a:lumMod val="10000"/>
                  </a:schemeClr>
                </a:solidFill>
                <a:latin typeface="Lato"/>
                <a:ea typeface="Lato"/>
                <a:cs typeface="Lato"/>
                <a:sym typeface="Lato"/>
              </a:rPr>
              <a:t>Optimization method 1:</a:t>
            </a:r>
            <a:r>
              <a:rPr lang="en-US" sz="2400" kern="0" dirty="0">
                <a:solidFill>
                  <a:schemeClr val="tx2">
                    <a:lumMod val="10000"/>
                  </a:schemeClr>
                </a:solidFill>
                <a:latin typeface="Lato"/>
                <a:ea typeface="Lato"/>
                <a:cs typeface="Lato"/>
                <a:sym typeface="Lato"/>
              </a:rPr>
              <a:t> </a:t>
            </a:r>
            <a:r>
              <a:rPr lang="en-US" sz="2400" b="1" dirty="0">
                <a:solidFill>
                  <a:schemeClr val="tx2">
                    <a:lumMod val="10000"/>
                  </a:schemeClr>
                </a:solidFill>
              </a:rPr>
              <a:t>Subsampling</a:t>
            </a:r>
            <a:r>
              <a:rPr lang="en-US" sz="2400" dirty="0">
                <a:solidFill>
                  <a:schemeClr val="tx2">
                    <a:lumMod val="10000"/>
                  </a:schemeClr>
                </a:solidFill>
              </a:rPr>
              <a:t> (stride=4) gave ~2800× speedup with ~4.5% error. </a:t>
            </a:r>
          </a:p>
          <a:p>
            <a:pPr marL="609585" indent="-465655" defTabSz="1219170">
              <a:lnSpc>
                <a:spcPct val="150000"/>
              </a:lnSpc>
              <a:spcAft>
                <a:spcPts val="800"/>
              </a:spcAft>
              <a:buClr>
                <a:srgbClr val="434343"/>
              </a:buClr>
              <a:buSzPct val="100000"/>
              <a:buFont typeface="+mj-lt"/>
              <a:buAutoNum type="arabicPeriod"/>
            </a:pPr>
            <a:r>
              <a:rPr lang="en-US" sz="2400" u="sng" kern="0" dirty="0">
                <a:solidFill>
                  <a:schemeClr val="tx2">
                    <a:lumMod val="10000"/>
                  </a:schemeClr>
                </a:solidFill>
                <a:latin typeface="Lato"/>
                <a:ea typeface="Lato"/>
                <a:cs typeface="Lato"/>
                <a:sym typeface="Lato"/>
              </a:rPr>
              <a:t>Optimization method 2:</a:t>
            </a:r>
            <a:r>
              <a:rPr lang="en-US" sz="2400" kern="0" dirty="0">
                <a:solidFill>
                  <a:schemeClr val="tx2">
                    <a:lumMod val="10000"/>
                  </a:schemeClr>
                </a:solidFill>
                <a:latin typeface="Lato"/>
                <a:ea typeface="Lato"/>
                <a:cs typeface="Lato"/>
                <a:sym typeface="Lato"/>
              </a:rPr>
              <a:t> </a:t>
            </a:r>
            <a:r>
              <a:rPr lang="en-US" sz="2400" b="1" kern="0" dirty="0">
                <a:solidFill>
                  <a:schemeClr val="tx2">
                    <a:lumMod val="10000"/>
                  </a:schemeClr>
                </a:solidFill>
                <a:latin typeface="Lato"/>
                <a:ea typeface="Lato"/>
                <a:cs typeface="Lato"/>
                <a:sym typeface="Lato"/>
              </a:rPr>
              <a:t>Solving LU once </a:t>
            </a:r>
            <a:r>
              <a:rPr lang="en-US" sz="2400" kern="0" dirty="0">
                <a:solidFill>
                  <a:schemeClr val="tx2">
                    <a:lumMod val="10000"/>
                  </a:schemeClr>
                </a:solidFill>
                <a:latin typeface="Lato"/>
                <a:ea typeface="Lato"/>
                <a:cs typeface="Lato"/>
                <a:sym typeface="Lato"/>
              </a:rPr>
              <a:t>reduced per‑call cost by ~3×, compounding the benefit of subsampling.</a:t>
            </a:r>
          </a:p>
          <a:p>
            <a:pPr marL="1066785" lvl="1" indent="-465655" defTabSz="1219170">
              <a:lnSpc>
                <a:spcPct val="150000"/>
              </a:lnSpc>
              <a:spcAft>
                <a:spcPts val="800"/>
              </a:spcAft>
              <a:buClr>
                <a:srgbClr val="434343"/>
              </a:buClr>
              <a:buSzPct val="100000"/>
              <a:buFont typeface="+mj-lt"/>
              <a:buAutoNum type="arabicPeriod"/>
            </a:pPr>
            <a:r>
              <a:rPr lang="en-US" sz="2400" kern="0" dirty="0">
                <a:solidFill>
                  <a:schemeClr val="tx2">
                    <a:lumMod val="10000"/>
                  </a:schemeClr>
                </a:solidFill>
                <a:latin typeface="Lato"/>
                <a:ea typeface="Lato"/>
                <a:cs typeface="Lato"/>
                <a:sym typeface="Lato"/>
              </a:rPr>
              <a:t>Used </a:t>
            </a:r>
            <a:r>
              <a:rPr lang="en-US" sz="2400" kern="0" dirty="0" err="1">
                <a:solidFill>
                  <a:schemeClr val="tx2">
                    <a:lumMod val="10000"/>
                  </a:schemeClr>
                </a:solidFill>
                <a:latin typeface="Lato"/>
                <a:ea typeface="Lato"/>
                <a:cs typeface="Lato"/>
                <a:sym typeface="Lato"/>
              </a:rPr>
              <a:t>lu</a:t>
            </a:r>
            <a:r>
              <a:rPr lang="en-US" sz="2400" kern="0" dirty="0">
                <a:solidFill>
                  <a:schemeClr val="tx2">
                    <a:lumMod val="10000"/>
                  </a:schemeClr>
                </a:solidFill>
                <a:latin typeface="Lato"/>
                <a:ea typeface="Lato"/>
                <a:cs typeface="Lato"/>
                <a:sym typeface="Lato"/>
              </a:rPr>
              <a:t>() function (an external, optimized linear‑algebra library) instead of a simple </a:t>
            </a:r>
            <a:r>
              <a:rPr lang="en-US" sz="2400" kern="0">
                <a:solidFill>
                  <a:schemeClr val="tx2">
                    <a:lumMod val="10000"/>
                  </a:schemeClr>
                </a:solidFill>
                <a:latin typeface="Lato"/>
                <a:ea typeface="Lato"/>
                <a:cs typeface="Lato"/>
                <a:sym typeface="Lato"/>
              </a:rPr>
              <a:t>backslash (Uses MATLAB’s LAPACK/BLAS for optimized linear algebra.)</a:t>
            </a:r>
            <a:endParaRPr lang="en-US" sz="2400" kern="0" dirty="0">
              <a:solidFill>
                <a:schemeClr val="tx2">
                  <a:lumMod val="10000"/>
                </a:schemeClr>
              </a:solidFill>
              <a:latin typeface="Lato"/>
              <a:ea typeface="Lato"/>
              <a:cs typeface="Lato"/>
              <a:sym typeface="Lato"/>
            </a:endParaRPr>
          </a:p>
        </p:txBody>
      </p:sp>
      <p:sp>
        <p:nvSpPr>
          <p:cNvPr id="4" name="Google Shape;157;p27">
            <a:extLst>
              <a:ext uri="{FF2B5EF4-FFF2-40B4-BE49-F238E27FC236}">
                <a16:creationId xmlns:a16="http://schemas.microsoft.com/office/drawing/2014/main" id="{E3177EF6-C1ED-E59C-7EF4-7BBC16E68847}"/>
              </a:ext>
            </a:extLst>
          </p:cNvPr>
          <p:cNvSpPr txBox="1">
            <a:spLocks/>
          </p:cNvSpPr>
          <p:nvPr/>
        </p:nvSpPr>
        <p:spPr>
          <a:xfrm>
            <a:off x="0" y="0"/>
            <a:ext cx="12192000" cy="1051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chemeClr val="accent6"/>
              </a:buClr>
              <a:buSzPts val="2400"/>
              <a:buFont typeface="Lato"/>
              <a:buChar char="▷"/>
              <a:defRPr sz="2400" b="0" i="0" u="none" strike="noStrike" cap="none">
                <a:solidFill>
                  <a:schemeClr val="dk1"/>
                </a:solidFill>
                <a:latin typeface="Lato"/>
                <a:ea typeface="Lato"/>
                <a:cs typeface="Lato"/>
                <a:sym typeface="Lato"/>
              </a:defRPr>
            </a:lvl1pPr>
            <a:lvl2pPr marL="914400" marR="0" lvl="1"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2pPr>
            <a:lvl3pPr marL="1371600" marR="0" lvl="2"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3pPr>
            <a:lvl4pPr marL="1828800" marR="0" lvl="3"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4pPr>
            <a:lvl5pPr marL="2286000" marR="0" lvl="4"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5pPr>
            <a:lvl6pPr marL="2743200" marR="0" lvl="5"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6pPr>
            <a:lvl7pPr marL="3200400" marR="0" lvl="6"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7pPr>
            <a:lvl8pPr marL="3657600" marR="0" lvl="7"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8pPr>
            <a:lvl9pPr marL="4114800" marR="0" lvl="8"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9pPr>
          </a:lstStyle>
          <a:p>
            <a:pPr marL="0" indent="0" defTabSz="1219170">
              <a:spcBef>
                <a:spcPts val="0"/>
              </a:spcBef>
              <a:buClr>
                <a:srgbClr val="97ABBC"/>
              </a:buClr>
              <a:buNone/>
            </a:pPr>
            <a:r>
              <a:rPr lang="en-US" sz="5333" b="1" kern="0" dirty="0">
                <a:solidFill>
                  <a:srgbClr val="2185C5"/>
                </a:solidFill>
                <a:latin typeface="Raleway"/>
                <a:ea typeface="Raleway"/>
                <a:cs typeface="Raleway"/>
                <a:sym typeface="Raleway"/>
              </a:rPr>
              <a:t>Optimization techniques</a:t>
            </a:r>
            <a:endParaRPr lang="en-US" sz="3733" i="1" kern="0" dirty="0">
              <a:solidFill>
                <a:srgbClr val="2185C5"/>
              </a:solidFill>
              <a:latin typeface="Raleway"/>
              <a:ea typeface="Raleway"/>
              <a:cs typeface="Raleway"/>
              <a:sym typeface="Raleway"/>
            </a:endParaRPr>
          </a:p>
        </p:txBody>
      </p:sp>
    </p:spTree>
    <p:extLst>
      <p:ext uri="{BB962C8B-B14F-4D97-AF65-F5344CB8AC3E}">
        <p14:creationId xmlns:p14="http://schemas.microsoft.com/office/powerpoint/2010/main" val="357127341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arini-chung-lab-presentation-nov-17" id="{6C73F243-A1D9-684D-A80A-28CCE9ACC9B3}" vid="{069BB155-E079-A943-A342-877011DD8162}"/>
    </a:ext>
  </a:extLst>
</a:theme>
</file>

<file path=ppt/theme/theme2.xml><?xml version="1.0" encoding="utf-8"?>
<a:theme xmlns:a="http://schemas.openxmlformats.org/drawingml/2006/main" name="Antonio template">
  <a:themeElements>
    <a:clrScheme name="Custom 347">
      <a:dk1>
        <a:srgbClr val="677480"/>
      </a:dk1>
      <a:lt1>
        <a:srgbClr val="FFFFFF"/>
      </a:lt1>
      <a:dk2>
        <a:srgbClr val="2185C5"/>
      </a:dk2>
      <a:lt2>
        <a:srgbClr val="DEE2E6"/>
      </a:lt2>
      <a:accent1>
        <a:srgbClr val="2185C5"/>
      </a:accent1>
      <a:accent2>
        <a:srgbClr val="7ECEFD"/>
      </a:accent2>
      <a:accent3>
        <a:srgbClr val="F20253"/>
      </a:accent3>
      <a:accent4>
        <a:srgbClr val="FF9715"/>
      </a:accent4>
      <a:accent5>
        <a:srgbClr val="1C3AA9"/>
      </a:accent5>
      <a:accent6>
        <a:srgbClr val="97ABBC"/>
      </a:accent6>
      <a:hlink>
        <a:srgbClr val="2185C5"/>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arini-chung-lab-presentation-nov-17" id="{6C73F243-A1D9-684D-A80A-28CCE9ACC9B3}" vid="{857FBBE1-635A-D447-90F5-B974016148E0}"/>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1791</TotalTime>
  <Words>2065</Words>
  <Application>Microsoft Macintosh PowerPoint</Application>
  <PresentationFormat>Widescreen</PresentationFormat>
  <Paragraphs>186</Paragraphs>
  <Slides>24</Slides>
  <Notes>23</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24</vt:i4>
      </vt:variant>
    </vt:vector>
  </HeadingPairs>
  <TitlesOfParts>
    <vt:vector size="34" baseType="lpstr">
      <vt:lpstr>Aptos</vt:lpstr>
      <vt:lpstr>Aptos Display</vt:lpstr>
      <vt:lpstr>Arial</vt:lpstr>
      <vt:lpstr>Cambria Math</vt:lpstr>
      <vt:lpstr>Courier New</vt:lpstr>
      <vt:lpstr>Lato</vt:lpstr>
      <vt:lpstr>Menlo</vt:lpstr>
      <vt:lpstr>Raleway</vt:lpstr>
      <vt:lpstr>Office Theme</vt:lpstr>
      <vt:lpstr>Antonio template</vt:lpstr>
      <vt:lpstr>Optimization and tradeoff analysis of  tumor mechanics models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Acknowledgements</vt:lpstr>
      <vt:lpstr>Supplementals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Thiagarajan, Tarini</dc:creator>
  <cp:lastModifiedBy>Thiagarajan, Tarini</cp:lastModifiedBy>
  <cp:revision>106</cp:revision>
  <dcterms:created xsi:type="dcterms:W3CDTF">2025-11-24T22:39:52Z</dcterms:created>
  <dcterms:modified xsi:type="dcterms:W3CDTF">2025-11-29T04:32:55Z</dcterms:modified>
</cp:coreProperties>
</file>